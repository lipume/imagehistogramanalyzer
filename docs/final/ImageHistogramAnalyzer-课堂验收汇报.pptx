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e3c5e8689347a7" /><Relationship Type="http://schemas.openxmlformats.org/officeDocument/2006/relationships/extended-properties" Target="/docProps/app.xml" Id="Ra3719a4796394e9a" /><Relationship Type="http://schemas.openxmlformats.org/officeDocument/2006/relationships/officeDocument" Target="/ppt/presentation.xml" Id="R5ee5ea2f0d1b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350639c9644faf"/>
  </p:sldMasterIdLst>
  <p:notesMasterIdLst>
    <p:notesMasterId xmlns:r="http://schemas.openxmlformats.org/officeDocument/2006/relationships" r:id="R61371f692d2248ab"/>
  </p:notesMasterIdLst>
  <p:sldIdLst>
    <p:sldId xmlns:r="http://schemas.openxmlformats.org/officeDocument/2006/relationships" id="256" r:id="R62662b5926964e96"/>
    <p:sldId xmlns:r="http://schemas.openxmlformats.org/officeDocument/2006/relationships" id="257" r:id="R967fe7d862454ddb"/>
    <p:sldId xmlns:r="http://schemas.openxmlformats.org/officeDocument/2006/relationships" id="258" r:id="Rf5bc128410034550"/>
    <p:sldId xmlns:r="http://schemas.openxmlformats.org/officeDocument/2006/relationships" id="259" r:id="R7681f06108404a80"/>
    <p:sldId xmlns:r="http://schemas.openxmlformats.org/officeDocument/2006/relationships" id="260" r:id="R21f1488767f64afb"/>
    <p:sldId xmlns:r="http://schemas.openxmlformats.org/officeDocument/2006/relationships" id="261" r:id="Rd5db53c7f63e4b08"/>
    <p:sldId xmlns:r="http://schemas.openxmlformats.org/officeDocument/2006/relationships" id="262" r:id="R9f3fcc66e67b47cb"/>
    <p:sldId xmlns:r="http://schemas.openxmlformats.org/officeDocument/2006/relationships" id="263" r:id="R9fdfe7a56d9c490e"/>
    <p:sldId xmlns:r="http://schemas.openxmlformats.org/officeDocument/2006/relationships" id="264" r:id="R1e577c84c8444843"/>
    <p:sldId xmlns:r="http://schemas.openxmlformats.org/officeDocument/2006/relationships" id="265" r:id="R3488cc6b822e46d4"/>
    <p:sldId xmlns:r="http://schemas.openxmlformats.org/officeDocument/2006/relationships" id="266" r:id="R2c558acdfd2043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848df0f08a45d0" /><Relationship Type="http://schemas.openxmlformats.org/officeDocument/2006/relationships/slideMaster" Target="/ppt/slideMasters/slideMaster1.xml" Id="R5a350639c9644faf" /><Relationship Type="http://schemas.openxmlformats.org/officeDocument/2006/relationships/notesMaster" Target="/ppt/notesMasters/notesMaster1.xml" Id="R61371f692d2248ab" /><Relationship Type="http://schemas.openxmlformats.org/officeDocument/2006/relationships/presProps" Target="/ppt/presProps.xml" Id="R2a35b6318ff94929" /><Relationship Type="http://schemas.openxmlformats.org/officeDocument/2006/relationships/tableStyles" Target="/ppt/tableStyles.xml" Id="R0961230700e24f27" /><Relationship Type="http://schemas.openxmlformats.org/officeDocument/2006/relationships/slide" Target="/ppt/slides/slide1.xml" Id="R62662b5926964e96" /><Relationship Type="http://schemas.openxmlformats.org/officeDocument/2006/relationships/slide" Target="/ppt/slides/slide2.xml" Id="R967fe7d862454ddb" /><Relationship Type="http://schemas.openxmlformats.org/officeDocument/2006/relationships/slide" Target="/ppt/slides/slide3.xml" Id="Rf5bc128410034550" /><Relationship Type="http://schemas.openxmlformats.org/officeDocument/2006/relationships/slide" Target="/ppt/slides/slide4.xml" Id="R7681f06108404a80" /><Relationship Type="http://schemas.openxmlformats.org/officeDocument/2006/relationships/slide" Target="/ppt/slides/slide5.xml" Id="R21f1488767f64afb" /><Relationship Type="http://schemas.openxmlformats.org/officeDocument/2006/relationships/slide" Target="/ppt/slides/slide6.xml" Id="Rd5db53c7f63e4b08" /><Relationship Type="http://schemas.openxmlformats.org/officeDocument/2006/relationships/slide" Target="/ppt/slides/slide7.xml" Id="R9f3fcc66e67b47cb" /><Relationship Type="http://schemas.openxmlformats.org/officeDocument/2006/relationships/slide" Target="/ppt/slides/slide8.xml" Id="R9fdfe7a56d9c490e" /><Relationship Type="http://schemas.openxmlformats.org/officeDocument/2006/relationships/slide" Target="/ppt/slides/slide9.xml" Id="R1e577c84c8444843" /><Relationship Type="http://schemas.openxmlformats.org/officeDocument/2006/relationships/slide" Target="/ppt/slides/slide10.xml" Id="R3488cc6b822e46d4" /><Relationship Type="http://schemas.openxmlformats.org/officeDocument/2006/relationships/slide" Target="/ppt/slides/slide11.xml" Id="R2c558acdfd20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d47c992ad548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46716d6fe46b7" /><Relationship Type="http://schemas.openxmlformats.org/officeDocument/2006/relationships/notesMaster" Target="/ppt/notesMasters/notesMaster1.xml" Id="Rf8b4951e927446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0709ee4aef41bd" /><Relationship Type="http://schemas.openxmlformats.org/officeDocument/2006/relationships/notesMaster" Target="/ppt/notesMasters/notesMaster1.xml" Id="Rebdb58a5b8d049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463d5af5e14707" /><Relationship Type="http://schemas.openxmlformats.org/officeDocument/2006/relationships/notesMaster" Target="/ppt/notesMasters/notesMaster1.xml" Id="R2475ad3566b1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32bd1ee5b64a0d" /><Relationship Type="http://schemas.openxmlformats.org/officeDocument/2006/relationships/notesMaster" Target="/ppt/notesMasters/notesMaster1.xml" Id="R848f741a42a44a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dac902c3734c84" /><Relationship Type="http://schemas.openxmlformats.org/officeDocument/2006/relationships/notesMaster" Target="/ppt/notesMasters/notesMaster1.xml" Id="R7f728756a0cc41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53424308e34f1b" /><Relationship Type="http://schemas.openxmlformats.org/officeDocument/2006/relationships/notesMaster" Target="/ppt/notesMasters/notesMaster1.xml" Id="R1c0f43308d9f40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178b3ff4084b65" /><Relationship Type="http://schemas.openxmlformats.org/officeDocument/2006/relationships/notesMaster" Target="/ppt/notesMasters/notesMaster1.xml" Id="R44b05a92eae0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aee090a8fa4a91" /><Relationship Type="http://schemas.openxmlformats.org/officeDocument/2006/relationships/notesMaster" Target="/ppt/notesMasters/notesMaster1.xml" Id="Re85f9bfebae149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ba35e51a6b432c" /><Relationship Type="http://schemas.openxmlformats.org/officeDocument/2006/relationships/notesMaster" Target="/ppt/notesMasters/notesMaster1.xml" Id="Rb3e7faaf1ed646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4cedfb9546467a" /><Relationship Type="http://schemas.openxmlformats.org/officeDocument/2006/relationships/notesMaster" Target="/ppt/notesMasters/notesMaster1.xml" Id="R077a5b147c1a4b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45647011a147a3" /><Relationship Type="http://schemas.openxmlformats.org/officeDocument/2006/relationships/notesMaster" Target="/ppt/notesMasters/notesMaster1.xml" Id="R7de2bbbe63d046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3101bef4248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1ccef0b2c54ea6" /><Relationship Type="http://schemas.openxmlformats.org/officeDocument/2006/relationships/slideLayout" Target="/ppt/slideLayouts/slideLayout1.xml" Id="R9c1a6dc244d54e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1a6dc244d54e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b9760c1684096" /><Relationship Type="http://schemas.openxmlformats.org/officeDocument/2006/relationships/notesSlide" Target="/ppt/notesSlides/notesSlide1.xml" Id="Rda5ffc725e6140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39c35a1a54c04" /><Relationship Type="http://schemas.openxmlformats.org/officeDocument/2006/relationships/notesSlide" Target="/ppt/notesSlides/notesSlide2.xml" Id="Rea9fd73ff4c14f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23a0f0c364dea" /><Relationship Type="http://schemas.openxmlformats.org/officeDocument/2006/relationships/image" Target="/ppt/media/image.jpeg" Id="R9999296eef474ef6" /><Relationship Type="http://schemas.openxmlformats.org/officeDocument/2006/relationships/image" Target="/ppt/media/image2.jpeg" Id="R1800943ad7bc4a69" /><Relationship Type="http://schemas.openxmlformats.org/officeDocument/2006/relationships/image" Target="/ppt/media/image3.jpeg" Id="Rc9db89177a634ea6" /><Relationship Type="http://schemas.openxmlformats.org/officeDocument/2006/relationships/notesSlide" Target="/ppt/notesSlides/notesSlide3.xml" Id="Rffa15f974a0c4e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2aad5618c49ea" /><Relationship Type="http://schemas.openxmlformats.org/officeDocument/2006/relationships/notesSlide" Target="/ppt/notesSlides/notesSlide4.xml" Id="Rdbf1ccaf9f74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db01b72ce4960" /><Relationship Type="http://schemas.openxmlformats.org/officeDocument/2006/relationships/notesSlide" Target="/ppt/notesSlides/notesSlide5.xml" Id="Rc30bb620f94349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3136078e04e37" /><Relationship Type="http://schemas.openxmlformats.org/officeDocument/2006/relationships/chart" Target="/ppt/slides/charts/chart1.xml" Id="R488858d924d44e46" /><Relationship Type="http://schemas.openxmlformats.org/officeDocument/2006/relationships/notesSlide" Target="/ppt/notesSlides/notesSlide6.xml" Id="Rdd0844d8779941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2950bb8ee43d8" /><Relationship Type="http://schemas.openxmlformats.org/officeDocument/2006/relationships/image" Target="/ppt/media/image4.jpeg" Id="Rd0c5ab07f7a84075" /><Relationship Type="http://schemas.openxmlformats.org/officeDocument/2006/relationships/notesSlide" Target="/ppt/notesSlides/notesSlide7.xml" Id="Rf12fe34b33f8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962480ce54b14" /><Relationship Type="http://schemas.openxmlformats.org/officeDocument/2006/relationships/image" Target="/ppt/media/image5.jpeg" Id="R19838c61ee204372" /><Relationship Type="http://schemas.openxmlformats.org/officeDocument/2006/relationships/notesSlide" Target="/ppt/notesSlides/notesSlide8.xml" Id="Ra3c0477be7e24e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5684df5bb4801" /><Relationship Type="http://schemas.openxmlformats.org/officeDocument/2006/relationships/notesSlide" Target="/ppt/notesSlides/notesSlide9.xml" Id="R97475b57401e4b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aaaca78984122" /><Relationship Type="http://schemas.openxmlformats.org/officeDocument/2006/relationships/notesSlide" Target="/ppt/notesSlides/notesSlide10.xml" Id="Rc298cee0be674a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38c7e8fc54594" /><Relationship Type="http://schemas.openxmlformats.org/officeDocument/2006/relationships/notesSlide" Target="/ppt/notesSlides/notesSlide11.xml" Id="R3cc6492d1c8e4b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优先灰度化</c:v>
          </c:tx>
          <c:spPr>
            <a:solidFill xmlns:a="http://schemas.openxmlformats.org/drawingml/2006/main">
              <a:srgbClr val="3A7FCC"/>
            </a:solidFill>
          </c:spPr>
          <c:dLbls/>
          <c:cat>
            <c:strLit>
              <c:ptCount val="3"/>
              <c:pt idx="0">
                <c:v>v1 Kotlin 基线</c:v>
              </c:pt>
              <c:pt idx="1">
                <c:v>v2 热循环优化</c:v>
              </c:pt>
              <c:pt idx="2">
                <c:v>v3 Native 直读</c:v>
              </c:pt>
            </c:strLit>
          </c:cat>
          <c:val>
            <c:numLit>
              <c:formatCode>0" ms"</c:formatCode>
              <c:ptCount val="3"/>
              <c:pt idx="0">
                <c:v>1415.321</c:v>
              </c:pt>
              <c:pt idx="1">
                <c:v>775.583</c:v>
              </c:pt>
              <c:pt idx="2">
                <c:v>56.957</c:v>
              </c:pt>
            </c:numLit>
          </c:val>
        </c:ser>
        <c:ser>
          <c:idx val="1"/>
          <c:order val="1"/>
          <c:tx>
            <c:v>统计时灰度化</c:v>
          </c:tx>
          <c:spPr>
            <a:solidFill xmlns:a="http://schemas.openxmlformats.org/drawingml/2006/main">
              <a:srgbClr val="17365D"/>
            </a:solidFill>
          </c:spPr>
          <c:dLbls/>
          <c:cat>
            <c:strLit>
              <c:ptCount val="3"/>
              <c:pt idx="0">
                <c:v>v1 Kotlin 基线</c:v>
              </c:pt>
              <c:pt idx="1">
                <c:v>v2 热循环优化</c:v>
              </c:pt>
              <c:pt idx="2">
                <c:v>v3 Native 直读</c:v>
              </c:pt>
            </c:strLit>
          </c:cat>
          <c:val>
            <c:numLit>
              <c:formatCode>0" ms"</c:formatCode>
              <c:ptCount val="3"/>
              <c:pt idx="0">
                <c:v>1304.234</c:v>
              </c:pt>
              <c:pt idx="1">
                <c:v>673.735</c:v>
              </c:pt>
              <c:pt idx="2">
                <c:v>22.244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8E5"/>
              </a:solidFill>
              <a:prstDash val="solid"/>
            </a:ln>
          </c:spPr>
        </c:majorGridlines>
        <c:numFmt formatCode="0&quot; ms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290AB-2A64-4596-9740-6074000E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3FE1D-3BFD-4011-BDF8-61091B15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ANDROID · IMAGE HISTOGRAM · COURSE ACCEPTANCE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85887CB-9A89-4853-8AA9-56FB45C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810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7365D"/>
                </a:solidFill>
              </a:defRPr>
            </a:pPr>
            <a:r>
              <a:rPr sz="4050" b="1" i="0">
                <a:solidFill>
                  <a:srgbClr val="17365D"/>
                </a:solidFill>
              </a:rPr>
              <a:t>移动端图像质量分析</a:t>
            </a:r>
          </a:p>
          <a:p xmlns:a="http://schemas.openxmlformats.org/drawingml/2006/main">
            <a:pPr algn="l">
              <a:defRPr sz="4050" b="1" i="0">
                <a:solidFill>
                  <a:srgbClr val="17365D"/>
                </a:solidFill>
              </a:defRPr>
            </a:pPr>
            <a:r>
              <a:rPr sz="4050" b="1" i="0">
                <a:solidFill>
                  <a:srgbClr val="17365D"/>
                </a:solidFill>
              </a:rPr>
              <a:t>与直方图计算优化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EF298-D03F-4BB6-A3A1-67DA542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B7C"/>
                </a:solidFill>
              </a:defRPr>
            </a:pPr>
            <a:r>
              <a:rPr sz="1650" b="0" i="0">
                <a:solidFill>
                  <a:srgbClr val="5B6B7C"/>
                </a:solidFill>
              </a:rPr>
              <a:t>两种灰度统计流程 · 256×100 黑白直方图 · 核心计算目标 300ms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90A29-00FC-4809-BDBA-BF8E5033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687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66E16-8C44-49CB-9B2A-828486EB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负责人  lzx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D6B0C-60D7-4D26-85BB-37D99B68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Kotlin · Jetpack Compose · Material 3 · NDK/C++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B3493-19DF-4E95-8215-4F0169D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B6AD3-43F2-471C-97F8-B875D79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668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0" b="1" i="0">
                <a:solidFill>
                  <a:srgbClr val="FFFFFF"/>
                </a:solidFill>
              </a:defRPr>
            </a:pPr>
            <a:r>
              <a:rPr sz="6600" b="1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37526-FBB4-420F-BD44-0659BA5B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18F12-80C3-4195-963E-F93BB90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课程核心计算目标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C30AA-0F16-4045-B453-57D547DF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433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8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2BF0C-96C2-4D73-A833-07A06C7F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版本 3.0</a:t>
            </a:r>
          </a:p>
          <a:p xmlns:a="http://schemas.openxmlformats.org/drawingml/2006/main">
            <a:pPr algn="ctr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Xiaomi 14 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2721B-D55D-4DFD-89E1-9DA16B5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01 / 11</a:t>
            </a:r>
          </a:p>
        </p:txBody>
      </p:sp>
    </p:spTree>
    <p:extLst>
      <p:ext uri="{BB962C8B-B14F-4D97-AF65-F5344CB8AC3E}">
        <p14:creationId xmlns:p14="http://schemas.microsoft.com/office/powerpoint/2010/main" val="88347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17220-8F91-4E1E-A153-D02F440C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01 · COURSE TARGET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C6920F7-4052-495A-8EA7-0384B14A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验收要证明的是一条完整链路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87DC4-BB31-439A-A70E-01373ABD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D86AD-2028-4F73-8D2B-FBC02E09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项目源码与最终开发文档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7F875-E9EA-46B5-AE7D-4BF66C3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02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D5222-62C1-438A-AA0F-7E767865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324B"/>
                </a:solidFill>
              </a:defRPr>
            </a:pPr>
            <a:r>
              <a:rPr sz="1875" b="1" i="0">
                <a:solidFill>
                  <a:srgbClr val="18324B"/>
                </a:solidFill>
              </a:rPr>
              <a:t>一张图片进入手机后，既要算得对，也要解释得清，还要在 300ms 内完成核心计算。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41B8F-1530-4D84-B2A2-048A739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A7FCC"/>
                </a:solidFill>
              </a:defRPr>
            </a:pPr>
            <a:r>
              <a:rPr sz="2100" b="1" i="0">
                <a:solidFill>
                  <a:srgbClr val="3A7FC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D355F-60C7-40D0-802C-12965D4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本地输入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A8336-CB62-460E-BE0A-7F450042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C"/>
                </a:solidFill>
              </a:defRPr>
            </a:pPr>
            <a:r>
              <a:rPr sz="1350" b="0" i="0">
                <a:solidFill>
                  <a:srgbClr val="5B6B7C"/>
                </a:solidFill>
              </a:rPr>
              <a:t>系统选图或现场拍照，不申请宽泛相册权限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CA1D5-3026-45E5-A011-D25D19C6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622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61652-829F-470C-B5D4-036D0144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A7FCC"/>
                </a:solidFill>
              </a:defRPr>
            </a:pPr>
            <a:r>
              <a:rPr sz="2100" b="1" i="0">
                <a:solidFill>
                  <a:srgbClr val="3A7FC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D1689-3AA5-435A-A228-85AB03C6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两种方案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CD691-2452-4252-BFD8-DFB51835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C"/>
                </a:solidFill>
              </a:defRPr>
            </a:pPr>
            <a:r>
              <a:rPr sz="1350" b="0" i="0">
                <a:solidFill>
                  <a:srgbClr val="5B6B7C"/>
                </a:solidFill>
              </a:rPr>
              <a:t>优先灰度化 / 统计时灰度化，由用户手动选择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CF3CE-9EED-49D1-AEF9-C89B6945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B0CCE-C392-48B2-9520-540BFE42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A7FCC"/>
                </a:solidFill>
              </a:defRPr>
            </a:pPr>
            <a:r>
              <a:rPr sz="2100" b="1" i="0">
                <a:solidFill>
                  <a:srgbClr val="3A7FC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19123-274B-444A-BEB4-9C31F013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标准输出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29563-64EB-479C-AA43-256617A7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C"/>
                </a:solidFill>
              </a:defRPr>
            </a:pPr>
            <a:r>
              <a:rPr sz="1350" b="0" i="0">
                <a:solidFill>
                  <a:srgbClr val="5B6B7C"/>
                </a:solidFill>
              </a:rPr>
              <a:t>256 个灰度 bin，归一化到 0–100，绘制 256×100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019F7-4B24-46B3-85E8-8BB85857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35A16-FBBC-49B1-AEBC-0342EDC5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A7FCC"/>
                </a:solidFill>
              </a:defRPr>
            </a:pPr>
            <a:r>
              <a:rPr sz="2100" b="1" i="0">
                <a:solidFill>
                  <a:srgbClr val="3A7FC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4EF4A-E7C1-40B7-ADE1-788BDC79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透明性能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0AE63-E455-4751-B0FF-7AA6C506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149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C"/>
                </a:solidFill>
              </a:defRPr>
            </a:pPr>
            <a:r>
              <a:rPr sz="1350" b="0" i="0">
                <a:solidFill>
                  <a:srgbClr val="5B6B7C"/>
                </a:solidFill>
              </a:rPr>
              <a:t>解码单列，核心阶段独立计时，目标 &lt; 300ms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AD937-1AB7-4ADE-A041-B99C7BF5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4241C-CBD2-4D32-B7A6-39DC690D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19250"/>
            <a:ext cx="11239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03343-272E-4B81-B87B-AE0AEBB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907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245F9E"/>
                </a:solidFill>
              </a:defRPr>
            </a:pPr>
            <a:r>
              <a:rPr sz="3150" b="1" i="0">
                <a:solidFill>
                  <a:srgbClr val="245F9E"/>
                </a:solidFill>
              </a:rPr>
              <a:t>256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52033-EA2E-4C13-B9B1-78B712AA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813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灰度级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BCC37-3661-4ADB-A0FE-DB39DAF3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38550"/>
            <a:ext cx="93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245F9E"/>
                </a:solidFill>
              </a:defRPr>
            </a:pPr>
            <a:r>
              <a:rPr sz="3150" b="1" i="0">
                <a:solidFill>
                  <a:srgbClr val="245F9E"/>
                </a:solidFill>
              </a:rPr>
              <a:t>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99062-3866-4AB0-A39C-B72731AB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291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归一化</a:t>
            </a:r>
          </a:p>
        </p:txBody>
      </p:sp>
    </p:spTree>
    <p:extLst>
      <p:ext uri="{BB962C8B-B14F-4D97-AF65-F5344CB8AC3E}">
        <p14:creationId xmlns:p14="http://schemas.microsoft.com/office/powerpoint/2010/main" val="788986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443DA-B396-4DF8-8074-606BF5D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02 · PRODUCT FLOW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8486CAC-77C5-4CBE-838F-B8805D8B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产品已经跑通从选图到结果解释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A926D-DDB1-43D4-AB5F-8FAFCA9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B3E28-7755-4A4F-B155-C53E12CA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Xiaomi 14 · test/v4.0 真机截图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52ABF-33A6-49E3-8566-56744FC3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03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B90F2-5178-4E8B-AADA-366AC705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2288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9296eef474ef6"/>
          <a:srcRect xmlns:a="http://schemas.openxmlformats.org/drawingml/2006/main" l="0" t="1148" r="0" b="1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219075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B6587-C70A-4F0E-9889-53BE8211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22288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0943ad7bc4a69"/>
          <a:srcRect xmlns:a="http://schemas.openxmlformats.org/drawingml/2006/main" l="0" t="1148" r="0" b="1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524000"/>
            <a:ext cx="2190750" cy="4762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DF7ED-A3D4-42AB-8757-89CF536A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504950"/>
            <a:ext cx="22288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b89177a634ea6"/>
          <a:srcRect xmlns:a="http://schemas.openxmlformats.org/drawingml/2006/main" l="0" t="1148" r="0" b="1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1524000"/>
            <a:ext cx="2190750" cy="4762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6703F-BC8F-4EBE-B07D-E820959F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0B460-3F7A-4C7A-A24C-6D138F92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71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B756E-8CC6-4AF5-9378-A501F8F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33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选择图片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190BD-A008-4B94-99BF-BCA5C84D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系统 Photo Picker；Xiaomi 14 可现场拍照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F5081-0956-4521-9DFD-7D313D50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EAFE1-13EE-4AB8-82BB-13343826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C1064-707F-401C-9F02-83B085A1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86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选择算法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4ABF3-2FE7-44B4-9360-3FCFB388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671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选图后不自动分析，避免流程含糊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3EE74-0585-4CDC-945A-04E1D30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FDA61-F6F8-4717-A5AB-D24312D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3E7C2-B69A-4C10-B291-B53AE7E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38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读取结果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1BB72-A3B1-4C85-B6DA-4DD88EC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96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直方图、质量指标和性能阶段同页呈现</a:t>
            </a:r>
          </a:p>
        </p:txBody>
      </p:sp>
    </p:spTree>
    <p:extLst>
      <p:ext uri="{BB962C8B-B14F-4D97-AF65-F5344CB8AC3E}">
        <p14:creationId xmlns:p14="http://schemas.microsoft.com/office/powerpoint/2010/main" val="669182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F0309-9BA1-4805-A791-EC7BCA7D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03 · ALGORITHM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42081AA-6EA9-4DF0-AA19-81A50A66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两种方案共享公式，但内存路径不同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D5692-26AA-471D-B989-81D95B75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0F0AE-8B08-4B17-BACA-EFF652A5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项目源码与最终开发文档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13793-737D-4190-846B-6E8A4CD1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04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25F38-2AF1-4EA5-915F-CA8CE559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F87A4-A39D-4DEC-AE92-81954C9C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gray = round(R × 0.299 + G × 0.587 + B × 0.114)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99741-B520-4CCC-811F-B5A389E2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45F9E"/>
                </a:solidFill>
              </a:defRPr>
            </a:pPr>
            <a:r>
              <a:rPr sz="1950" b="1" i="0">
                <a:solidFill>
                  <a:srgbClr val="245F9E"/>
                </a:solidFill>
              </a:rPr>
              <a:t>A  优先灰度化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A1581-CF70-4915-9F79-FFCC0F5B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324B"/>
                </a:solidFill>
              </a:defRPr>
            </a:pPr>
            <a:r>
              <a:rPr sz="1425" b="1" i="0">
                <a:solidFill>
                  <a:srgbClr val="18324B"/>
                </a:solidFill>
              </a:rPr>
              <a:t>彩色像素  →  灰度缓冲  →  256-bin 统计  →  0–100 归一化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965DC-711C-4D26-BA10-76E1C97E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流程直观，转换与统计可分别计时；需要一份中间灰度缓冲。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37E20-6DAA-4E30-9E3D-995601B8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9C193-A6A6-4F6C-AF2F-F1A6E83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45F9E"/>
                </a:solidFill>
              </a:defRPr>
            </a:pPr>
            <a:r>
              <a:rPr sz="1950" b="1" i="0">
                <a:solidFill>
                  <a:srgbClr val="245F9E"/>
                </a:solidFill>
              </a:rPr>
              <a:t>B  统计时灰度化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0E971-2091-4626-A5F5-418C83B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324B"/>
                </a:solidFill>
              </a:defRPr>
            </a:pPr>
            <a:r>
              <a:rPr sz="1425" b="1" i="0">
                <a:solidFill>
                  <a:srgbClr val="18324B"/>
                </a:solidFill>
              </a:rPr>
              <a:t>彩色像素  →  灰度转换 + 计数融合  →  0–100 归一化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B4D54-A730-46ED-94C8-41BC7103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624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省去灰度缓冲和第二次整图扫描，通常更快、内存更低。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AF661-824E-4C49-9F27-BB4506E1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0FF34-D947-4C5B-BCC4-C2D23D33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共同约束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EB9DD-E43D-4624-9849-EF633AF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324B"/>
                </a:solidFill>
              </a:defRPr>
            </a:pPr>
            <a:r>
              <a:rPr sz="1350" b="0" i="0">
                <a:solidFill>
                  <a:srgbClr val="18324B"/>
                </a:solidFill>
              </a:rPr>
              <a:t>256-bin 完全一致 · Alpha 不改变 RGB 灰度语义 · 最高 bin 映射为 100</a:t>
            </a:r>
          </a:p>
        </p:txBody>
      </p:sp>
    </p:spTree>
    <p:extLst>
      <p:ext uri="{BB962C8B-B14F-4D97-AF65-F5344CB8AC3E}">
        <p14:creationId xmlns:p14="http://schemas.microsoft.com/office/powerpoint/2010/main" val="1471934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8A756-E216-4DD1-8E97-D9EA2313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04 · ARCHITECTURE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FEEB7FD-6E51-4A22-A832-7BEF07FE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分层让 UI、状态和算法各自可验证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6E890-59F9-4FA9-BB3A-A2538C84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C0D81-101A-4839-8441-74FEF910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项目源码与最终开发文档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5EFDB-965B-40B8-8532-66CCCE81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05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94709-4FB4-4C37-8DD4-742978A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99EA2-8104-4502-9547-36E2E4ED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4A4EA-2463-4851-A696-68EA8FC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B33FD-5552-42E1-8AD5-FF47D44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52F66-3DE5-40CE-A5D3-FC80A4C1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A7FCC"/>
                </a:solidFill>
              </a:defRPr>
            </a:pPr>
            <a:r>
              <a:rPr sz="1350" b="1" i="0">
                <a:solidFill>
                  <a:srgbClr val="3A7FCC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03033-2D91-419E-B2E1-3EBB996C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Compose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13C29-7385-4A44-AF3D-FD016573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8FA5A-542C-41D4-A5B0-B035D44E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首页 / 分析页</a:t>
            </a:r>
          </a:p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Canvas / 质量 / 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938E7-196F-46D9-99B4-58C683FB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3A7F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118BF-0895-4D3C-9C72-3C8DC514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19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A7FCC"/>
                </a:solidFill>
              </a:defRPr>
            </a:pPr>
            <a:r>
              <a:rPr sz="1350" b="1" i="0">
                <a:solidFill>
                  <a:srgbClr val="3A7FCC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CAC07-F6E2-4164-B811-E8F689C3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ViewModel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3075D-441C-4D79-ACD3-B4E116C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EDAE4-58F8-414A-95F1-20E66E2A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29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StateFlow</a:t>
            </a:r>
          </a:p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请求编号与错误恢复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5C884-3D87-4F50-9830-DFDB9DF2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C1424-0C98-42EE-A793-F5985E50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19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A7FCC"/>
                </a:solidFill>
              </a:defRPr>
            </a:pPr>
            <a:r>
              <a:rPr sz="1350" b="1" i="0">
                <a:solidFill>
                  <a:srgbClr val="3A7FCC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BA47F-5BC1-4371-9419-BE8404CF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Domain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89786-E481-4D28-A0A7-5389261A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5755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56CC3-E819-4E12-80D5-3B8A561C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灰度 / 两方案</a:t>
            </a:r>
          </a:p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归一化 / 质量分析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75DBB-D0A8-47AB-849B-642EA577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FF7EC-5B39-4E2D-A764-C2581FB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A7FCC"/>
                </a:solidFill>
              </a:defRPr>
            </a:pPr>
            <a:r>
              <a:rPr sz="1350" b="1" i="0">
                <a:solidFill>
                  <a:srgbClr val="3A7FCC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61EBD-5B5C-48EE-AED1-B522E5F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Data + Native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00993-A6A9-49A1-877E-9737611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FF75D-974E-4F7F-8F60-13C647D2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ContentResolver</a:t>
            </a:r>
          </a:p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Bitmap / JNI / C++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8AFF3-89D3-47F6-A434-C27FB7B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主线程只做状态和绘制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8778E7-2EF0-4C21-99CB-5D6D0804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C"/>
                </a:solidFill>
              </a:defRPr>
            </a:pPr>
            <a:r>
              <a:rPr sz="1350" b="0" i="0">
                <a:solidFill>
                  <a:srgbClr val="5B6B7C"/>
                </a:solidFill>
              </a:rPr>
              <a:t>IO 解码 · Default 计算 · Native 最多 8 线程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BC367-B902-4C70-A32F-21BE53EA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245F9E"/>
                </a:solidFill>
              </a:defRPr>
            </a:pPr>
            <a:r>
              <a:rPr sz="1575" b="1" i="0">
                <a:solidFill>
                  <a:srgbClr val="245F9E"/>
                </a:solidFill>
              </a:rPr>
              <a:t>单模块，但不把所有逻辑塞进 MainActivity</a:t>
            </a:r>
          </a:p>
        </p:txBody>
      </p:sp>
    </p:spTree>
    <p:extLst>
      <p:ext uri="{BB962C8B-B14F-4D97-AF65-F5344CB8AC3E}">
        <p14:creationId xmlns:p14="http://schemas.microsoft.com/office/powerpoint/2010/main" val="782593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6BB7D-8E13-47D9-AD8F-7CC3EFB9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05 ·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DB3E43F-7B67-475A-87D2-1BD53F75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真正的瓶颈是整图像素复制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E3F55-EEFE-488D-9B54-77FD7EAB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D18CB-EE79-4C23-91B8-30B6563E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历史 Xiaomi 14 单次截图；同分辨率但非严格同一原图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F367D-53CC-46CD-A407-A4AD3A2D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06 / 11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8858d924d44e4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E691E-7CD3-438D-8169-1238CD2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B7C"/>
                </a:solidFill>
              </a:defRPr>
            </a:pPr>
            <a:r>
              <a:rPr sz="1200" b="1" i="0">
                <a:solidFill>
                  <a:srgbClr val="5B6B7C"/>
                </a:solidFill>
              </a:rPr>
              <a:t>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5F6A9-90C5-472D-BC16-986A81A4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</a:defRPr>
            </a:pPr>
            <a:r>
              <a:rPr sz="3150" b="1" i="0">
                <a:solidFill>
                  <a:srgbClr val="17365D"/>
                </a:solidFill>
              </a:rPr>
              <a:t>&gt; 1.3s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0F56D-4A22-422A-8982-8A593403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正确，但远超预算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27F57-3727-42FF-B84E-9F91EFF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43646-CA23-4633-A070-AB6827F6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B7C"/>
                </a:solidFill>
              </a:defRPr>
            </a:pPr>
            <a:r>
              <a:rPr sz="1200" b="1" i="0">
                <a:solidFill>
                  <a:srgbClr val="5B6B7C"/>
                </a:solidFill>
              </a:rPr>
              <a:t>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C680D-EAE6-440B-BE0C-E98D493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5F9E"/>
                </a:solidFill>
              </a:defRPr>
            </a:pPr>
            <a:r>
              <a:rPr sz="2550" b="1" i="0">
                <a:solidFill>
                  <a:srgbClr val="245F9E"/>
                </a:solidFill>
              </a:rPr>
              <a:t>getPixels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8373B-EC60-4CDA-AE3C-10017130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整图复制仍占主导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62F79-DBC6-4E98-9248-94B99EDC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910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E4CE2-0D52-48F0-8423-E8B4809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006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B6B7C"/>
                </a:solidFill>
              </a:defRPr>
            </a:pPr>
            <a:r>
              <a:rPr sz="1200" b="1" i="0">
                <a:solidFill>
                  <a:srgbClr val="5B6B7C"/>
                </a:solidFill>
              </a:rPr>
              <a:t>v3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FDF43-1414-4F54-A9E5-72E66BB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A7FCC"/>
                </a:solidFill>
              </a:defRPr>
            </a:pPr>
            <a:r>
              <a:rPr sz="3150" b="1" i="0">
                <a:solidFill>
                  <a:srgbClr val="3A7FCC"/>
                </a:solidFill>
              </a:rPr>
              <a:t>22.2ms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38946-0730-47C7-B46E-B54B57B7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57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Native 直读后进入预算</a:t>
            </a:r>
          </a:p>
        </p:txBody>
      </p:sp>
    </p:spTree>
    <p:extLst>
      <p:ext uri="{BB962C8B-B14F-4D97-AF65-F5344CB8AC3E}">
        <p14:creationId xmlns:p14="http://schemas.microsoft.com/office/powerpoint/2010/main" val="1890850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1FC66-E256-40CD-95C2-590E58C3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06 · NATIVE V3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72C162F-607F-4690-9BEE-101CE492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Native v3 删除复制，并把统计分散到 8 个线程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D992D-5CE0-4F5E-8632-C743B829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B5E0-8A29-4F7A-8CDA-4FB34C75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项目 C++/JNI 实现与 Xiaomi 14 v4.0 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515C4-FA19-4D06-971B-733DEAD7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07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C0965-6B95-4DC3-B505-821193D4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485900"/>
            <a:ext cx="241935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5ab07f7a84075"/>
          <a:srcRect xmlns:a="http://schemas.openxmlformats.org/drawingml/2006/main" l="0" t="4157" r="0" b="41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1504950"/>
            <a:ext cx="2381250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92F27-A6D5-40F4-A413-F0B6B000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A7FCC"/>
                </a:solidFill>
              </a:defRPr>
            </a:pPr>
            <a:r>
              <a:rPr sz="1950" b="1" i="0">
                <a:solidFill>
                  <a:srgbClr val="3A7FC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2FBF7-17A1-4AB2-87D3-B9502B87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76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直接锁定 Bitmap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11394-4D4A-4553-ADA2-B361251B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AndroidBitmap_lockPixels 避免 Java 彩色 IntArray 整图复制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DDEED-0627-4050-AF71-D4DEE46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68D6C-4AD8-4A6E-8CE3-435F36D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A7FCC"/>
                </a:solidFill>
              </a:defRPr>
            </a:pPr>
            <a:r>
              <a:rPr sz="1950" b="1" i="0">
                <a:solidFill>
                  <a:srgbClr val="3A7FC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9DB5C-689E-4BBF-8CFA-4832C668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按行切分任务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7654E-EE2D-47B5-8223-3E8D3090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最多 8 个工作线程，每个线程只写自己的 256-bin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E2A18-871A-4F3E-A33E-4859B111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099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F6A9A-D660-4004-9E03-33E8431A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A7FCC"/>
                </a:solidFill>
              </a:defRPr>
            </a:pPr>
            <a:r>
              <a:rPr sz="1950" b="1" i="0">
                <a:solidFill>
                  <a:srgbClr val="3A7FC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5EBD0-095B-411C-B060-8E7A5514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一次归并结果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A7B5C-DF83-492E-A974-520609C3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线程完成后合并局部 bins，再做 0–100 归一化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E5102-D3FF-493A-B1CE-90495FE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031F-D35C-4F59-B7D7-29EC52BB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A7FCC"/>
                </a:solidFill>
              </a:defRPr>
            </a:pPr>
            <a:r>
              <a:rPr sz="1950" b="1" i="0">
                <a:solidFill>
                  <a:srgbClr val="3A7FCC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90811-8E76-40AE-9328-76350593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保留 Kotlin 回退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96BDF-2714-4EB9-BC2A-C00EAD4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Native 不可用时仍能完成课程功能，不让优化破坏可运行性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9F6309-AF62-49A7-AA6A-99FD8982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673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932E2-10B6-4F7A-9DB1-9992621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7334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039D3-9735-468A-A5CE-60B308D4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691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5F9E"/>
                </a:solidFill>
              </a:defRPr>
            </a:pPr>
            <a:r>
              <a:rPr sz="1350" b="1" i="0">
                <a:solidFill>
                  <a:srgbClr val="245F9E"/>
                </a:solidFill>
              </a:rPr>
              <a:t>既有 v4.0 单次：优先灰度化 38.291ms，占 300ms 预算 12.8%</a:t>
            </a:r>
          </a:p>
        </p:txBody>
      </p:sp>
    </p:spTree>
    <p:extLst>
      <p:ext uri="{BB962C8B-B14F-4D97-AF65-F5344CB8AC3E}">
        <p14:creationId xmlns:p14="http://schemas.microsoft.com/office/powerpoint/2010/main" val="491626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1D487D-FCC4-4B71-906C-61265A2D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07 · QUALITY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93B1213-7729-4ED2-B776-883A347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直方图同时驱动质量结论，不重复扫描图片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B0E3E-AAA4-4187-9F03-2A036CC3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51EDC-5D88-4C2F-907F-C3EA1DF8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Xiaomi 14 · v4.0 质量分析截图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183F8-CE1F-433A-8E2A-1E7DF03F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08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0CED8-7474-437F-B892-E81BD359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99085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8E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38c61ee204372"/>
          <a:srcRect xmlns:a="http://schemas.openxmlformats.org/drawingml/2006/main" l="0" t="13030" r="0" b="13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2952750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2C033-4953-4D6F-966C-386CF35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365D"/>
                </a:solidFill>
              </a:defRPr>
            </a:pPr>
            <a:r>
              <a:rPr sz="2250" b="1" i="0">
                <a:solidFill>
                  <a:srgbClr val="17365D"/>
                </a:solidFill>
              </a:rPr>
              <a:t>只遍历 256 个频次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361C4-94C1-4334-B25C-E3AF0FA1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145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C"/>
                </a:solidFill>
              </a:defRPr>
            </a:pPr>
            <a:r>
              <a:rPr sz="1500" b="0" i="0">
                <a:solidFill>
                  <a:srgbClr val="5B6B7C"/>
                </a:solidFill>
              </a:rPr>
              <a:t>质量分析不再读取 12.58MP Bitmap，也不计入直方图核心耗时。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0C702-BD09-4AFE-B742-6667C92F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861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F9E"/>
                </a:solidFill>
              </a:defRPr>
            </a:pPr>
            <a:r>
              <a:rPr sz="1425" b="1" i="0">
                <a:solidFill>
                  <a:srgbClr val="245F9E"/>
                </a:solidFill>
              </a:rPr>
              <a:t>平均灰度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37CDD-7CAA-4AC4-B0FD-C223325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86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324B"/>
                </a:solidFill>
              </a:defRPr>
            </a:pPr>
            <a:r>
              <a:rPr sz="1350" b="1" i="0">
                <a:solidFill>
                  <a:srgbClr val="18324B"/>
                </a:solidFill>
              </a:rPr>
              <a:t>Σ(gray × count) /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ECF8E-3986-4568-8E71-DEC87014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861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偏暗 &lt; 85 · 偏亮 &gt; 170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BCEAE-D75E-4318-A189-0B873062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BC969-B399-437C-81DB-09EEC4F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290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F9E"/>
                </a:solidFill>
              </a:defRPr>
            </a:pPr>
            <a:r>
              <a:rPr sz="1425" b="1" i="0">
                <a:solidFill>
                  <a:srgbClr val="245F9E"/>
                </a:solidFill>
              </a:rPr>
              <a:t>暗 / 亮占比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1829B-1281-4C2F-918F-4375779C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290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324B"/>
                </a:solidFill>
              </a:defRPr>
            </a:pPr>
            <a:r>
              <a:rPr sz="1350" b="1" i="0">
                <a:solidFill>
                  <a:srgbClr val="18324B"/>
                </a:solidFill>
              </a:rPr>
              <a:t>0–63 / 192–255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6A71A-9F2D-4D2D-B6BB-FC57F5BA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占比 ≥ 60% 时优先判断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1DA8B-FDF7-4F10-AF9C-BE2FB0A8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2435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24ECB-0C5D-4D9C-8886-FD86416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F9E"/>
                </a:solidFill>
              </a:defRPr>
            </a:pPr>
            <a:r>
              <a:rPr sz="1425" b="1" i="0">
                <a:solidFill>
                  <a:srgbClr val="245F9E"/>
                </a:solidFill>
              </a:rPr>
              <a:t>灰度标准差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00F6C-C2E9-415A-89ED-807F06CB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72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324B"/>
                </a:solidFill>
              </a:defRPr>
            </a:pPr>
            <a:r>
              <a:rPr sz="1350" b="1" i="0">
                <a:solidFill>
                  <a:srgbClr val="18324B"/>
                </a:solidFill>
              </a:rPr>
              <a:t>加权二阶矩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1DE0D-4549-4A6B-9F5E-6F3CC15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其余情况下 &lt; 35 为低对比度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9F5FE-D659-4C66-831F-3455BE2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E1D68B-1687-4731-9E48-26C96A8D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5F9E"/>
                </a:solidFill>
              </a:defRPr>
            </a:pPr>
            <a:r>
              <a:rPr sz="1425" b="1" i="0">
                <a:solidFill>
                  <a:srgbClr val="245F9E"/>
                </a:solidFill>
              </a:rPr>
              <a:t>最终分类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9C1E4-966B-45EC-9B9A-41165889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14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324B"/>
                </a:solidFill>
              </a:defRPr>
            </a:pPr>
            <a:r>
              <a:rPr sz="1350" b="1" i="0">
                <a:solidFill>
                  <a:srgbClr val="18324B"/>
                </a:solidFill>
              </a:rPr>
              <a:t>偏暗 / 偏亮 / 低对比度 / 正常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D8E16-18AC-4475-AC63-5856DF53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149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课程级辅助提示，不是专业诊断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FBBEE-538F-4563-AC40-69746BB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1025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3820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5A9714-A003-4022-806C-55791088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08 · VERIFICATION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DE3237E-86EC-4608-827C-A1235D64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先证明算得一样，再讨论跑得多快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FF123-36A2-43F4-80E8-9FB0C983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2116A-45E5-4E6D-A71E-5F56BAB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2026-07-08 Gradle 与 API 36.1 AVD 验证记录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47203-F230-46E9-97F0-60F3884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09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BF561-614E-4872-905C-AD17A0F3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3A7FCC"/>
                </a:solidFill>
              </a:defRPr>
            </a:pPr>
            <a:r>
              <a:rPr sz="4500" b="1" i="0">
                <a:solidFill>
                  <a:srgbClr val="3A7FCC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31E74-321D-4C9D-B53F-7DFEC82A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JVM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2DDE6-E622-4A28-AF88-E7AAECE0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公式、归一化、两方案与质量阈值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FAEBE-B816-427A-959F-3F9834C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192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3A7FCC"/>
                </a:solidFill>
              </a:defRPr>
            </a:pPr>
            <a:r>
              <a:rPr sz="4500" b="1" i="0">
                <a:solidFill>
                  <a:srgbClr val="3A7FCC"/>
                </a:solidFill>
              </a:rPr>
              <a:t>20+1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C2A2D-4A46-4044-8768-14B4512F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DEVICE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8771E-7CDC-4944-8E2F-A98854B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812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20 通过，1 个显式 benchmark 跳过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35B51-188E-4D44-8961-A03933E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3A7FCC"/>
                </a:solidFill>
              </a:defRPr>
            </a:pPr>
            <a:r>
              <a:rPr sz="4500" b="1" i="0">
                <a:solidFill>
                  <a:srgbClr val="3A7FCC"/>
                </a:solidFill>
              </a:rPr>
              <a:t>16.78M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56CA3-DABD-48EA-A966-C97594E0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RGB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A96AB-FA1D-4492-BDB2-A86DF014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812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Kotlin 快路径穷举全部 RGB 组合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F807A-929C-4C55-841E-8CD56B3F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19250"/>
            <a:ext cx="2609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3A7FCC"/>
                </a:solidFill>
              </a:defRPr>
            </a:pPr>
            <a:r>
              <a:rPr sz="4500" b="1" i="0">
                <a:solidFill>
                  <a:srgbClr val="3A7FCC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D9C7C-B6CE-4DDE-A384-C223BB51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ABIs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8DB11-81E1-4280-878E-B4EBC9B1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81275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C"/>
                </a:solidFill>
              </a:defRPr>
            </a:pPr>
            <a:r>
              <a:rPr sz="1200" b="0" i="0">
                <a:solidFill>
                  <a:srgbClr val="5B6B7C"/>
                </a:solidFill>
              </a:rPr>
              <a:t>arm64-v8a / armeabi-v7a / x86 / x86_64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81040-2B9F-4C75-8F58-BC4B95D9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26808-3C3C-4242-96F6-67A1BBA4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EF411-D14F-46C4-9564-12C1D3E8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Kotlin ↔ Native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5370A-3071-422D-B3C8-8F5EF170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909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精确 .5 取整边界与混合 Bitmap 逐 bin 一致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1CBAB-BBA0-470C-AF9D-2477822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538DF-F3DA-468B-9647-071C5A0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方案 A ↔ 方案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621CA-6B9C-4649-B7CF-F709AC46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43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同一输入的 256 个频次、归一化高度和像素总数一致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95089-5D14-4B2B-B723-12A628DE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86781F-0A0F-4FDE-A9CF-17731AD2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UI 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979F09-17CD-4877-837F-0287EEAE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95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初始、加载、成功、错误、取消、换图和返回路径均有测试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31C3F-CC13-43F1-827C-453A938F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1EE60-240E-4C86-B487-7782EDD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65D"/>
                </a:solidFill>
              </a:defRPr>
            </a:pPr>
            <a:r>
              <a:rPr sz="1350" b="1" i="0">
                <a:solidFill>
                  <a:srgbClr val="17365D"/>
                </a:solidFill>
              </a:rPr>
              <a:t>构建门禁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7ED3DC-625D-4DF6-AF3C-6F9FAC47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483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testDebugUnitTest / assembleDebug / AndroidTest APK / lintDebug</a:t>
            </a:r>
          </a:p>
        </p:txBody>
      </p:sp>
    </p:spTree>
    <p:extLst>
      <p:ext uri="{BB962C8B-B14F-4D97-AF65-F5344CB8AC3E}">
        <p14:creationId xmlns:p14="http://schemas.microsoft.com/office/powerpoint/2010/main" val="877798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7EBBC8-D53A-43C9-A917-DA7D9406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9E"/>
                </a:solidFill>
              </a:defRPr>
            </a:pPr>
            <a:r>
              <a:rPr sz="1050" b="1" i="0">
                <a:solidFill>
                  <a:srgbClr val="245F9E"/>
                </a:solidFill>
              </a:rPr>
              <a:t>09 · FINAL ACCEPTANCE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4D752821-E6F6-46CF-B432-1299215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65D"/>
                </a:solidFill>
              </a:defRPr>
            </a:pPr>
            <a:r>
              <a:rPr sz="2700" b="1" i="0">
                <a:solidFill>
                  <a:srgbClr val="17365D"/>
                </a:solidFill>
              </a:rPr>
              <a:t>最终验收覆盖 17 个图片 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A1668-6758-42D8-A222-60EA86AF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BA234-0023-47EF-A5E4-ADC3710B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C"/>
                </a:solidFill>
              </a:defRPr>
            </a:pPr>
            <a:r>
              <a:rPr sz="900" b="0" i="0">
                <a:solidFill>
                  <a:srgbClr val="5B6B7C"/>
                </a:solidFill>
              </a:rPr>
              <a:t>docs/performance/真机性能测试_最终模板.xlsx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15DFB-CCCE-43CC-B68C-BC7595BA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B7C"/>
                </a:solidFill>
              </a:defRPr>
            </a:pPr>
            <a:r>
              <a:rPr sz="900" b="1" i="0">
                <a:solidFill>
                  <a:srgbClr val="5B6B7C"/>
                </a:solidFill>
              </a:rPr>
              <a:t>10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9274D-2680-422C-899A-19C3126A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CD809-25A8-4DB9-B390-C0F3408D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S01–S08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606A1-C7DC-4C99-9930-2621FD2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733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5F9E"/>
                </a:solidFill>
              </a:defRPr>
            </a:pPr>
            <a:r>
              <a:rPr sz="2100" b="1" i="0">
                <a:solidFill>
                  <a:srgbClr val="245F9E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D7C72-07B4-408B-B260-5B5799B2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33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324B"/>
                </a:solidFill>
              </a:defRPr>
            </a:pPr>
            <a:r>
              <a:rPr sz="1350" b="0" i="0">
                <a:solidFill>
                  <a:srgbClr val="18324B"/>
                </a:solidFill>
              </a:rPr>
              <a:t>黑白灰、低/正常对比、RGB、Alpha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6AAF2-0D05-4DE8-A476-39C88E5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44531-2A70-4910-99C6-39D6EB8C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L1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7B855-7050-4193-A384-67450D03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146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5F9E"/>
                </a:solidFill>
              </a:defRPr>
            </a:pPr>
            <a:r>
              <a:rPr sz="2100" b="1" i="0">
                <a:solidFill>
                  <a:srgbClr val="245F9E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41AE3-9980-442C-8E11-81514F92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46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324B"/>
                </a:solidFill>
              </a:defRPr>
            </a:pPr>
            <a:r>
              <a:rPr sz="1350" b="0" i="0">
                <a:solidFill>
                  <a:srgbClr val="18324B"/>
                </a:solidFill>
              </a:rPr>
              <a:t>12.58MP 固定性能图，检验 300ms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59C09-5F44-4EAE-B72B-BF2B9934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8FE31-886F-4DE3-B138-FB49C62B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B01/B02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4F492-75E1-4F15-A003-B279852A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956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5F9E"/>
                </a:solidFill>
              </a:defRPr>
            </a:pPr>
            <a:r>
              <a:rPr sz="2100" b="1" i="0">
                <a:solidFill>
                  <a:srgbClr val="245F9E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876C1-1787-4403-9289-646BF7D3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956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324B"/>
                </a:solidFill>
              </a:defRPr>
            </a:pPr>
            <a:r>
              <a:rPr sz="1350" b="0" i="0">
                <a:solidFill>
                  <a:srgbClr val="18324B"/>
                </a:solidFill>
              </a:rPr>
              <a:t>1600 万像素允许边界与超限拒绝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D243B-ABD0-46B4-9798-5D732FE2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69253-5426-4541-867E-92718C9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T1–T5 + W01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03012-1D44-41D6-A12F-D8C6DFE2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767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5F9E"/>
                </a:solidFill>
              </a:defRPr>
            </a:pPr>
            <a:r>
              <a:rPr sz="2100" b="1" i="0">
                <a:solidFill>
                  <a:srgbClr val="245F9E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4D595-2F0F-438E-9AFF-0D2FA110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767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324B"/>
                </a:solidFill>
              </a:defRPr>
            </a:pPr>
            <a:r>
              <a:rPr sz="1350" b="0" i="0">
                <a:solidFill>
                  <a:srgbClr val="18324B"/>
                </a:solidFill>
              </a:rPr>
              <a:t>真实内容、横竖图、日夜与 WebP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948AC-49C6-4CEF-AEE2-1FA06101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BDE18-82C3-4DD9-9622-C658D59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65D"/>
                </a:solidFill>
              </a:defRPr>
            </a:pPr>
            <a:r>
              <a:rPr sz="1500" b="1" i="0">
                <a:solidFill>
                  <a:srgbClr val="17365D"/>
                </a:solidFill>
              </a:rPr>
              <a:t>固定 L1 最终行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100B2-2FCE-4C9B-ABE9-EE578309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C"/>
                </a:solidFill>
              </a:defRPr>
            </a:pPr>
            <a:r>
              <a:rPr sz="1275" b="1" i="0">
                <a:solidFill>
                  <a:srgbClr val="5B6B7C"/>
                </a:solidFill>
              </a:rPr>
              <a:t>优先灰度化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A3DF3-521D-4147-8EFE-FACA37B1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F9E"/>
                </a:solidFill>
              </a:defRPr>
            </a:pPr>
            <a:r>
              <a:rPr sz="1800" b="1" i="0">
                <a:solidFill>
                  <a:srgbClr val="245F9E"/>
                </a:solidFill>
              </a:rPr>
              <a:t>[待真机填写]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8536F-A533-45E5-9D06-9E69BDA4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C"/>
                </a:solidFill>
              </a:defRPr>
            </a:pPr>
            <a:r>
              <a:rPr sz="1275" b="1" i="0">
                <a:solidFill>
                  <a:srgbClr val="5B6B7C"/>
                </a:solidFill>
              </a:rPr>
              <a:t>统计时灰度化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DAC99-C504-4202-8B2E-88DE824C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62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F9E"/>
                </a:solidFill>
              </a:defRPr>
            </a:pPr>
            <a:r>
              <a:rPr sz="1800" b="1" i="0">
                <a:solidFill>
                  <a:srgbClr val="245F9E"/>
                </a:solidFill>
              </a:rPr>
              <a:t>[待真机填写]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12457-9E5D-4E5E-A575-38CA09DB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9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C"/>
                </a:solidFill>
              </a:defRPr>
            </a:pPr>
            <a:r>
              <a:rPr sz="1275" b="1" i="0">
                <a:solidFill>
                  <a:srgbClr val="5B6B7C"/>
                </a:solidFill>
              </a:rPr>
              <a:t>最高频次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CCE5E-E772-43CC-B298-D25D268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6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F9E"/>
                </a:solidFill>
              </a:defRPr>
            </a:pPr>
            <a:r>
              <a:rPr sz="1800" b="1" i="0">
                <a:solidFill>
                  <a:srgbClr val="245F9E"/>
                </a:solidFill>
              </a:rPr>
              <a:t>[待真机填写]</a:t>
            </a:r>
          </a:p>
        </p:txBody>
      </p:sp>
    </p:spTree>
    <p:extLst>
      <p:ext uri="{BB962C8B-B14F-4D97-AF65-F5344CB8AC3E}">
        <p14:creationId xmlns:p14="http://schemas.microsoft.com/office/powerpoint/2010/main" val="15199826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F0976B-4FE4-43E5-9338-81F5F5E7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76D54-F74A-4487-8DE2-C2B50C5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B2838-599C-409A-82D1-0C54C751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333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项目已进入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可验收状态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506FB-8378-47CA-BB63-3BC9A575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功能闭环、两种算法、Native v3、质量分析和自动化测试均已完成。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661D1-6C96-4F54-BBF0-2F508A8F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11 /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EA0D9-7DEC-4225-9521-4A07CF5C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81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5F9E"/>
                </a:solidFill>
              </a:defRPr>
            </a:pPr>
            <a:r>
              <a:rPr sz="1350" b="1" i="0">
                <a:solidFill>
                  <a:srgbClr val="245F9E"/>
                </a:solidFill>
              </a:rPr>
              <a:t>已经完成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0097B-7C1A-4CAA-AB85-370E8D40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333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4EC6C-B801-49D0-B573-F412F095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2382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324B"/>
                </a:solidFill>
              </a:defRPr>
            </a:pPr>
            <a:r>
              <a:rPr sz="1425" b="1" i="0">
                <a:solidFill>
                  <a:srgbClr val="18324B"/>
                </a:solidFill>
              </a:rPr>
              <a:t>Android 真机主流程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A9A0E-E911-41EA-AA54-32658A1F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24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DA712-60EA-44E3-A7B9-488541A9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28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324B"/>
                </a:solidFill>
              </a:defRPr>
            </a:pPr>
            <a:r>
              <a:rPr sz="1425" b="1" i="0">
                <a:solidFill>
                  <a:srgbClr val="18324B"/>
                </a:solidFill>
              </a:rPr>
              <a:t>两种课程算法与 256-bin 一致性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08081-310C-4B48-A12D-E02349B7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14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0BACE-5822-49D7-82C9-04F3427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19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324B"/>
                </a:solidFill>
              </a:defRPr>
            </a:pPr>
            <a:r>
              <a:rPr sz="1425" b="0" i="0">
                <a:solidFill>
                  <a:srgbClr val="18324B"/>
                </a:solidFill>
              </a:rPr>
              <a:t>Native Bitmap 直读与 8 线程统计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2BBF3-C203-46E2-A809-7C86EFE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98793-507D-4261-AAFE-08F90F2E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99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324B"/>
                </a:solidFill>
              </a:defRPr>
            </a:pPr>
            <a:r>
              <a:rPr sz="1425" b="0" i="0">
                <a:solidFill>
                  <a:srgbClr val="18324B"/>
                </a:solidFill>
              </a:rPr>
              <a:t>23 项 JVM + API 36.1 设备测试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02C22-9209-4853-A85C-B59F43E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95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09A74-A722-45EB-B182-8641308E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324B"/>
                </a:solidFill>
              </a:defRPr>
            </a:pPr>
            <a:r>
              <a:rPr sz="1425" b="0" i="0">
                <a:solidFill>
                  <a:srgbClr val="18324B"/>
                </a:solidFill>
              </a:rPr>
              <a:t>最终文档、测试集与验收表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9F1B0-5EBB-41C7-8778-4CB3810D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33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E9AE8-D7C1-49EF-82BE-84C82491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57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5F9E"/>
                </a:solidFill>
              </a:defRPr>
            </a:pPr>
            <a:r>
              <a:rPr sz="1350" b="1" i="0">
                <a:solidFill>
                  <a:srgbClr val="245F9E"/>
                </a:solidFill>
              </a:rPr>
              <a:t>封版前补充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000AB-D9F2-48D5-BF9D-43284F6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17 行真机数据 · 最终 APK / commit / tag · 课堂截图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F784A-08FF-45F1-8761-EB052F64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245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C"/>
                </a:solidFill>
              </a:defRPr>
            </a:pPr>
            <a:r>
              <a:rPr sz="1275" b="0" i="0">
                <a:solidFill>
                  <a:srgbClr val="5B6B7C"/>
                </a:solidFill>
              </a:rPr>
              <a:t>缺失数值继续保留 [待真机填写]，不以历史截图冒充固定 L1。</a:t>
            </a:r>
          </a:p>
        </p:txBody>
      </p:sp>
    </p:spTree>
    <p:extLst>
      <p:ext uri="{BB962C8B-B14F-4D97-AF65-F5344CB8AC3E}">
        <p14:creationId xmlns:p14="http://schemas.microsoft.com/office/powerpoint/2010/main" val="689446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2026-07-08T13:50:14.8560000Z</dcterms:created>
  <dcterms:modified xsi:type="dcterms:W3CDTF">2026-07-08T13:50:14.8560000Z</dcterms:modified>
</coreProperties>
</file>