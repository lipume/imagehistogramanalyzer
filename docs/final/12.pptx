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6f587b6d19461f" /><Relationship Type="http://schemas.openxmlformats.org/officeDocument/2006/relationships/extended-properties" Target="/docProps/app.xml" Id="R068f060f652a4c21" /><Relationship Type="http://schemas.openxmlformats.org/officeDocument/2006/relationships/officeDocument" Target="/ppt/presentation.xml" Id="R1ff018ebddf84f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f7e9d935444cb6"/>
  </p:sldMasterIdLst>
  <p:notesMasterIdLst>
    <p:notesMasterId xmlns:r="http://schemas.openxmlformats.org/officeDocument/2006/relationships" r:id="Rb43c86cd5c264de8"/>
  </p:notesMasterIdLst>
  <p:sldIdLst>
    <p:sldId xmlns:r="http://schemas.openxmlformats.org/officeDocument/2006/relationships" id="256" r:id="R46d5ed4af3e4438b"/>
    <p:sldId xmlns:r="http://schemas.openxmlformats.org/officeDocument/2006/relationships" id="257" r:id="R32fa4594f0414719"/>
    <p:sldId xmlns:r="http://schemas.openxmlformats.org/officeDocument/2006/relationships" id="258" r:id="Rf74d43aae85c42ed"/>
    <p:sldId xmlns:r="http://schemas.openxmlformats.org/officeDocument/2006/relationships" id="259" r:id="Rc568249a64604721"/>
    <p:sldId xmlns:r="http://schemas.openxmlformats.org/officeDocument/2006/relationships" id="260" r:id="Rbb60fcf741b74ae1"/>
    <p:sldId xmlns:r="http://schemas.openxmlformats.org/officeDocument/2006/relationships" id="261" r:id="R5bde6e5b64e7481f"/>
    <p:sldId xmlns:r="http://schemas.openxmlformats.org/officeDocument/2006/relationships" id="262" r:id="Rd057cd4d513e41c3"/>
    <p:sldId xmlns:r="http://schemas.openxmlformats.org/officeDocument/2006/relationships" id="263" r:id="Rd2190c29bf464f52"/>
    <p:sldId xmlns:r="http://schemas.openxmlformats.org/officeDocument/2006/relationships" id="264" r:id="R45c25fd6473b4ba8"/>
    <p:sldId xmlns:r="http://schemas.openxmlformats.org/officeDocument/2006/relationships" id="265" r:id="R96143f63ecc141c1"/>
    <p:sldId xmlns:r="http://schemas.openxmlformats.org/officeDocument/2006/relationships" id="266" r:id="Ra01e5f1292ba43d6"/>
    <p:sldId xmlns:r="http://schemas.openxmlformats.org/officeDocument/2006/relationships" id="267" r:id="R676cf4890a4c4a4f"/>
    <p:sldId xmlns:r="http://schemas.openxmlformats.org/officeDocument/2006/relationships" id="268" r:id="Rc54619341e42403b"/>
    <p:sldId xmlns:r="http://schemas.openxmlformats.org/officeDocument/2006/relationships" id="269" r:id="Re6a25142a345463f"/>
    <p:sldId xmlns:r="http://schemas.openxmlformats.org/officeDocument/2006/relationships" id="270" r:id="Rf5804a34b3744337"/>
    <p:sldId xmlns:r="http://schemas.openxmlformats.org/officeDocument/2006/relationships" id="271" r:id="R952d9da6f80f4f34"/>
    <p:sldId xmlns:r="http://schemas.openxmlformats.org/officeDocument/2006/relationships" id="272" r:id="Rdc3e72ec105244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b908dccfb14655" /><Relationship Type="http://schemas.openxmlformats.org/officeDocument/2006/relationships/slideMaster" Target="/ppt/slideMasters/slideMaster1.xml" Id="R9af7e9d935444cb6" /><Relationship Type="http://schemas.openxmlformats.org/officeDocument/2006/relationships/notesMaster" Target="/ppt/notesMasters/notesMaster1.xml" Id="Rb43c86cd5c264de8" /><Relationship Type="http://schemas.openxmlformats.org/officeDocument/2006/relationships/presProps" Target="/ppt/presProps.xml" Id="R91476f4e10904b9f" /><Relationship Type="http://schemas.openxmlformats.org/officeDocument/2006/relationships/viewProps" Target="/ppt/viewProps.xml" Id="R7790ea1853d243b5" /><Relationship Type="http://schemas.openxmlformats.org/officeDocument/2006/relationships/tableStyles" Target="/ppt/tableStyles.xml" Id="Racc49017fbbc4d31" /><Relationship Type="http://schemas.openxmlformats.org/officeDocument/2006/relationships/slide" Target="/ppt/slides/slide1.xml" Id="R46d5ed4af3e4438b" /><Relationship Type="http://schemas.openxmlformats.org/officeDocument/2006/relationships/slide" Target="/ppt/slides/slide2.xml" Id="R32fa4594f0414719" /><Relationship Type="http://schemas.openxmlformats.org/officeDocument/2006/relationships/slide" Target="/ppt/slides/slide3.xml" Id="Rf74d43aae85c42ed" /><Relationship Type="http://schemas.openxmlformats.org/officeDocument/2006/relationships/slide" Target="/ppt/slides/slide4.xml" Id="Rc568249a64604721" /><Relationship Type="http://schemas.openxmlformats.org/officeDocument/2006/relationships/slide" Target="/ppt/slides/slide5.xml" Id="Rbb60fcf741b74ae1" /><Relationship Type="http://schemas.openxmlformats.org/officeDocument/2006/relationships/slide" Target="/ppt/slides/slide6.xml" Id="R5bde6e5b64e7481f" /><Relationship Type="http://schemas.openxmlformats.org/officeDocument/2006/relationships/slide" Target="/ppt/slides/slide7.xml" Id="Rd057cd4d513e41c3" /><Relationship Type="http://schemas.openxmlformats.org/officeDocument/2006/relationships/slide" Target="/ppt/slides/slide8.xml" Id="Rd2190c29bf464f52" /><Relationship Type="http://schemas.openxmlformats.org/officeDocument/2006/relationships/slide" Target="/ppt/slides/slide9.xml" Id="R45c25fd6473b4ba8" /><Relationship Type="http://schemas.openxmlformats.org/officeDocument/2006/relationships/slide" Target="/ppt/slides/slide10.xml" Id="R96143f63ecc141c1" /><Relationship Type="http://schemas.openxmlformats.org/officeDocument/2006/relationships/slide" Target="/ppt/slides/slide11.xml" Id="Ra01e5f1292ba43d6" /><Relationship Type="http://schemas.openxmlformats.org/officeDocument/2006/relationships/slide" Target="/ppt/slides/slide12.xml" Id="R676cf4890a4c4a4f" /><Relationship Type="http://schemas.openxmlformats.org/officeDocument/2006/relationships/slide" Target="/ppt/slides/slide13.xml" Id="Rc54619341e42403b" /><Relationship Type="http://schemas.openxmlformats.org/officeDocument/2006/relationships/slide" Target="/ppt/slides/slide14.xml" Id="Re6a25142a345463f" /><Relationship Type="http://schemas.openxmlformats.org/officeDocument/2006/relationships/slide" Target="/ppt/slides/slide15.xml" Id="Rf5804a34b3744337" /><Relationship Type="http://schemas.openxmlformats.org/officeDocument/2006/relationships/slide" Target="/ppt/slides/slide16.xml" Id="R952d9da6f80f4f34" /><Relationship Type="http://schemas.openxmlformats.org/officeDocument/2006/relationships/slide" Target="/ppt/slides/slide17.xml" Id="Rdc3e72ec105244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dff77a630342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35a1f088c54754" /><Relationship Type="http://schemas.openxmlformats.org/officeDocument/2006/relationships/notesMaster" Target="/ppt/notesMasters/notesMaster1.xml" Id="R0cf0466f3f9d48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922db43ffd4a63" /><Relationship Type="http://schemas.openxmlformats.org/officeDocument/2006/relationships/notesMaster" Target="/ppt/notesMasters/notesMaster1.xml" Id="Rff15580318c342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3cb33025f04cf9" /><Relationship Type="http://schemas.openxmlformats.org/officeDocument/2006/relationships/notesMaster" Target="/ppt/notesMasters/notesMaster1.xml" Id="R8791c3507b7f41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cfb4fdd4ee4deb" /><Relationship Type="http://schemas.openxmlformats.org/officeDocument/2006/relationships/notesMaster" Target="/ppt/notesMasters/notesMaster1.xml" Id="Rafa4e8e3474d46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c220d8d3214978" /><Relationship Type="http://schemas.openxmlformats.org/officeDocument/2006/relationships/notesMaster" Target="/ppt/notesMasters/notesMaster1.xml" Id="R8fbbb85c415b49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1db9b77e63448a" /><Relationship Type="http://schemas.openxmlformats.org/officeDocument/2006/relationships/notesMaster" Target="/ppt/notesMasters/notesMaster1.xml" Id="R4d0b2e15454949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e18d96071b4b2b" /><Relationship Type="http://schemas.openxmlformats.org/officeDocument/2006/relationships/notesMaster" Target="/ppt/notesMasters/notesMaster1.xml" Id="R8dcbe68b2de34b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a937462a694153" /><Relationship Type="http://schemas.openxmlformats.org/officeDocument/2006/relationships/notesMaster" Target="/ppt/notesMasters/notesMaster1.xml" Id="Rf056e18d4ccb47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dfd2b916584eea" /><Relationship Type="http://schemas.openxmlformats.org/officeDocument/2006/relationships/notesMaster" Target="/ppt/notesMasters/notesMaster1.xml" Id="R11015374fcd442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b71e94763a4861" /><Relationship Type="http://schemas.openxmlformats.org/officeDocument/2006/relationships/notesMaster" Target="/ppt/notesMasters/notesMaster1.xml" Id="R7b9c58826a4c49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25cf818ae248cd" /><Relationship Type="http://schemas.openxmlformats.org/officeDocument/2006/relationships/notesMaster" Target="/ppt/notesMasters/notesMaster1.xml" Id="R6f335c6ec9ae48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dc06fa06694b50" /><Relationship Type="http://schemas.openxmlformats.org/officeDocument/2006/relationships/notesMaster" Target="/ppt/notesMasters/notesMaster1.xml" Id="R50509dd3666641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1ceaad00bb4f6d" /><Relationship Type="http://schemas.openxmlformats.org/officeDocument/2006/relationships/notesMaster" Target="/ppt/notesMasters/notesMaster1.xml" Id="R4f6244e816eb4a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8e5021bb9c4c41" /><Relationship Type="http://schemas.openxmlformats.org/officeDocument/2006/relationships/notesMaster" Target="/ppt/notesMasters/notesMaster1.xml" Id="Ra70618a1ad9c40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cce18702f549c7" /><Relationship Type="http://schemas.openxmlformats.org/officeDocument/2006/relationships/notesMaster" Target="/ppt/notesMasters/notesMaster1.xml" Id="R7a39f199a12742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21e503bf804441" /><Relationship Type="http://schemas.openxmlformats.org/officeDocument/2006/relationships/notesMaster" Target="/ppt/notesMasters/notesMaster1.xml" Id="R6ec5b2caa1cb42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2d6234fa324c70" /><Relationship Type="http://schemas.openxmlformats.org/officeDocument/2006/relationships/notesMaster" Target="/ppt/notesMasters/notesMaster1.xml" Id="Ra8280ec1ff3b45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89b15f12c4d4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0c38f351694712" /><Relationship Type="http://schemas.openxmlformats.org/officeDocument/2006/relationships/slideLayout" Target="/ppt/slideLayouts/slideLayout1.xml" Id="R65f88dec8769488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f88dec87694887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046a33df94ae3" /><Relationship Type="http://schemas.openxmlformats.org/officeDocument/2006/relationships/image" Target="/ppt/media/image.jpeg" Id="R8ea04441b46d44dc" /><Relationship Type="http://schemas.openxmlformats.org/officeDocument/2006/relationships/notesSlide" Target="/ppt/notesSlides/notesSlide1.xml" Id="R8217bce74fc74f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e2adc4ecd4054" /><Relationship Type="http://schemas.openxmlformats.org/officeDocument/2006/relationships/notesSlide" Target="/ppt/notesSlides/notesSlide2.xml" Id="R84c6dd450c0c49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0954653b94a1f" /><Relationship Type="http://schemas.openxmlformats.org/officeDocument/2006/relationships/notesSlide" Target="/ppt/notesSlides/notesSlide3.xml" Id="R86e8a32723fc47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1e1f30407441f" /><Relationship Type="http://schemas.openxmlformats.org/officeDocument/2006/relationships/notesSlide" Target="/ppt/notesSlides/notesSlide4.xml" Id="R47015b363e984d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3e4d85d8b43dd" /><Relationship Type="http://schemas.openxmlformats.org/officeDocument/2006/relationships/notesSlide" Target="/ppt/notesSlides/notesSlide5.xml" Id="Rb72ddac4b73246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ab4d756514fbe" /><Relationship Type="http://schemas.openxmlformats.org/officeDocument/2006/relationships/notesSlide" Target="/ppt/notesSlides/notesSlide6.xml" Id="R8c6010f6c65a40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8b22826584a13" /><Relationship Type="http://schemas.openxmlformats.org/officeDocument/2006/relationships/notesSlide" Target="/ppt/notesSlides/notesSlide7.xml" Id="Rf04130730f8048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cea30ae86408d" /><Relationship Type="http://schemas.openxmlformats.org/officeDocument/2006/relationships/image" Target="/ppt/media/image2.jpeg" Id="R5f150ec4381a4e18" /><Relationship Type="http://schemas.openxmlformats.org/officeDocument/2006/relationships/notesSlide" Target="/ppt/notesSlides/notesSlide8.xml" Id="R85fafee58d7043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5155a0fc747a2" /><Relationship Type="http://schemas.openxmlformats.org/officeDocument/2006/relationships/image" Target="/ppt/media/image3.jpeg" Id="R128d9febfb80477d" /><Relationship Type="http://schemas.openxmlformats.org/officeDocument/2006/relationships/notesSlide" Target="/ppt/notesSlides/notesSlide9.xml" Id="R7453d6c1e98b42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6d67f319e44b7" /><Relationship Type="http://schemas.openxmlformats.org/officeDocument/2006/relationships/notesSlide" Target="/ppt/notesSlides/notesSlide10.xml" Id="R90b46e3863c243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31501c2cc4ab4" /><Relationship Type="http://schemas.openxmlformats.org/officeDocument/2006/relationships/notesSlide" Target="/ppt/notesSlides/notesSlide11.xml" Id="R1cf7b33ff0e446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6857c4a4148a8" /><Relationship Type="http://schemas.openxmlformats.org/officeDocument/2006/relationships/image" Target="/ppt/media/image4.jpeg" Id="R6dc39b997618420b" /><Relationship Type="http://schemas.openxmlformats.org/officeDocument/2006/relationships/image" Target="/ppt/media/image5.jpeg" Id="R3cb000f6a2624828" /><Relationship Type="http://schemas.openxmlformats.org/officeDocument/2006/relationships/notesSlide" Target="/ppt/notesSlides/notesSlide12.xml" Id="Rd317aca06e3f46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f90fdb0ea4285" /><Relationship Type="http://schemas.openxmlformats.org/officeDocument/2006/relationships/notesSlide" Target="/ppt/notesSlides/notesSlide13.xml" Id="R1b5461d7435d47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cb5f058624efb" /><Relationship Type="http://schemas.openxmlformats.org/officeDocument/2006/relationships/notesSlide" Target="/ppt/notesSlides/notesSlide14.xml" Id="R9a1c17422db147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8542c0fc14d2a" /><Relationship Type="http://schemas.openxmlformats.org/officeDocument/2006/relationships/image" Target="/ppt/media/image4.jpeg" Id="R4a64e8e3c91b49d2" /><Relationship Type="http://schemas.openxmlformats.org/officeDocument/2006/relationships/image" Target="/ppt/media/image5.jpeg" Id="R7f1d3d6baea14ae3" /><Relationship Type="http://schemas.openxmlformats.org/officeDocument/2006/relationships/notesSlide" Target="/ppt/notesSlides/notesSlide15.xml" Id="R1e773d64faf04b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f34d61762447c" /><Relationship Type="http://schemas.openxmlformats.org/officeDocument/2006/relationships/notesSlide" Target="/ppt/notesSlides/notesSlide16.xml" Id="R2648c02b9b5543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5baa787474d1a" /><Relationship Type="http://schemas.openxmlformats.org/officeDocument/2006/relationships/notesSlide" Target="/ppt/notesSlides/notesSlide17.xml" Id="Rcde056bcb85240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4F9CD2D-6B7E-4DD8-B346-DBF536AF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E42674-E450-42FA-BD62-61647DEE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0352"/>
            <a:ext cx="63093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3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移动端图像质量分析</a:t>
            </a:r>
          </a:p>
          <a:p xmlns:a="http://schemas.openxmlformats.org/drawingml/2006/main">
            <a:pPr marL="0" indent="0">
              <a:buNone/>
            </a:pPr>
            <a:r>
              <a:rPr sz="33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与直方图计算优化系统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69014B-A0DF-4B19-AD47-5AF8BCB4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55648"/>
            <a:ext cx="6492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基于 Android 的直方图计算、区域分析与智能拍摄辅助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81E61B-60E6-411F-B37A-D2005F8F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731520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BDD194-E546-4629-B035-B06E8A07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217420"/>
            <a:ext cx="58521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Kotlin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684D467-28A4-4674-81D2-BF264B45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2148840"/>
            <a:ext cx="960120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4DA77B"/>
          </a:solidFill>
          <a:ln xmlns:a="http://schemas.openxmlformats.org/drawingml/2006/main" w="12700">
            <a:solidFill>
              <a:srgbClr val="4DA77B">
                <a:alpha val="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1848B5-4656-48AA-A323-C44ADB1A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217420"/>
            <a:ext cx="81381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Compose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6F80C0D-1936-4978-AE47-43A0DDA3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48840"/>
            <a:ext cx="987552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26F2969-5FD8-473E-84A0-8E5B5A4F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2217420"/>
            <a:ext cx="84124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NDK/C++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F723028-092E-4E13-A840-B670C264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148840"/>
            <a:ext cx="960120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04B8C71-07AC-4A36-8873-0C73A802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217420"/>
            <a:ext cx="81381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CameraX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E485E52-9373-4724-B64E-A63AC95F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148840"/>
            <a:ext cx="1005840" cy="29260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157213-4518-4EEB-BF1E-0D1E5603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17420"/>
            <a:ext cx="8595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本地处理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8F5D651-6598-416B-8054-8FB5589C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816352"/>
            <a:ext cx="5486400" cy="2340864"/>
          </a:xfrm>
          <a:prstGeom xmlns:a="http://schemas.openxmlformats.org/drawingml/2006/main" prst="roundRect">
            <a:avLst>
              <a:gd name="adj" fmla="val 5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4F2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E97AC48-1A5F-45A0-B769-F879ABED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953512"/>
            <a:ext cx="51572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团队分工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623488F-C34E-480C-8100-67728557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18688"/>
            <a:ext cx="2286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2E2C9C9-89CC-4A0F-B973-102ECB00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218688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黎哲轩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6FC74EA-1201-424C-9462-4DA9C5F0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218688"/>
            <a:ext cx="960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项目管理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96905AD-678F-4B97-9970-DC937E96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218688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目标、进度、答辩统筹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04472F5-E859-4DCD-9C5F-12EFEE57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66160"/>
            <a:ext cx="2286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BEDEDDF-FEBF-4825-96FF-E05CA9C3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566160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史佳雯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8F3F276-946C-4B19-BAFE-84D8D837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566160"/>
            <a:ext cx="960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需求与设计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DB3562E-0FA9-46AA-9626-E7B4143D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566160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流程设计、功能梳理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C7974BC-8B9F-4F90-9EB5-F54B1C01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13632"/>
            <a:ext cx="2286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00E9EE2-D3B0-4716-A002-741C6057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913632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张栋皓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5AA9E35-BA25-4269-8C08-871D88D3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913632"/>
            <a:ext cx="960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Android 开发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17CCE00-4CC2-4968-A63A-9939247A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913632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界面实现、相机模块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2618428-F123-47CF-A0DB-11A878EA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61104"/>
            <a:ext cx="2286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61E7D2A-6B74-44FD-81F6-43A26522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261104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杨清洁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7B7F64B-A672-461D-8AE9-95389C31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261104"/>
            <a:ext cx="960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算法开发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060A473-5D14-4FA2-9F58-442CE64E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261104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直方图、RGB、性能优化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7CF8423-7836-42A7-9A85-8FB39B5B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08576"/>
            <a:ext cx="2286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A485DA9-7B87-4530-AE1C-DFE91481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608576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杨初晓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A4FB7B2E-87B4-4F6D-926B-6B132F80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608576"/>
            <a:ext cx="960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测试与文档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F7C4DC1-8F02-43BD-8545-9E6AAE37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608576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测试验证、交付材料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7CDB5BC-7902-4652-BEFF-17F1B964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525780"/>
            <a:ext cx="2148840" cy="4700016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12700">
            <a:solidFill>
              <a:srgbClr val="102438">
                <a:alpha val="0"/>
              </a:srgbClr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EB4C8">
                <a:alpha val="25000"/>
              </a:srgbClr>
            </a:outerShdw>
          </a:effectLst>
        </p:spPr>
      </p:sp>
      <p:pic>
        <p:nvPicPr>
          <p:cNvPr id="8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04441b46d44dc"/>
          <a:srcRect xmlns:a="http://schemas.openxmlformats.org/drawingml/2006/main" l="192" t="0" r="192" b="0"/>
          <a:stretch xmlns:a="http://schemas.openxmlformats.org/drawingml/2006/main"/>
        </p:blipFill>
        <p:spPr>
          <a:xfrm xmlns:a="http://schemas.openxmlformats.org/drawingml/2006/main">
            <a:off x="7790688" y="566928"/>
            <a:ext cx="2066544" cy="4617720"/>
          </a:xfrm>
          <a:prstGeom xmlns:a="http://schemas.openxmlformats.org/drawingml/2006/main" prst="rect">
            <a:avLst/>
          </a:prstGeom>
        </p:spPr>
      </p:pic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6A8724C6-DB52-4CC8-9BC5-F7F1EF64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5257800"/>
            <a:ext cx="215798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首页与能力说明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4FA27889-84B0-4AA5-A828-A3EF4C13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559552"/>
            <a:ext cx="4709160" cy="640080"/>
          </a:xfrm>
          <a:prstGeom xmlns:a="http://schemas.openxmlformats.org/drawingml/2006/main" prst="roundRect">
            <a:avLst>
              <a:gd name="adj" fmla="val 1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BBD5F4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9DE4FAF6-5E8F-490A-9130-8388FB9F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696712"/>
            <a:ext cx="43799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一句话定位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C090F88-9921-4FB1-BF59-77CCE957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6016752"/>
            <a:ext cx="43799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在移动端离线完成直方图生成与性能优化，并把结果转化为可解释的图像分析与拍摄辅助。</a:t>
            </a:r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52E1AFCA-C52C-4213-A091-092973B3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988A7714-BDDD-40A3-87D9-09C5506C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0856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3BB153D-E939-4018-B43B-AFD1FC9B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76E98FF-3E98-4177-9DD7-516BE4CA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E5187E-3D18-4EC2-A7AC-CA278D3A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从“生成直方图”扩展到“解释并应用直方图”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4155010-6494-485C-8A9C-4F19A231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先完成准确生成与快速生成，再将直方图用于局部分析和拍摄辅助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27B772E-CABD-4775-8AA8-A280AFE5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0E8DBE4-9AFF-40D4-A4B6-0B7EFCBE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主讲：黎哲轩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25DCF2A-428C-41A5-B5FE-44388A7B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2148840" cy="987552"/>
          </a:xfrm>
          <a:prstGeom xmlns:a="http://schemas.openxmlformats.org/drawingml/2006/main" prst="roundRect">
            <a:avLst>
              <a:gd name="adj" fmla="val 120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8F5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3E73A83-135E-40A9-9C1C-5AD23479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289304"/>
            <a:ext cx="18562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准确生成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0737426-DA4E-47C8-B55E-1956FD4B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545336"/>
            <a:ext cx="18562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256 bins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CD3BC2-3C6B-4F51-931E-EB546296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856232"/>
            <a:ext cx="18562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0–100 归一化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4B1F6EA-842A-4A50-83AA-182E9343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143000"/>
            <a:ext cx="2148840" cy="987552"/>
          </a:xfrm>
          <a:prstGeom xmlns:a="http://schemas.openxmlformats.org/drawingml/2006/main" prst="roundRect">
            <a:avLst>
              <a:gd name="adj" fmla="val 120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8F5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07718F-F0C7-40FA-9A31-A67D7945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289304"/>
            <a:ext cx="18562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快速生成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2DCE2E1-1517-421E-B978-704AED23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545336"/>
            <a:ext cx="18562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&lt; 300 ms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81D61FC-7A2B-46CF-A839-DA6B4EC4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856232"/>
            <a:ext cx="18562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核心计算目标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45FA3E9-9BAA-4A6A-A656-2534D877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143000"/>
            <a:ext cx="2148840" cy="987552"/>
          </a:xfrm>
          <a:prstGeom xmlns:a="http://schemas.openxmlformats.org/drawingml/2006/main" prst="roundRect">
            <a:avLst>
              <a:gd name="adj" fmla="val 120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8F5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CA12E7E-AFEF-4D5A-BF0A-2D3AF444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264" y="1289304"/>
            <a:ext cx="18562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图像规模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E8F20C-46E5-4BA0-BB0F-B3FD55F6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264" y="1545336"/>
            <a:ext cx="18562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12.58 MP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BB566DE-52F1-4C26-A0F4-0DACEADD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264" y="1856232"/>
            <a:ext cx="18562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大图样本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FD28C23-2367-4AEA-940D-E9447F9F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143000"/>
            <a:ext cx="2148840" cy="987552"/>
          </a:xfrm>
          <a:prstGeom xmlns:a="http://schemas.openxmlformats.org/drawingml/2006/main" prst="roundRect">
            <a:avLst>
              <a:gd name="adj" fmla="val 120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8F5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FDF89B7-A9E9-49EB-B567-D717C8DD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4" y="1289304"/>
            <a:ext cx="18562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应用分析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01A9958-3952-49E8-95B8-2814B50D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4" y="1545336"/>
            <a:ext cx="18562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4DA77B"/>
                </a:solidFill>
                <a:latin typeface="Microsoft YaHei"/>
                <a:ea typeface="Microsoft YaHei"/>
                <a:cs typeface="Microsoft YaHei"/>
              </a:rPr>
              <a:t>ROI / RGB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648EC34-4F86-405E-8F5C-D7797C7A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4" y="1856232"/>
            <a:ext cx="18562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拍摄辅助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712E469-4B4D-417F-A1CA-5EDD9710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06040"/>
            <a:ext cx="3337560" cy="1920240"/>
          </a:xfrm>
          <a:prstGeom xmlns:a="http://schemas.openxmlformats.org/drawingml/2006/main" prst="roundRect">
            <a:avLst>
              <a:gd name="adj" fmla="val 61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B8D2F3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AAE517B-769C-43A8-BEE3-7FC3A70E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743200"/>
            <a:ext cx="30083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目标 1：准确生成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8969327-DBA4-4D51-B7F3-76384C85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63240"/>
            <a:ext cx="300837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 RGB 灰度公式统计 0–255 频次，输出 256×100 白底黑柱直方图。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6D8D245-A00B-4D0A-9841-87EE65E0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606040"/>
            <a:ext cx="3337560" cy="1920240"/>
          </a:xfrm>
          <a:prstGeom xmlns:a="http://schemas.openxmlformats.org/drawingml/2006/main" prst="roundRect">
            <a:avLst>
              <a:gd name="adj" fmla="val 619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F70C0E7-EA16-42C1-BF8E-667FA1BB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743200"/>
            <a:ext cx="30083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目标 2：快速生成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8A0C134-6A2A-4954-94DD-3F933A70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3063240"/>
            <a:ext cx="300837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核心计算单独计时，聚焦像素读取、灰度统计和归一化，避免把解码和绘制混入算法耗时。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45D3E48-3F73-41AE-B0F2-45941BD4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606040"/>
            <a:ext cx="3337560" cy="1920240"/>
          </a:xfrm>
          <a:prstGeom xmlns:a="http://schemas.openxmlformats.org/drawingml/2006/main" prst="roundRect">
            <a:avLst>
              <a:gd name="adj" fmla="val 619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B8DFC9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C0F9DC0-332D-4D2F-B4F1-EFFAB41F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743200"/>
            <a:ext cx="30083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目标 3：应用分析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3D23847-E475-4815-B325-BC5BC03B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3063240"/>
            <a:ext cx="300837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用直方图解释亮度、曝光、对比度和颜色分布，并服务 ROI 与实时拍摄建议。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41CE11F-41DC-4A76-8878-7381318E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57800"/>
            <a:ext cx="2011680" cy="566928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01B471E-EE79-4202-A170-52003A4D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349240"/>
            <a:ext cx="188366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静态图片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课程主线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8132B8B-431B-4234-AB8E-354B0F03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541264"/>
            <a:ext cx="1554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547A018-C792-45AC-B02E-5D70316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57800"/>
            <a:ext cx="2011680" cy="566928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4DA77B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63D5794-E3E5-4994-A352-18FEA424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5349240"/>
            <a:ext cx="188366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ROI / RGB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分析增强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9993F32-5E25-48DC-8639-31EF620E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541264"/>
            <a:ext cx="1554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0219672-386E-4DF8-AD1F-3B2A0F1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257800"/>
            <a:ext cx="2011680" cy="566928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F2B84B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E166D06-041C-471A-99AE-76CBD4DC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5349240"/>
            <a:ext cx="188366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实时相机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拍摄辅助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BFCD772-11EF-4C69-9B41-0F2AA2D5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6A349A18-67CC-4A29-94F0-2FF07D02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4370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2A18064-F875-462C-8A7B-3D795A8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68EDE9-43E3-469E-8AE1-8136E4CD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FFAABED-93F2-4666-B5EB-91EDBEDE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系统功能总览：静态分析、局部分析、实时拍摄三条线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F25B04-DFD9-4335-885C-D38CCFF7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三条功能线共用同一套直方图统计、质量分析和结果展示逻辑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DD4DCB7-20CC-426C-89EA-53547A4C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360625E-3795-4C55-8320-EAF96CCE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主讲：史佳雯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1E48ACD-4B6F-4813-96E9-6BB8E1AB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33856"/>
            <a:ext cx="3383280" cy="4480560"/>
          </a:xfrm>
          <a:prstGeom xmlns:a="http://schemas.openxmlformats.org/drawingml/2006/main" prst="roundRect">
            <a:avLst>
              <a:gd name="adj" fmla="val 351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B8D2F3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02B432D-BF48-403C-8EA9-CEB8ECE6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271016"/>
            <a:ext cx="30540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静态图片分析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3AD74E3-94A3-479B-A0C1-1A632D53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91056"/>
            <a:ext cx="3054096" cy="3950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选择本地图片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显示分辨率与像素数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手动选择计算方案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生成灰度直方图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展示 RGB、质量与性能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F38AFE9-6293-4A61-AC49-8873E856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133856"/>
            <a:ext cx="3383280" cy="4480560"/>
          </a:xfrm>
          <a:prstGeom xmlns:a="http://schemas.openxmlformats.org/drawingml/2006/main" prst="roundRect">
            <a:avLst>
              <a:gd name="adj" fmla="val 351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B8DFC9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EAC0575-D93C-447F-A55E-8E2C3391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271016"/>
            <a:ext cx="30540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ROI 区域分析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F2A5B6-DB93-4E53-AC0B-9885EDE4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591056"/>
            <a:ext cx="3054096" cy="3950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自由框选局部区域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ROI 裁剪为新 Bitmap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重新计算局部直方图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输出局部质量判断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支持恢复全图分析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F403212-3326-47A7-984A-85675637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133856"/>
            <a:ext cx="3383280" cy="4480560"/>
          </a:xfrm>
          <a:prstGeom xmlns:a="http://schemas.openxmlformats.org/drawingml/2006/main" prst="roundRect">
            <a:avLst>
              <a:gd name="adj" fmla="val 3514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871FB1A-2C6F-40B8-A6AD-53AA0E92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271016"/>
            <a:ext cx="30540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智能拍摄助手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8FA4B77-3C66-403F-8A45-DA480869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91056"/>
            <a:ext cx="3054096" cy="3950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CameraX 实时预览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实时直方图反馈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智能判断当前画面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自动优化曝光/补光灯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用户手动微调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7F988F7-E0FC-43F1-BA86-974B6B99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B641CA0-04B1-4D9B-AF4C-54EAE4BD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589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6BFE1F3-0E86-4E14-AF6C-EB800727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C988EBF-3DAE-44B6-9129-64812D9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08CC353-1AF4-4C0A-8E39-A2278146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用户操作流程：选图分析与拍摄辅助形成闭环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2197A85-FDF7-4A75-A57A-8F248CC2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静态路径服务于准确性与性能验证；相机路径服务于实时应用展示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2D3A941-027D-42B7-BF0F-6E77716C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B882999-F213-43D1-AFBA-04DC1878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主讲：史佳雯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08BD5E2-1397-45A2-BAD3-0AC9C1B6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51560"/>
            <a:ext cx="5166360" cy="4800600"/>
          </a:xfrm>
          <a:prstGeom xmlns:a="http://schemas.openxmlformats.org/drawingml/2006/main" prst="roundRect">
            <a:avLst>
              <a:gd name="adj" fmla="val 24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4F2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A0A051E-6433-4223-B843-84C2C9B4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188720"/>
            <a:ext cx="48371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静态图片路径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A2B1DEE-B6BD-4F62-BFFF-CCAB5D46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600200"/>
            <a:ext cx="1325880" cy="438912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026CD1C-1EA0-4BEC-BB63-1CEBF32A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691640"/>
            <a:ext cx="119786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6333DCE-CA5C-4B8C-8959-78F63F3A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2039112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B976E69-6740-41C9-96CE-9F58D6F9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700784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进入本地处理入口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6533AEB-B012-4621-A198-C82517D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13432"/>
            <a:ext cx="1325880" cy="438912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FB44985-AD54-4C5E-8D0E-993DBE7C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404872"/>
            <a:ext cx="119786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选择图片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7EC2AC1-A7B3-4D4F-8F82-FB334C43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2752344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67B342B-DED2-4B46-AFF1-AD43B63C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414016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显示预览、分辨率、像素数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CB6D486-CD0F-4291-95A2-DFE9DFBD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026664"/>
            <a:ext cx="1325880" cy="438912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6A98BC1-3349-446A-AC01-03F69D10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118104"/>
            <a:ext cx="119786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全图 / ROI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98F5148-B568-4EB0-A949-90CF72AF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465576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DBD2D6F-73E8-4C51-86EB-45041B96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127248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框选区域可作为新图分析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0B18F80-5744-45E8-8D7C-9797C27B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39896"/>
            <a:ext cx="1325880" cy="438912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BB991B-B5A0-4905-9406-80BB1EA4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831336"/>
            <a:ext cx="119786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选择方案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9C17836-A055-470A-9E0F-24238273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178808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10AE5D4-BD27-485A-B31F-B5232CD9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840480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优先灰度化 / 统计时灰度化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0DA356F-8DC9-4BF1-84CB-FB19A062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453128"/>
            <a:ext cx="1325880" cy="438912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4E4D61-BB9C-49DD-9125-4EF3C462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544568"/>
            <a:ext cx="119786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直方图 + 判断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070CD02-EA3F-4B17-98AD-03700E7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553712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输出灰度、RGB、质量和性能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392AE202-6DAA-42C0-A8D5-E4065378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051560"/>
            <a:ext cx="5166360" cy="4800600"/>
          </a:xfrm>
          <a:prstGeom xmlns:a="http://schemas.openxmlformats.org/drawingml/2006/main" prst="roundRect">
            <a:avLst>
              <a:gd name="adj" fmla="val 24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4F2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61C3990-731A-49A1-9E8C-6D2880B3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188720"/>
            <a:ext cx="48371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智能拍摄路径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6A70B859-D697-4CE5-BA3E-B9E0D20A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600200"/>
            <a:ext cx="1417320" cy="438912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4DA77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504C3A1-9834-4541-B9BE-F11D3A3C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1691640"/>
            <a:ext cx="1289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相机预览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95BFBB86-6612-46C8-8FE4-172ED789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039112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4858470-74AF-49D3-95AD-B70B9550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700784"/>
            <a:ext cx="2468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CameraX Preview + ImageAnalysis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79E782E-E148-4423-ACFB-7F97EBBF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13432"/>
            <a:ext cx="1417320" cy="438912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4DA77B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29867AE-BE9D-4938-95FC-C64991B8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404872"/>
            <a:ext cx="1289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实时直方图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AC7500CF-B125-48E7-BDC0-DF8A4593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752344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DE2B78E-7064-4076-BC08-B27605CC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14016"/>
            <a:ext cx="2468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周期性计算亮度与曝光指标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964ED9CE-9759-4CA5-9400-A7144EA3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026664"/>
            <a:ext cx="1417320" cy="438912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4DA77B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B9196EB-D5FC-4DDF-9D16-19833DBB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118104"/>
            <a:ext cx="1289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智能判断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658EBA68-31A2-47B7-9985-E6F320D6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465576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10A423B6-F155-4A2F-8084-61839714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127248"/>
            <a:ext cx="2468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本地规则生成建议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DB5FFFBE-2A22-4B0E-8BFD-D959C1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739896"/>
            <a:ext cx="1417320" cy="438912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4DA77B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EFB473B1-D9C4-424C-B42B-98DA01C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831336"/>
            <a:ext cx="1289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一键优化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575A95A1-CD59-48E8-A943-64B4D001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178808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987861FA-7642-4D53-9ABF-855C4675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840480"/>
            <a:ext cx="2468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调整曝光补偿与补光灯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EAF0194E-DEAD-46F4-9810-78437E78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453128"/>
            <a:ext cx="1417320" cy="438912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4DA77B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A56C2E9D-9C0D-47A9-9C61-F7ED7377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544568"/>
            <a:ext cx="1289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手动微调 / 拍照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D2FDAA84-7656-40A5-AA5F-57088FEE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553712"/>
            <a:ext cx="2468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用户保留最终控制权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C8FB4D85-71E1-473F-9CD9-1F0ADA8F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7D871C35-2ED6-4B26-9624-89287DF1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2541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F69D05-CDEE-4F51-ABA6-7F316B53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6EE8C9-FF7E-4855-B0D7-5614437D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8F72E72-B0BD-4421-BC5B-DFA9FB0D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系统架构与模块分层：算法、UI、相机职责解耦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908FFEC-B518-4A7B-856A-E4CA70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MainActivity 只作为入口，核心算法不写在 Compose 或 Canvas 中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0741211-C368-44FE-AFFB-3A63FA98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DCA06D9-66F3-4D71-A1A5-88E3ADC8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主讲：张栋皓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02112FA-000C-4793-A4E5-975C71E7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097280"/>
            <a:ext cx="1417320" cy="512064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2753EF6-6776-4C6A-A938-B18ADD23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188720"/>
            <a:ext cx="1289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UI 层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604641E-B902-4304-8DA6-11EE72A7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097280"/>
            <a:ext cx="8183880" cy="512064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3A5D74E-142A-4FE7-B8F4-F1DFB3B0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1188720"/>
            <a:ext cx="80558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Home / Analyzer / ROI / Camera / Component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784E7F6-AF4E-4320-8230-FE5730CD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609344"/>
            <a:ext cx="0" cy="201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B3D46F4-EC2B-4604-8891-2B98B533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56232"/>
            <a:ext cx="1417320" cy="512064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4DA77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FD0C495-6B53-457F-A598-5BD131D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47672"/>
            <a:ext cx="1289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状态层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97C91E9-0F39-45FA-9478-BBA63BBD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856232"/>
            <a:ext cx="8183880" cy="512064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4DA77B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474730B-ED4F-4A65-9B88-BCCCC7F5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1947672"/>
            <a:ext cx="80558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AnalyzerViewModel / CameraAssistantViewModel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FBF0738-DF0C-4847-8EB4-9988CCDD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368296"/>
            <a:ext cx="0" cy="201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5A1D9A4-7C6F-40DC-A14C-5D304605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615184"/>
            <a:ext cx="1417320" cy="512064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F2B84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BB2C17A-EFB6-4DC7-8CA7-55D13578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06624"/>
            <a:ext cx="1289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领域层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EE14A93-7C94-47DE-A37E-197A084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615184"/>
            <a:ext cx="8183880" cy="512064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F2B84B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579138F-CDB4-412C-A1B1-1EDD2579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2706624"/>
            <a:ext cx="80558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Histogram / Quality / Color / Insight / ROI / PhotoCoach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951BBC6-B7A7-49F4-9A50-FA9DADE7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127248"/>
            <a:ext cx="0" cy="201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F2B84B"/>
            </a:solidFill>
            <a:prstDash val="solid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23033F0-EBCE-4860-A770-AC4A1581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374136"/>
            <a:ext cx="1417320" cy="512064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12700">
            <a:solidFill>
              <a:srgbClr val="7B90A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1958349-32BA-4FFE-84A4-BC2865B8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65576"/>
            <a:ext cx="1289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数据与设备层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69EB191-CA53-4B27-B6F4-9185F45D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374136"/>
            <a:ext cx="8183880" cy="512064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12700">
            <a:solidFill>
              <a:srgbClr val="7B90A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5B31521-A6D4-4908-AFAF-E137F267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3465576"/>
            <a:ext cx="80558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ContentResolver / Bitmap / CameraX / ImageCapture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A8510B4-035A-4EA9-8846-EDEF6CE2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886200"/>
            <a:ext cx="0" cy="201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7B90A8"/>
            </a:solidFill>
            <a:prstDash val="solid"/>
            <a:tailEnd type="triangle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C7DBE2E-760B-443F-8205-8021702B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33088"/>
            <a:ext cx="1417320" cy="512064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EDE7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BA7FF98-CF16-485C-8171-D1E2386B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24528"/>
            <a:ext cx="12893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Native 层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FF426A9-3666-4D21-B998-99B72EDB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133088"/>
            <a:ext cx="8183880" cy="512064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EDE7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35BB96D-5F7C-447B-BA89-AB2D5554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224528"/>
            <a:ext cx="80558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JNI Bridge / AndroidBitmap_lockPixels / C++ 多线程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E4D6DE8-F1F3-492A-8F35-B25588A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349240"/>
            <a:ext cx="9966960" cy="658368"/>
          </a:xfrm>
          <a:prstGeom xmlns:a="http://schemas.openxmlformats.org/drawingml/2006/main" prst="roundRect">
            <a:avLst>
              <a:gd name="adj" fmla="val 180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FD5EE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0615D74-CC5E-4504-890D-6B70A1F6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5486400"/>
            <a:ext cx="96377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1F2B9A3-6CEC-4066-8067-ABA78AF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5806440"/>
            <a:ext cx="96377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状态向下、事件向上；图像解码和算法计算放后台；UI 只消费结果数据并绘制可视化。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9B3EC40-3B8E-4D64-8648-8FF83802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2B69F80-C9E4-4D1F-B4FA-0256C575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93581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6C7DA95-5F59-4707-A91D-96B30337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B0D855-DD18-45BC-A8C2-AF087615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21FB2D-8521-4420-8165-D5D68D10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双方案核心算法：保留流程差异，统一数学规则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950432-B49A-4A3E-8642-4C6170FE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差异在处理顺序，不能以改变结果换速度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631A84B-106A-4A9B-BF05-F4C307A5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E51A1DF-C19F-4344-8B55-459C53DE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</a:t>
            </a: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张栋皓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97EE0A7-BF5B-4B1D-B136-368B8F31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3291840" cy="3291840"/>
          </a:xfrm>
          <a:prstGeom xmlns:a="http://schemas.openxmlformats.org/drawingml/2006/main" prst="roundRect">
            <a:avLst>
              <a:gd name="adj" fmla="val 361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A8C7ED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D6474E-E38A-42D2-98BB-56F7AF5D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161288"/>
            <a:ext cx="2962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方案一：优先灰度化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8EC9563-E8BA-41A7-B42B-72CCF670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481328"/>
            <a:ext cx="2962656" cy="2761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彩色像素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生成完整灰度缓冲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统计 256-bin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0–100 归一化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绘制直方图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CB03BF7-1BCD-413B-BF72-CE027A16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024128"/>
            <a:ext cx="3291840" cy="3291840"/>
          </a:xfrm>
          <a:prstGeom xmlns:a="http://schemas.openxmlformats.org/drawingml/2006/main" prst="roundRect">
            <a:avLst>
              <a:gd name="adj" fmla="val 36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A4D7B7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E1081A6-B12E-44EC-ADEB-4F16DC33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161288"/>
            <a:ext cx="2962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方案二：统计时灰度化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8DDBC3D-3756-4E4E-BA84-BF88BAB9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481328"/>
            <a:ext cx="2962656" cy="2761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彩色像素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同一遍历中完成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灰度转换与频次累计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0–100 归一化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marL="0" indent="0">
              <a:buNone/>
            </a:pPr>
            <a:r>
              <a:rPr sz="11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绘制直方图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540C93-1373-43D1-A72B-DCA928CF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024128"/>
            <a:ext cx="3200400" cy="3291840"/>
          </a:xfrm>
          <a:prstGeom xmlns:a="http://schemas.openxmlformats.org/drawingml/2006/main" prst="roundRect">
            <a:avLst>
              <a:gd name="adj" fmla="val 3714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73C145F-05C5-4096-99F0-7EC00BD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161288"/>
            <a:ext cx="28712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统一规范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71B5C3B-D216-4E8D-9CD4-25F901A0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481328"/>
            <a:ext cx="2871216" cy="2761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gray = 0.299R + 0.587G + 0.114B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输出范围 0..255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频次数组长度 256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最高频次映射为 100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两方案逐 bin 一致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Kotlin / Native 规则一致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9D289AF-2F23-4E88-91F1-93B5B4A2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65192"/>
            <a:ext cx="10241280" cy="749808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197E074-B295-4383-A956-3CB75568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230368"/>
            <a:ext cx="9784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正确性底线：只要 256-bin 结果不一致，任何加速结论都不能成立。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3D696CB-7EFE-41B2-8E4B-D2D76120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D2FABCB-7A4E-44F1-9735-9AF0BD5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69575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33B267E-8D4E-49B7-9471-C8598EAF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A9FF5EA-FDCB-41D7-99F3-AB74F1F4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88A80DB-955C-4F88-9BFF-176CCBC0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性能优化演进：从减少调用开销到 Native 直接读像素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B719619-D0A8-441F-BD3F-BE3B6342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核心优化是取消整图 Java 数组复制并降低热循环成本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7E6A584-8503-4DBD-AAE8-3F7BA184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6F581-F3AC-4966-89CB-DD5F12AB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主讲：杨清洁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6FF8B89-5EF8-47B8-A427-F66A1A3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4128"/>
            <a:ext cx="5943600" cy="4434840"/>
          </a:xfrm>
          <a:prstGeom xmlns:a="http://schemas.openxmlformats.org/drawingml/2006/main" prst="roundRect">
            <a:avLst>
              <a:gd name="adj" fmla="val 2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4F2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4BC447-0302-4C72-A62E-1C6EDD0D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161288"/>
            <a:ext cx="5614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历史真机截图：12.58MP 核心耗时（ms）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383594B-2B18-4052-ADD7-7AADA62D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72584"/>
            <a:ext cx="5166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9E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1ADCFF5-D7F7-4B3B-AD60-FF9A0D81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682496"/>
            <a:ext cx="0" cy="2990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9E8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B90FE9-C95B-4FCF-895E-F740C90C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916" y="1851934"/>
            <a:ext cx="292760" cy="282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DEEBF3E-8731-43AC-9967-8F3D402A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540" y="2073201"/>
            <a:ext cx="292760" cy="2599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FC789E-A6A4-45EB-9D13-0BE81012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24400"/>
            <a:ext cx="172212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v1</a:t>
            </a:r>
          </a:p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1415 / 1304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AD5075A-03FE-4A68-ACAA-C9BD0C6D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036" y="3125712"/>
            <a:ext cx="292760" cy="1546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03F5A02-5176-49A9-8F61-929E4FF0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660" y="3329038"/>
            <a:ext cx="292760" cy="13435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E632FEE-1C54-4255-92E3-A6DDB8B8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24400"/>
            <a:ext cx="172212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776 / 674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0CB70D3-995E-4353-9BA9-1A9EC115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156" y="4558961"/>
            <a:ext cx="292760" cy="113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9194C50-4D45-440A-9B7C-43B4A636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780" y="4628729"/>
            <a:ext cx="292760" cy="43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BEAA6B0-55CD-46E3-9190-6D7B93AF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4724400"/>
            <a:ext cx="172212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v3</a:t>
            </a:r>
          </a:p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57 / 22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5379A26-ACCA-4C38-B75D-1B5F9E55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184648"/>
            <a:ext cx="11887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D66ED80-B192-4D02-ACBB-D9C634E2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48072"/>
            <a:ext cx="11887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优先灰度化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E8C3DCA-EC5C-4253-827B-AE4EFB8C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184648"/>
            <a:ext cx="11887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2700">
            <a:solidFill>
              <a:srgbClr val="F2B84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677D92E-8435-4C0C-AB3F-5623B5E2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5148072"/>
            <a:ext cx="1280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统计时灰度化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EF1B0D1-BD7D-4848-BD7B-A4429C04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024128"/>
            <a:ext cx="4343400" cy="4434840"/>
          </a:xfrm>
          <a:prstGeom xmlns:a="http://schemas.openxmlformats.org/drawingml/2006/main" prst="roundRect">
            <a:avLst>
              <a:gd name="adj" fmla="val 2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4F2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081170E-A5DD-4AE3-9F65-BD81DB0F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1161288"/>
            <a:ext cx="40142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三轮迭代把瓶颈从 Kotlin 热循环迁移到 Native 直读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C818F97-2EB3-4E33-A0F7-02127B88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1481328"/>
            <a:ext cx="4014216" cy="3904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125">
                <a:solidFill>
                  <a:srgbClr val="24384A"/>
                </a:solidFill>
              </a:defRPr>
            </a:pPr>
            <a:r>
              <a:rPr sz="1125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v1：完整 Kotlin 基线，核心约 1.3–1.4s。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  <a:defRPr sz="1125">
                <a:solidFill>
                  <a:srgbClr val="24384A"/>
                </a:solidFill>
              </a:defRPr>
            </a:pPr>
            <a:r>
              <a:rPr sz="1125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v2：批量 getPixels、while 热循环、融合统计，降至约 0.67–0.78s。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  <a:defRPr sz="1125">
                <a:solidFill>
                  <a:srgbClr val="24384A"/>
                </a:solidFill>
              </a:defRPr>
            </a:pPr>
            <a:r>
              <a:rPr sz="1125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v3：AndroidBitmap_lockPixels + C++ 分块 + 线程私有 256-bin，降至 22–57ms。</a:t>
            </a:r>
          </a:p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marL="0" indent="0">
              <a:buNone/>
              <a:defRPr sz="1125">
                <a:solidFill>
                  <a:srgbClr val="24384A"/>
                </a:solidFill>
              </a:defRPr>
            </a:pPr>
            <a:r>
              <a:rPr sz="1125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注：历史截图用于说明优化方向，非固定 L1 严格同图对比。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0C9BDBC-53DF-4680-8B3A-03E3FA65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50992"/>
            <a:ext cx="10561320" cy="502920"/>
          </a:xfrm>
          <a:prstGeom xmlns:a="http://schemas.openxmlformats.org/drawingml/2006/main" prst="roundRect">
            <a:avLst>
              <a:gd name="adj" fmla="val 23636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E8C4C61-F91A-46FD-B40A-2C6C18C5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788152"/>
            <a:ext cx="102321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改进幅度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7E2A391-22FB-47BE-8E33-335413A3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102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975">
                <a:solidFill>
                  <a:srgbClr val="6B5320"/>
                </a:solidFill>
              </a:defRPr>
            </a:pPr>
            <a:r>
              <a:rPr sz="975">
                <a:solidFill>
                  <a:srgbClr val="6B5320"/>
                </a:solidFill>
                <a:latin typeface="Microsoft YaHei"/>
                <a:ea typeface="Microsoft YaHei"/>
                <a:cs typeface="Microsoft YaHei"/>
              </a:rPr>
              <a:t>历史截图中，统计时灰度化从约 1304ms 降至 22ms；最终结论仍以固定测试图和完整记录表为准。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8979702-6E55-4B3B-8351-B515E452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28B411-8D2E-4D98-B7D0-44DB832B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60751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6EFC9C-07A6-4E5E-9D78-3F4FE328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52FA25-9914-47EE-9C0A-BB03D4A5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6FF94AB-75D9-4288-9A48-3100EDB8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性能结果与 300ms 口径：核心计算可解释、可定位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49F228-B8BB-4892-A418-6BA8BF76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解码、核心计算和绘制分开计时，便于定位瓶颈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2692090-7703-444A-B98B-6F2435AB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6AEA44-652A-49E7-9F06-BFD84C48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主讲：杨清洁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60D10D2-FE5F-4759-A9CB-2279C37B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" y="1010412"/>
            <a:ext cx="2231136" cy="4791456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12700">
            <a:solidFill>
              <a:srgbClr val="102438">
                <a:alpha val="0"/>
              </a:srgbClr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EB4C8">
                <a:alpha val="25000"/>
              </a:srgbClr>
            </a:outerShdw>
          </a:effectLst>
        </p:spPr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50ec4381a4e18"/>
          <a:srcRect xmlns:a="http://schemas.openxmlformats.org/drawingml/2006/main" l="0" t="774" r="0" b="774"/>
          <a:stretch xmlns:a="http://schemas.openxmlformats.org/drawingml/2006/main"/>
        </p:blipFill>
        <p:spPr>
          <a:xfrm xmlns:a="http://schemas.openxmlformats.org/drawingml/2006/main">
            <a:off x="868680" y="1051560"/>
            <a:ext cx="2148840" cy="470916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9A2BDEE-11E2-4A7F-8480-433A4C70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33872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性能分段卡片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72F1327-76AA-479E-BFCE-04412290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051560"/>
            <a:ext cx="3611880" cy="96012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12700">
            <a:solidFill>
              <a:srgbClr val="C6D7E6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81D137A-934A-4918-8012-083C69B0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188720"/>
            <a:ext cx="32826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不计入核心指标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F1AD86F-5F98-4BA4-9608-DDE40939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508760"/>
            <a:ext cx="328269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图片解码 Decode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Canvas 绘制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9CA4A53-2D26-48C4-8482-EA122DC3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331720"/>
            <a:ext cx="3611880" cy="2057400"/>
          </a:xfrm>
          <a:prstGeom xmlns:a="http://schemas.openxmlformats.org/drawingml/2006/main" prst="roundRect">
            <a:avLst>
              <a:gd name="adj" fmla="val 577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B8D2F3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293425D-CAFB-4915-AC25-4B40AB92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468880"/>
            <a:ext cx="32826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计入核心计算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FAD8DCF-6219-48F4-B75D-17261D79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788920"/>
            <a:ext cx="3282696" cy="1527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像素访问 / 灰度转换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频次统计 / 融合统计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0–100 归一化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多线程结果合并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B337048-344F-44AD-B08D-4B1E1429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51560"/>
            <a:ext cx="3566160" cy="3337560"/>
          </a:xfrm>
          <a:prstGeom xmlns:a="http://schemas.openxmlformats.org/drawingml/2006/main" prst="roundRect">
            <a:avLst>
              <a:gd name="adj" fmla="val 356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B8DFC9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F54691D-4D4C-4704-857D-AB4166A8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188720"/>
            <a:ext cx="32369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性能卡展示内容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58489FA-F20A-44CC-AB29-D2D400BA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508760"/>
            <a:ext cx="3236976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执行方案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执行引擎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工作线程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各阶段耗时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核心计算总耗时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300ms 预算占比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F720B759-3D35-4A3C-929E-9993835D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892040"/>
            <a:ext cx="7498080" cy="73152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3FBC815-2017-4214-A587-CDF9565B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5029200"/>
            <a:ext cx="71688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答辩口径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9BB1CC5-4AFE-4CD0-A7B5-3BC65B2A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5349240"/>
            <a:ext cx="7168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把性能拆成阶段，不把所有等待时间混成一个总数；这样可以说明瓶颈来自哪里、优化作用在哪里。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F628E6E-4BCA-4D67-B128-BA4EF24B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E1D2BE2-9F8C-4CFC-8292-16696DE4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40628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59160C-65A0-4509-86B3-39B88D4E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2A122D-492F-48CA-857B-BB11FCBD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CE99E73-F575-4A97-8D79-0875303B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ROI 区域直方图：把用户关注区域当作新图重新分析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50D8D9-1AA2-4C79-9D0B-B68D65D4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全图正常不代表主体区域正常，局部直方图用于解释细节问题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02455ED-EE82-4ACE-AA09-69C7BCC2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45924-2B96-4EEC-B81A-66E05202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主讲：史佳雯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1FC246D-A989-441D-9DF7-90E8C6B5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" y="1019556"/>
            <a:ext cx="2322576" cy="4864608"/>
          </a:xfrm>
          <a:prstGeom xmlns:a="http://schemas.openxmlformats.org/drawingml/2006/main" prst="roundRect">
            <a:avLst>
              <a:gd name="adj" fmla="val 70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12700">
            <a:solidFill>
              <a:srgbClr val="102438">
                <a:alpha val="0"/>
              </a:srgbClr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EB4C8">
                <a:alpha val="25000"/>
              </a:srgbClr>
            </a:outerShdw>
          </a:effectLst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d9febfb80477d"/>
          <a:srcRect xmlns:a="http://schemas.openxmlformats.org/drawingml/2006/main" l="0" t="2049" r="0" b="2049"/>
          <a:stretch xmlns:a="http://schemas.openxmlformats.org/drawingml/2006/main"/>
        </p:blipFill>
        <p:spPr>
          <a:xfrm xmlns:a="http://schemas.openxmlformats.org/drawingml/2006/main">
            <a:off x="868680" y="1060704"/>
            <a:ext cx="2240280" cy="4782312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06D9FE6-4614-43A1-9F9C-8A5C7142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16168"/>
            <a:ext cx="2331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ROI 框选与重分析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95958B4-054F-4049-A431-296FC35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078992"/>
            <a:ext cx="7269480" cy="35661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4F2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03B4949-501C-4DA1-B4F0-2B1B322C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216152"/>
            <a:ext cx="69402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ROI 处理链路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80E30A1-CDBF-4317-8A67-77873465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148840"/>
            <a:ext cx="960120" cy="566928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D3D53F8-5C4F-4608-A51C-E9930A4B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8" y="2240280"/>
            <a:ext cx="8321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拖动框选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39D32D7-26D2-4CC2-9058-6BCA6B2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432304"/>
            <a:ext cx="3383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6547831-3588-4CBA-B169-E2047D8B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8840"/>
            <a:ext cx="960120" cy="566928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4DA77B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84545DC-BAE3-4199-9156-E6BB3FE1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2240280"/>
            <a:ext cx="8321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坐标映射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9FC51F32-977C-4C77-B78E-043CA839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432304"/>
            <a:ext cx="3383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5CE2B7F-DFE4-42B4-9E52-E9EB47B4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48840"/>
            <a:ext cx="960120" cy="566928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094E8FC-44F5-43A4-94B3-A4213408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240280"/>
            <a:ext cx="8321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裁剪 ROI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9BDCA30-DCD9-4B2C-B381-3B78379A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32304"/>
            <a:ext cx="3383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AED7320F-6F1E-4ED3-A8FA-3CED1F90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48840"/>
            <a:ext cx="960120" cy="566928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4DA77B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B19E9C4-EA80-46F0-A54F-84AD7DB0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240280"/>
            <a:ext cx="8321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复用分析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EC4C165-2806-4AB3-B983-BFB47FA4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32304"/>
            <a:ext cx="3383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8D6641D-42CD-44CA-8C97-FA4DC022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148840"/>
            <a:ext cx="960120" cy="566928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F7E341DF-1D63-45E8-AE2B-B3876C21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2240280"/>
            <a:ext cx="8321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恢复全图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1D912A0-C753-45C3-B4FE-9F776519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18688"/>
            <a:ext cx="6629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坐标映射处理 ContentScale.Fit、居中留白、反向拖拽和边界裁剪；裁剪后 ROI Bitmap 复用原有灰度、RGB、质量和性能链路。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0044F5E-1376-4E6D-8B71-23FDAB65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983480"/>
            <a:ext cx="7269480" cy="7132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FA7C3F4C-95CC-4D56-AB12-334E800B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5120640"/>
            <a:ext cx="69402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展示价值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877974E-AFA2-465B-AF69-AC9AEDED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5440680"/>
            <a:ext cx="69402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ROI 能证明系统不仅能做全图统计，还能分析主体区域偏暗、局部高光过曝或局部对比度不足。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028BCD42-BD66-4516-A537-22EB5795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71716CD-9922-46D1-824F-7F4E4C35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65667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EB6F5E8-1F8B-45FC-B6AC-12EE1B6F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4E975A-0088-4A53-8460-E9B59A41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944687-112C-4E2E-AE34-7A9C26D2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RGB 三通道与颜色分布分析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F9E7657-C85F-4FE7-8193-790CF010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灰度直方图看亮度，RGB 三通道补充颜色偏移信息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B804031-75D2-4964-814A-D19B6C72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94A655E-F823-4186-937E-2A80B7D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</a:t>
            </a: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张栋皓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58690A9-A0F5-44E0-BCCE-70D3554A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78992"/>
            <a:ext cx="3063240" cy="4480560"/>
          </a:xfrm>
          <a:prstGeom xmlns:a="http://schemas.openxmlformats.org/drawingml/2006/main" prst="roundRect">
            <a:avLst>
              <a:gd name="adj" fmla="val 388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B8D2F3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B598FB9-0C96-467C-965F-DD68A25A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216152"/>
            <a:ext cx="27340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灰度直方图回答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EF6B02E-F5C3-46E6-A3AC-33D34CB9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536192"/>
            <a:ext cx="2734056" cy="3950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亮度分布如何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暗部和亮部占比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是否偏暗 / 偏亮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是否存在过曝 / 欠曝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对比度是否不足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8B35CCB-FA99-4F7D-B326-33CC1252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078992"/>
            <a:ext cx="3063240" cy="4480560"/>
          </a:xfrm>
          <a:prstGeom xmlns:a="http://schemas.openxmlformats.org/drawingml/2006/main" prst="roundRect">
            <a:avLst>
              <a:gd name="adj" fmla="val 388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B8DFC9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906DEE5-B204-4FE6-A328-907DB3C4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216152"/>
            <a:ext cx="27340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RGB 三通道补充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8E33F61-1D6C-4596-A6D8-6CE7F771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536192"/>
            <a:ext cx="2734056" cy="3950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R/G/B 通道均值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主导颜色通道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通道差异度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偏红 / 偏绿 / 偏蓝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色彩是否较均衡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ECFA143-0EB2-4594-BBA5-F6F699FC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78992"/>
            <a:ext cx="124690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8890">
            <a:solidFill>
              <a:srgbClr val="87A6C4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30B18E9-F232-4C96-8B89-353E7599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1152144"/>
            <a:ext cx="117375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13307E4-67BE-4A49-A7EF-5B1736E0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709" y="1078992"/>
            <a:ext cx="2182091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8890">
            <a:solidFill>
              <a:srgbClr val="87A6C4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9B966FE-8720-4599-B7D5-2599C6FA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7285" y="1152144"/>
            <a:ext cx="21089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A4557F9-5808-470A-817F-CB5920D2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63040"/>
            <a:ext cx="124690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985">
            <a:solidFill>
              <a:srgbClr val="87A6C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3F6327A-B97A-424F-A658-9A66C826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527048"/>
            <a:ext cx="115546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avgR/G/B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46C9EFE-4284-4B25-A58D-0A12905B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709" y="1463040"/>
            <a:ext cx="2182091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985">
            <a:solidFill>
              <a:srgbClr val="87A6C4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CD612BE-6D13-41B2-9B60-088D6D9A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429" y="1527048"/>
            <a:ext cx="20906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三通道平均强度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E2926B0-FA98-45D5-B46D-22163C99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47088"/>
            <a:ext cx="124690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6985">
            <a:solidFill>
              <a:srgbClr val="87A6C4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9D54472-5107-4900-867F-AE615CA6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911096"/>
            <a:ext cx="115546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dominantChannel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08B2EB5-1F77-41CF-B309-8BB917C9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709" y="1847088"/>
            <a:ext cx="2182091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6985">
            <a:solidFill>
              <a:srgbClr val="87A6C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6ED3A93-3097-498C-A786-21886B81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429" y="1911096"/>
            <a:ext cx="20906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主导颜色通道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1E7A797-CA88-42F8-9B25-9FCC7D4F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31136"/>
            <a:ext cx="124690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985">
            <a:solidFill>
              <a:srgbClr val="87A6C4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24EBFA4-47EF-4817-9CD5-BF1F9A56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295144"/>
            <a:ext cx="115546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channelImbalance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4670F2C-C2D6-4E89-A1D5-D7AB8852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709" y="2231136"/>
            <a:ext cx="2182091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985">
            <a:solidFill>
              <a:srgbClr val="87A6C4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019AF27-17A7-410C-B278-F551C725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429" y="2295144"/>
            <a:ext cx="20906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通道差异程度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282B4B7-8695-4074-B113-2F85D38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15184"/>
            <a:ext cx="124690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6985">
            <a:solidFill>
              <a:srgbClr val="87A6C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89D1463-3AD7-4867-A195-F32B6A09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79192"/>
            <a:ext cx="115546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colorCastStatus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E622A131-172D-45D5-B1A3-10BB2640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709" y="2615184"/>
            <a:ext cx="2182091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6985">
            <a:solidFill>
              <a:srgbClr val="87A6C4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DBA41F4-F720-49C4-8729-A1778263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429" y="2679192"/>
            <a:ext cx="209065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偏色判断结果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B40A9089-102C-48E9-8204-BFFB085D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06240"/>
            <a:ext cx="3429000" cy="1005840"/>
          </a:xfrm>
          <a:prstGeom xmlns:a="http://schemas.openxmlformats.org/drawingml/2006/main" prst="roundRect">
            <a:avLst>
              <a:gd name="adj" fmla="val 1181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63B1DE8-A9B3-4240-A859-45A5D7C4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4343400"/>
            <a:ext cx="30998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9434139-2BCF-423B-A4F5-65E90914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4663440"/>
            <a:ext cx="309981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灰度用于亮度分析，RGB 用于颜色分析，二者共同构成自然语言质量判断依据。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73C58AB-9239-4F9F-ADC6-41F573D4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08423F7-E365-4E13-A1AD-84444066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1369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D85AB2D-4BA6-470C-A90C-2043F680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F87A72-2314-4999-906B-08E2FC37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49A700F-E7DC-43A4-B874-699CC74B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自然语言图像质量判断：把指标翻译成用户能懂的建议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DB76134-A982-450D-AD2A-0C76C6F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本地规则生成，离线可用、结果可解释、保护隐私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AD6DAC0-2319-427A-B97A-A6F8DE53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E232E67-C74F-4178-A09D-97DAA437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主讲：杨清洁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45D14CE-F93D-4CC4-BBCD-D001A4C1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05840"/>
            <a:ext cx="2834640" cy="4160520"/>
          </a:xfrm>
          <a:prstGeom xmlns:a="http://schemas.openxmlformats.org/drawingml/2006/main" prst="roundRect">
            <a:avLst>
              <a:gd name="adj" fmla="val 41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B8D2F3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89EB8B1-2BFE-4264-A274-4D26BD10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143000"/>
            <a:ext cx="25054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输入指标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63314CF-DC2C-4628-8B35-9058CADF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463040"/>
            <a:ext cx="2505456" cy="3630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平均灰度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暗部占比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亮部占比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暗部溢出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高光溢出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灰度标准差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RGB 通道均值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颜色偏移状态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3BCA75A-D41A-4809-8A9A-681584C7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331720"/>
            <a:ext cx="1417320" cy="658368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4DA77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9626319-E04A-448D-B2FD-7553B92D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23160"/>
            <a:ext cx="128930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本地规则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F51ECA0-2D16-49CE-A9D2-106366BA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660904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D1C5D70-8C09-46AE-AA4E-9A4D0244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660904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BD3D975-0BE2-42F3-A36F-BFC9CE11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05840"/>
            <a:ext cx="4343400" cy="4160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8F5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847F534-DE5C-4623-AD37-8AE21F67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143000"/>
            <a:ext cx="40142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输出内容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DD61DF2-00C8-4FD7-89D2-2840BB8E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463040"/>
            <a:ext cx="4014216" cy="3630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亮度描述：整体偏暗 / 偏亮 / 正常</a:t>
            </a:r>
          </a:p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曝光描述：欠曝 / 过曝 / 溢出风险</a:t>
            </a:r>
          </a:p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对比度描述：层次是否不足</a:t>
            </a:r>
          </a:p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颜色描述：偏红 / 偏绿 / 偏蓝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示例：当前图像整体偏暗，暗部像素占比较高，可能存在欠曝风险；建议提高曝光或改善光照条件。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63FE77E-866A-4389-8FE6-4582DB76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9738360" cy="502920"/>
          </a:xfrm>
          <a:prstGeom xmlns:a="http://schemas.openxmlformats.org/drawingml/2006/main" prst="roundRect">
            <a:avLst>
              <a:gd name="adj" fmla="val 23636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EBBDE23-2D6D-4915-B7DA-20FC3C32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669280"/>
            <a:ext cx="94091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核心口径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45F5333-16FD-4898-BF4C-2FE00DC8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989320"/>
            <a:ext cx="9409176" cy="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25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自然语言判断不依赖联网 API，不上传图片；规则明确，因此现场演示更稳定。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98AC0D0-B9DB-4488-AEB3-0A5D6EEA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D1052EF-1DEB-4D9A-B1A3-9666DA83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92324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C4888C-EB40-4873-B451-C4611FB1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5D133D-F68E-48A0-9D38-0666A84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E56C583-0DA4-4E53-8B21-9670253B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智能拍摄助手：实时直方图用于拍摄前反馈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010484-8911-46C2-8D87-915766F5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CameraX 预览、ImageAnalysis 实时状态、定格后按 RGB 公式分析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E51DADB-FEE8-48E6-B5CB-2C7402EC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635A7A-88EF-4706-8BBE-363AA6EC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主讲：黎哲轩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63B0C8C-76EA-4E1F-A0E3-08023FC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" y="1019556"/>
            <a:ext cx="2322576" cy="4818888"/>
          </a:xfrm>
          <a:prstGeom xmlns:a="http://schemas.openxmlformats.org/drawingml/2006/main" prst="roundRect">
            <a:avLst>
              <a:gd name="adj" fmla="val 70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12700">
            <a:solidFill>
              <a:srgbClr val="102438">
                <a:alpha val="0"/>
              </a:srgbClr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EB4C8">
                <a:alpha val="25000"/>
              </a:srgbClr>
            </a:outerShdw>
          </a:effectLst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39b997618420b"/>
          <a:srcRect xmlns:a="http://schemas.openxmlformats.org/drawingml/2006/main" l="0" t="2508" r="0" b="2508"/>
          <a:stretch xmlns:a="http://schemas.openxmlformats.org/drawingml/2006/main"/>
        </p:blipFill>
        <p:spPr>
          <a:xfrm xmlns:a="http://schemas.openxmlformats.org/drawingml/2006/main">
            <a:off x="777240" y="1060704"/>
            <a:ext cx="2240280" cy="4736592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29FB941-0664-4BA8-9C09-FD5D6E8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70448"/>
            <a:ext cx="2331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实时取景状态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4D82D16-B101-4E09-B393-D6265864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404" y="1019556"/>
            <a:ext cx="2322576" cy="4818888"/>
          </a:xfrm>
          <a:prstGeom xmlns:a="http://schemas.openxmlformats.org/drawingml/2006/main" prst="roundRect">
            <a:avLst>
              <a:gd name="adj" fmla="val 70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12700">
            <a:solidFill>
              <a:srgbClr val="102438">
                <a:alpha val="0"/>
              </a:srgbClr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EB4C8">
                <a:alpha val="25000"/>
              </a:srgbClr>
            </a:outerShdw>
          </a:effectLst>
        </p:spPr>
      </p:sp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000f6a2624828"/>
          <a:srcRect xmlns:a="http://schemas.openxmlformats.org/drawingml/2006/main" l="0" t="2508" r="0" b="2508"/>
          <a:stretch xmlns:a="http://schemas.openxmlformats.org/drawingml/2006/main"/>
        </p:blipFill>
        <p:spPr>
          <a:xfrm xmlns:a="http://schemas.openxmlformats.org/drawingml/2006/main">
            <a:off x="3273552" y="1060704"/>
            <a:ext cx="2240280" cy="4736592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309D1BE-495E-4BF2-88F8-C40D6B2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5870448"/>
            <a:ext cx="2331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定格分析建议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BAB5635-EAA8-42E4-9CBF-0ECA6B5D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024128"/>
            <a:ext cx="4892040" cy="96012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B8D2F3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BEDA9BE-869C-4050-8679-9E0A741E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161288"/>
            <a:ext cx="45628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实时预览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BF2F072-05DB-42EF-A8E5-A4822D37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481328"/>
            <a:ext cx="45628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CameraX Preview 显示取景画面；ImageAnalysis 低频分析最新帧，保持预览流畅。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805C77D-0D93-4E71-834B-12CC5041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49424"/>
            <a:ext cx="4892040" cy="96012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B8DFC9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43A74740-2407-4D73-A901-356E7FA6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386584"/>
            <a:ext cx="45628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画面状态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991416D-B531-41A7-9E2B-0923E796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706624"/>
            <a:ext cx="45628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实时输出平均亮度、暗亮占比和状态徽章，用于提示当前画面是否适合拍摄。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BDADD4E7-BE5B-4C40-97E9-E048005B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474720"/>
            <a:ext cx="4892040" cy="96012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5210681-21CC-44DA-BEB6-76897CD5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611880"/>
            <a:ext cx="45628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定格分析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ADD35FA9-E033-4B91-AEB6-0D5F1B44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931920"/>
            <a:ext cx="45628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点击预览定格画面，重新生成直方图、质量判断和拍摄建议，并支持保存相册。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23EC7EB-4208-448B-BEF8-B6C96CA1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700016"/>
            <a:ext cx="4892040" cy="96012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8F5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DCFD55-0CE2-4C60-A616-CAE9A88A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37176"/>
            <a:ext cx="45628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边界控制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D5E85AA-E568-4C9D-B575-C067192C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5157216"/>
            <a:ext cx="45628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实时 Y 通道只辅助取景；定格图按课程 RGB 公式生成可查看、可保存的结果。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53FDD9F-3699-470C-B42B-2790030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1555A0B3-5A47-4F05-A5FD-95DA7D82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013416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CAB93A-A4AB-45D7-AB6C-2AC3CD36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F2E250-D256-4774-B71A-B33510FF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FD5ACA3-C9DC-420F-B510-2BA65754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拍摄建议与手动微调：系统给建议，用户做决定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078E4F2-8AE6-4EF1-8D23-E4D39CD8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系统给推荐参数，用户保留最终控制权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05979AA-A5F0-45BD-9040-8C4008B1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D6EF2B-9317-4312-8F9C-3E162090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主讲：杨初晓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D8947EC-78BB-4C65-B126-A1BF5F38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24128"/>
            <a:ext cx="2880360" cy="4251960"/>
          </a:xfrm>
          <a:prstGeom xmlns:a="http://schemas.openxmlformats.org/drawingml/2006/main" prst="roundRect">
            <a:avLst>
              <a:gd name="adj" fmla="val 412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B8D2F3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18CCFF-6C57-4D86-B2B8-753BEFAE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161288"/>
            <a:ext cx="25511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智能判断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CA48905-DDC7-46EC-8FF6-6E8DC2BE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481328"/>
            <a:ext cx="255117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读取最近一次实时直方图指标，判断当前画面状态并生成建议。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输出：画面状态、原因、建议动作、曝光变化量和补光灯动作。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0841989-9C5D-4CD9-AA3C-4C32C6CD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024128"/>
            <a:ext cx="2880360" cy="4251960"/>
          </a:xfrm>
          <a:prstGeom xmlns:a="http://schemas.openxmlformats.org/drawingml/2006/main" prst="roundRect">
            <a:avLst>
              <a:gd name="adj" fmla="val 412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B8DFC9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BC18718-C55F-44B6-B9F7-AD1D9586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161288"/>
            <a:ext cx="25511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按建议重拍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1EADEF6-3AA8-45A5-A86E-313E959D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481328"/>
            <a:ext cx="255117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200">
                <a:solidFill>
                  <a:srgbClr val="24384A"/>
                </a:solidFill>
              </a:defRPr>
            </a:pPr>
            <a:r>
              <a:rPr sz="1200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系统先解释当前定格图，再等待用户确认：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  <a:defRPr sz="1200">
                <a:solidFill>
                  <a:srgbClr val="24384A"/>
                </a:solidFill>
              </a:defRPr>
            </a:pPr>
            <a:r>
              <a:rPr sz="1200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• 曝光补偿建议</a:t>
            </a:r>
          </a:p>
          <a:p xmlns:a="http://schemas.openxmlformats.org/drawingml/2006/main">
            <a:pPr marL="0" indent="0">
              <a:buNone/>
              <a:defRPr sz="1200">
                <a:solidFill>
                  <a:srgbClr val="24384A"/>
                </a:solidFill>
              </a:defRPr>
            </a:pPr>
            <a:r>
              <a:rPr sz="1200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• 补光灯建议</a:t>
            </a:r>
          </a:p>
          <a:p xmlns:a="http://schemas.openxmlformats.org/drawingml/2006/main">
            <a:pPr marL="0" indent="0">
              <a:buNone/>
              <a:defRPr sz="1200">
                <a:solidFill>
                  <a:srgbClr val="24384A"/>
                </a:solidFill>
              </a:defRPr>
            </a:pPr>
            <a:r>
              <a:rPr sz="1200">
                <a:solidFill>
                  <a:srgbClr val="24384A"/>
                </a:solidFill>
              </a:rPr>
              <a:t>• 设备能力检查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marL="0" indent="0">
              <a:buNone/>
              <a:defRPr sz="1200">
                <a:solidFill>
                  <a:srgbClr val="24384A"/>
                </a:solidFill>
              </a:defRPr>
            </a:pPr>
            <a:r>
              <a:rPr sz="1200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确认后调整相机参数，并重新抓取一张新定格图。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C8F5F6D-576B-4224-AE8F-1F753755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24128"/>
            <a:ext cx="2880360" cy="4251960"/>
          </a:xfrm>
          <a:prstGeom xmlns:a="http://schemas.openxmlformats.org/drawingml/2006/main" prst="roundRect">
            <a:avLst>
              <a:gd name="adj" fmla="val 4127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35A3420-5F39-4ED8-9DF7-2431AAB8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161288"/>
            <a:ext cx="25511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手动微调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B02899D-05FB-4C56-BD4D-0731B4A7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481328"/>
            <a:ext cx="255117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200">
                <a:solidFill>
                  <a:srgbClr val="24384A"/>
                </a:solidFill>
              </a:defRPr>
            </a:pPr>
            <a:r>
              <a:rPr sz="1200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用户可以连续微调：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  <a:defRPr sz="1200">
                <a:solidFill>
                  <a:srgbClr val="24384A"/>
                </a:solidFill>
              </a:defRPr>
            </a:pPr>
            <a:r>
              <a:rPr sz="1200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• 曝光 + / 曝光 -</a:t>
            </a:r>
          </a:p>
          <a:p xmlns:a="http://schemas.openxmlformats.org/drawingml/2006/main">
            <a:pPr marL="0" indent="0">
              <a:buNone/>
              <a:defRPr sz="1200">
                <a:solidFill>
                  <a:srgbClr val="24384A"/>
                </a:solidFill>
              </a:defRPr>
            </a:pPr>
            <a:r>
              <a:rPr sz="1200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• 补光灯开关</a:t>
            </a:r>
          </a:p>
          <a:p xmlns:a="http://schemas.openxmlformats.org/drawingml/2006/main">
            <a:pPr marL="0" indent="0">
              <a:buNone/>
              <a:defRPr sz="1200">
                <a:solidFill>
                  <a:srgbClr val="24384A"/>
                </a:solidFill>
              </a:defRPr>
            </a:pPr>
            <a:r>
              <a:rPr sz="1200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• 再次定格验证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  <a:defRPr sz="1200">
                <a:solidFill>
                  <a:srgbClr val="24384A"/>
                </a:solidFill>
              </a:defRPr>
            </a:pPr>
            <a:r>
              <a:rPr sz="1200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系统不会覆盖手动选择；旧定格图不会被假装成已优化。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033A0F4-48C9-4555-9071-5B73A6A5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5468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D0"/>
            </a:solidFill>
            <a:prstDash val="solid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D003439-71B5-4940-8BC7-07482F01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15468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DA77B"/>
            </a:solidFill>
            <a:prstDash val="solid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0DC5F45-72A6-477F-AE6A-E9C0AEE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9464040" cy="530352"/>
          </a:xfrm>
          <a:prstGeom xmlns:a="http://schemas.openxmlformats.org/drawingml/2006/main" prst="roundRect">
            <a:avLst>
              <a:gd name="adj" fmla="val 224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FD5E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2893404-C66D-49BE-9F4F-A79B4A29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5696712"/>
            <a:ext cx="91348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799AE8-BB49-4C47-9E12-EB03A49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53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50" b="1">
                <a:solidFill>
                  <a:srgbClr val="15324B"/>
                </a:solidFill>
              </a:defRPr>
            </a:pPr>
            <a:r>
              <a:rPr sz="1050" b="1">
                <a:solidFill>
                  <a:srgbClr val="15324B"/>
                </a:solidFill>
                <a:latin typeface="Microsoft YaHei"/>
                <a:ea typeface="Microsoft YaHei"/>
                <a:cs typeface="Microsoft YaHei"/>
              </a:rPr>
              <a:t>实时反馈 → 定格分析 → 解释原因 → 用户确认 → 调整参数 → 重拍验证。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940928-5BE9-4FD5-A8C1-87530A4A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AA1CDB5-E38C-4AD8-8085-252435D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61441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0A96C77-B54F-4444-A4FC-3C6710EC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096D7CD-0AED-4534-865A-1DEA5BBB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654CFDC-BB79-4AEF-A450-B2A5A3C8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测试不是“能运行”：正确性、兼容性与性能分层取证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CF766E-5A98-4EBD-BE9C-F5D75D24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自动化测试证明算法契约，17 个图片 ID 覆盖真实使用和边界条件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0163038-38CF-4495-A962-305C38C8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E9B10A5-B72E-4DBF-936D-15CF27D5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主讲：杨初晓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C469F1-AAA3-471A-A992-02924507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70432"/>
            <a:ext cx="3063240" cy="1298448"/>
          </a:xfrm>
          <a:prstGeom xmlns:a="http://schemas.openxmlformats.org/drawingml/2006/main" prst="roundRect">
            <a:avLst>
              <a:gd name="adj" fmla="val 9155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12700">
            <a:solidFill>
              <a:srgbClr val="BFD5EE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EFF6B0-B83A-43E8-BBAB-DF5E2D20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307592"/>
            <a:ext cx="27340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65 项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B1CD217-652C-492E-B6D0-F92C24DA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627632"/>
            <a:ext cx="273405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JVM 单元测试</a:t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公式、取整、归一化、两方案、质量、RGB、ROI、相机规则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35BC502-76EF-49E1-ABF2-D0873EAE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170432"/>
            <a:ext cx="3063240" cy="1298448"/>
          </a:xfrm>
          <a:prstGeom xmlns:a="http://schemas.openxmlformats.org/drawingml/2006/main" prst="roundRect">
            <a:avLst>
              <a:gd name="adj" fmla="val 9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FD5EE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8CF03EE-19DC-4238-9228-0953337F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307592"/>
            <a:ext cx="27340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7 项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F0B7404-E749-404F-8344-CC2301CB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627632"/>
            <a:ext cx="273405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Camera UI 设备测试</a:t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权限、实时状态、定格、建议、保存、三色徽章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D4FD46C-3C67-492A-A683-0FDC162A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70432"/>
            <a:ext cx="3063240" cy="1298448"/>
          </a:xfrm>
          <a:prstGeom xmlns:a="http://schemas.openxmlformats.org/drawingml/2006/main" prst="roundRect">
            <a:avLst>
              <a:gd name="adj" fmla="val 9155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12700">
            <a:solidFill>
              <a:srgbClr val="BFD5EE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7685632-A767-4989-BB6C-04A3AEC1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307592"/>
            <a:ext cx="27340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17 个 ID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E01780-2E40-4E3F-AA2B-FEB16582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627632"/>
            <a:ext cx="273405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11 合成 + 5 真实 + 1 WebP</a:t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覆盖黑白、RGB、Alpha、大图、超限与格式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397F8AA-1AFA-434A-A66C-F9F8922B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99232"/>
            <a:ext cx="3063240" cy="1298448"/>
          </a:xfrm>
          <a:prstGeom xmlns:a="http://schemas.openxmlformats.org/drawingml/2006/main" prst="roundRect">
            <a:avLst>
              <a:gd name="adj" fmla="val 9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FD5EE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372D012-2292-49DB-AE28-D1151E15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136392"/>
            <a:ext cx="27340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逐 bin 一致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0A2A0E2-3411-4EA9-A8F6-292383F2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456432"/>
            <a:ext cx="273405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两种课程方案、Kotlin 与 Native 输出必须完全一致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E062FBB-FCB9-4610-BD79-5AD4B718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999232"/>
            <a:ext cx="3063240" cy="1298448"/>
          </a:xfrm>
          <a:prstGeom xmlns:a="http://schemas.openxmlformats.org/drawingml/2006/main" prst="roundRect">
            <a:avLst>
              <a:gd name="adj" fmla="val 9155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12700">
            <a:solidFill>
              <a:srgbClr val="BFD5EE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1D491A9-747A-41CB-8D37-B434994D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136392"/>
            <a:ext cx="27340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4 道门禁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3969CAC-6052-47CC-8C1C-C4929486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456432"/>
            <a:ext cx="273405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Unit Test / Debug APK</a:t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Test APK / Android Lint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2F46C8F-0014-4A72-8717-5C66A49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2999232"/>
            <a:ext cx="3063240" cy="1298448"/>
          </a:xfrm>
          <a:prstGeom xmlns:a="http://schemas.openxmlformats.org/drawingml/2006/main" prst="roundRect">
            <a:avLst>
              <a:gd name="adj" fmla="val 9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FD5EE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12BC018-D30D-48F5-9108-808F219F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136392"/>
            <a:ext cx="27340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Xiaomi 14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06151CA-0DA7-4739-9592-A9FAEBFA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456432"/>
            <a:ext cx="273405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Android 16 真机</a:t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主流程、12.58MP、CameraX 与保存相册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9F23D1D-512C-4D1A-BB64-2EDEF5A6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9240"/>
            <a:ext cx="9464040" cy="685800"/>
          </a:xfrm>
          <a:prstGeom xmlns:a="http://schemas.openxmlformats.org/drawingml/2006/main" prst="roundRect">
            <a:avLst>
              <a:gd name="adj" fmla="val 1733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F4BCF1B-90A6-4172-90D8-F2D6FFE6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5486400"/>
            <a:ext cx="91348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验收红线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FC9F478-3FC5-4E87-A22C-E07681C6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5806440"/>
            <a:ext cx="913485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7143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50" b="1">
                <a:solidFill>
                  <a:srgbClr val="6B5320"/>
                </a:solidFill>
              </a:defRPr>
            </a:pPr>
            <a:r>
              <a:rPr sz="1050" b="1">
                <a:solidFill>
                  <a:srgbClr val="6B5320"/>
                </a:solidFill>
                <a:latin typeface="Microsoft YaHei"/>
                <a:ea typeface="Microsoft YaHei"/>
                <a:cs typeface="Microsoft YaHei"/>
              </a:rPr>
              <a:t>先证明结果一致，再谈加速；模拟器数据说明趋势，最终 300ms 结论只由固定 L1 真机记录给出。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C327745-E677-4CEF-AF96-585FF96C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FFB370A-AF31-4EDB-AD89-3B47B524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280976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C4888C-EB40-4873-B451-C4611FB1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5D133D-F68E-48A0-9D38-0666A84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E56C583-0DA4-4E53-8B21-9670253B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17 个图片 ID 把“正确”拆成可复现的验收场景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010484-8911-46C2-8D87-915766F5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测试图片、SHA-256、期望 bin、质量分类和性能记录逐项对应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E51DADB-FEE8-48E6-B5CB-2C7402EC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635A7A-88EF-4706-8BBE-363AA6EC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主讲：黎哲轩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63B0C8C-76EA-4E1F-A0E3-08023FC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" y="1019556"/>
            <a:ext cx="2322576" cy="4818888"/>
          </a:xfrm>
          <a:prstGeom xmlns:a="http://schemas.openxmlformats.org/drawingml/2006/main" prst="roundRect">
            <a:avLst>
              <a:gd name="adj" fmla="val 70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12700">
            <a:solidFill>
              <a:srgbClr val="102438">
                <a:alpha val="0"/>
              </a:srgbClr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EB4C8">
                <a:alpha val="25000"/>
              </a:srgbClr>
            </a:outerShdw>
          </a:effectLst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4e8e3c91b49d2"/>
          <a:srcRect xmlns:a="http://schemas.openxmlformats.org/drawingml/2006/main" l="0" t="2508" r="0" b="2508"/>
          <a:stretch xmlns:a="http://schemas.openxmlformats.org/drawingml/2006/main"/>
        </p:blipFill>
        <p:spPr>
          <a:xfrm xmlns:a="http://schemas.openxmlformats.org/drawingml/2006/main">
            <a:off x="777240" y="1060704"/>
            <a:ext cx="2240280" cy="4736592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29FB941-0664-4BA8-9C09-FD5D6E8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70448"/>
            <a:ext cx="2331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结果可视化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4D82D16-B101-4E09-B393-D6265864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404" y="1019556"/>
            <a:ext cx="2322576" cy="4818888"/>
          </a:xfrm>
          <a:prstGeom xmlns:a="http://schemas.openxmlformats.org/drawingml/2006/main" prst="roundRect">
            <a:avLst>
              <a:gd name="adj" fmla="val 7087"/>
            </a:avLst>
          </a:prstGeom>
          <a:solidFill xmlns:a="http://schemas.openxmlformats.org/drawingml/2006/main">
            <a:srgbClr val="102438"/>
          </a:solidFill>
          <a:ln xmlns:a="http://schemas.openxmlformats.org/drawingml/2006/main" w="12700">
            <a:solidFill>
              <a:srgbClr val="102438">
                <a:alpha val="0"/>
              </a:srgbClr>
            </a:solidFill>
            <a:prstDash val="solid"/>
          </a:ln>
          <a:effectLst xmlns:a="http://schemas.openxmlformats.org/drawingml/2006/main">
            <a:outerShdw blurRad="25400" dist="50800" dir="2700000" algn="bl" rotWithShape="0">
              <a:srgbClr val="9EB4C8">
                <a:alpha val="25000"/>
              </a:srgbClr>
            </a:outerShdw>
          </a:effectLst>
        </p:spPr>
      </p:sp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d3d6baea14ae3"/>
          <a:srcRect xmlns:a="http://schemas.openxmlformats.org/drawingml/2006/main" l="0" t="2508" r="0" b="2508"/>
          <a:stretch xmlns:a="http://schemas.openxmlformats.org/drawingml/2006/main"/>
        </p:blipFill>
        <p:spPr>
          <a:xfrm xmlns:a="http://schemas.openxmlformats.org/drawingml/2006/main">
            <a:off x="3273552" y="1060704"/>
            <a:ext cx="2240280" cy="4736592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309D1BE-495E-4BF2-88F8-C40D6B2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5870448"/>
            <a:ext cx="2331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测试集入口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BAB5635-EAA8-42E4-9CBF-0ECA6B5D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024128"/>
            <a:ext cx="4892040" cy="96012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B8D2F3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BEDA9BE-869C-4050-8679-9E0A741E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161288"/>
            <a:ext cx="45628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8 项确定性正确性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BF2F072-05DB-42EF-A8E5-A4822D37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481328"/>
            <a:ext cx="45628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纯黑、纯白、灰度 80/180、低/正常对比度、RGB 原色与 Alpha 棋盘格；结果可以精确到指定 bin。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805C77D-0D93-4E71-834B-12CC5041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49424"/>
            <a:ext cx="4892040" cy="96012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B8DFC9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43A74740-2407-4D73-A901-356E7FA6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386584"/>
            <a:ext cx="45628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3 项大图与边界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991416D-B531-41A7-9E2B-0923E796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706624"/>
            <a:ext cx="45628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12.58MP 固定性能图、1600 万像素上限、1600.4 万像素超限拒绝，验证性能与内存边界。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BDADD4E7-BE5B-4C40-97E9-E048005B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474720"/>
            <a:ext cx="4892040" cy="96012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5210681-21CC-44DA-BEB6-76897CD5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611880"/>
            <a:ext cx="45628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6 项真实兼容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ADD35FA9-E033-4B91-AEB6-0D5F1B44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931920"/>
            <a:ext cx="45628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5 张日夜、横竖、噪点真实照片 + 1 张 Google WebP，覆盖 JPEG / PNG / WebP。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23EC7EB-4208-448B-BEF8-B6C96CA1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700016"/>
            <a:ext cx="4892040" cy="960120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8F5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DCFD55-0CE2-4C60-A616-CAE9A88A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37176"/>
            <a:ext cx="45628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一行一 ID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D5E85AA-E568-4C9D-B575-C067192C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5157216"/>
            <a:ext cx="45628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solidFill>
                  <a:srgbClr val="425466"/>
                </a:solidFill>
              </a:defRPr>
            </a:pPr>
            <a:r>
              <a:rPr sz="1050">
                <a:solidFill>
                  <a:srgbClr val="425466"/>
                </a:solidFill>
                <a:latin typeface="Microsoft YaHei"/>
                <a:ea typeface="Microsoft YaHei"/>
                <a:cs typeface="Microsoft YaHei"/>
              </a:rPr>
              <a:t>每个 ID 两种方案各执行一次；记录核心分段耗时、最高频次、质量分类和逐 bin 一致性。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53FDD9F-3699-470C-B42B-2790030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1555A0B3-5A47-4F05-A5FD-95DA7D82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013416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33B267E-8D4E-49B7-9471-C8598EAF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A9FF5EA-FDCB-41D7-99F3-AB74F1F4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88A80DB-955C-4F88-9BFF-176CCBC0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模拟器重复测试显示：Native v3 的优势随像素规模扩大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B719619-D0A8-441F-BD3F-BE3B6342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全局 JIT 预热 20 次、尺寸预热 5 次、正式运行 10 次；下图为优先灰度化核心中位数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7E6A584-8503-4DBD-AAE8-3F7BA184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6F581-F3AC-4966-89CB-DD5F12AB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主讲：杨清洁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6FF8B89-5EF8-47B8-A427-F66A1A3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4128"/>
            <a:ext cx="5943600" cy="4434840"/>
          </a:xfrm>
          <a:prstGeom xmlns:a="http://schemas.openxmlformats.org/drawingml/2006/main" prst="roundRect">
            <a:avLst>
              <a:gd name="adj" fmla="val 2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4F2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4BC447-0302-4C72-A62E-1C6EDD0D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161288"/>
            <a:ext cx="5614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三种分辨率核心中位数（ms）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383594B-2B18-4052-ADD7-7AADA62D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72584"/>
            <a:ext cx="5166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9E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1ADCFF5-D7F7-4B3B-AD60-FF9A0D81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682496"/>
            <a:ext cx="0" cy="2990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9E8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B90FE9-C95B-4FCF-895E-F740C90C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916" y="4223284"/>
            <a:ext cx="292799" cy="44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DEEBF3E-8731-43AC-9967-8F3D402A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579" y="4634484"/>
            <a:ext cx="29279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FC789E-A6A4-45EB-9D13-0BE81012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24400"/>
            <a:ext cx="172212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512²</a:t>
            </a:r>
          </a:p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39.84 / 1.09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AD5075A-03FE-4A68-ACAA-C9BD0C6D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036" y="2176096"/>
            <a:ext cx="292799" cy="2496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03F5A02-5176-49A9-8F61-929E4FF0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699" y="4627665"/>
            <a:ext cx="292799" cy="44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E632FEE-1C54-4255-92E3-A6DDB8B8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24400"/>
            <a:ext cx="172212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1.56MP</a:t>
            </a:r>
          </a:p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221.37 / 3.98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0CB70D3-995E-4353-9BA9-1A9EC115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156" y="3590521"/>
            <a:ext cx="292799" cy="1082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9194C50-4D45-440A-9B7C-43B4A636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819" y="4324275"/>
            <a:ext cx="292799" cy="3483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BEAA6B0-55CD-46E3-9190-6D7B93AF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4724400"/>
            <a:ext cx="172212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12.58MP</a:t>
            </a:r>
          </a:p>
          <a:p xmlns:a="http://schemas.openxmlformats.org/drawingml/2006/main">
            <a:pPr marL="0" indent="0" algn="ctr">
              <a:buNone/>
              <a:defRPr sz="825">
                <a:solidFill>
                  <a:srgbClr val="6B7A8A"/>
                </a:solidFill>
              </a:defRPr>
            </a:pPr>
            <a:r>
              <a:rPr sz="825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95.95 / 30.89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5379A26-ACCA-4C38-B75D-1B5F9E55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184648"/>
            <a:ext cx="11887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D66ED80-B192-4D02-ACBB-D9C634E2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48072"/>
            <a:ext cx="11887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Kotlin v2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E8C3DCA-EC5C-4253-827B-AE4EFB8C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184648"/>
            <a:ext cx="11887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2700">
            <a:solidFill>
              <a:srgbClr val="F2B84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677D92E-8435-4C0C-AB3F-5623B5E2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96" y="5148072"/>
            <a:ext cx="1280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Native v3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EF1B0D1-BD7D-4848-BD7B-A4429C04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024128"/>
            <a:ext cx="4343400" cy="4434840"/>
          </a:xfrm>
          <a:prstGeom xmlns:a="http://schemas.openxmlformats.org/drawingml/2006/main" prst="roundRect">
            <a:avLst>
              <a:gd name="adj" fmla="val 2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4F2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081170E-A5DD-4AE3-9F65-BD81DB0F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1161288"/>
            <a:ext cx="40142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同一 CSV 还记录 P90、最差值和线程缩放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C818F97-2EB3-4E33-A0F7-02127B88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1481328"/>
            <a:ext cx="4014216" cy="3904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125">
                <a:solidFill>
                  <a:srgbClr val="24384A"/>
                </a:solidFill>
              </a:defRPr>
            </a:pPr>
            <a:r>
              <a:rPr sz="1125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12.58MP 优先灰度化：v2 中位 95.948ms，v3 中位 30.885ms，约快 3.1×。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  <a:defRPr sz="1125">
                <a:solidFill>
                  <a:srgbClr val="24384A"/>
                </a:solidFill>
              </a:defRPr>
            </a:pPr>
            <a:r>
              <a:rPr sz="1125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12.58MP 统计时灰度化：v2 中位 64.455ms，v3 中位 15.067ms，约快 4.3×。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  <a:defRPr sz="1125">
                <a:solidFill>
                  <a:srgbClr val="24384A"/>
                </a:solidFill>
              </a:defRPr>
            </a:pPr>
            <a:r>
              <a:rPr sz="1125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Native 线程缩放实验覆盖 1 / 2 / 4 / 6 / 8 线程，并记录中位、P90 与最差值。</a:t>
            </a:r>
          </a:p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marL="0" indent="0">
              <a:buNone/>
              <a:defRPr sz="1125">
                <a:solidFill>
                  <a:srgbClr val="24384A"/>
                </a:solidFill>
              </a:defRPr>
            </a:pPr>
            <a:r>
              <a:rPr sz="1125">
                <a:solidFill>
                  <a:srgbClr val="24384A"/>
                </a:solidFill>
                <a:latin typeface="Microsoft YaHei"/>
                <a:ea typeface="Microsoft YaHei"/>
                <a:cs typeface="Microsoft YaHei"/>
              </a:rPr>
              <a:t>这些数据来自 API 36 arm64 模拟器，用于复现趋势，不替代最终 Xiaomi 14 真机 L1。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0C9BDBC-53DF-4680-8B3A-03E3FA65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50992"/>
            <a:ext cx="10561320" cy="502920"/>
          </a:xfrm>
          <a:prstGeom xmlns:a="http://schemas.openxmlformats.org/drawingml/2006/main" prst="roundRect">
            <a:avLst>
              <a:gd name="adj" fmla="val 23636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E8C4C61-F91A-46FD-B40A-2C6C18C5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788152"/>
            <a:ext cx="102321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数据结论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7E2A391-22FB-47BE-8E33-335413A3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102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975">
                <a:solidFill>
                  <a:srgbClr val="6B5320"/>
                </a:solidFill>
              </a:defRPr>
            </a:pPr>
            <a:r>
              <a:rPr sz="975">
                <a:solidFill>
                  <a:srgbClr val="6B5320"/>
                </a:solidFill>
                <a:latin typeface="Microsoft YaHei"/>
                <a:ea typeface="Microsoft YaHei"/>
                <a:cs typeface="Microsoft YaHei"/>
              </a:rPr>
              <a:t>优化收益来自 Bitmap 直读、融合遍历和线程私有频次表；最终真机表仍保留独立填写口径。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8979702-6E55-4B3B-8351-B515E452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28B411-8D2E-4D98-B7D0-44DB832B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607511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9F225D7-FBDE-465D-817E-C0747DD1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0"/>
          </a:solidFill>
          <a:ln xmlns:a="http://schemas.openxmlformats.org/drawingml/2006/main" w="12700">
            <a:solidFill>
              <a:srgbClr val="2F6FD0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BE0E76E-6A25-46A6-90F0-F298B67D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25603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F6FD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DF7BE5-8E92-428F-94B9-89E3C25D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6032"/>
            <a:ext cx="8915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5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总结：课程算法、性能证据与拍摄辅助形成完整闭环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9E666AE-E258-42EF-BD83-FACC9839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A8A"/>
                </a:solidFill>
                <a:latin typeface="Microsoft YaHei"/>
                <a:ea typeface="Microsoft YaHei"/>
                <a:cs typeface="Microsoft YaHei"/>
              </a:rPr>
              <a:t>结果可解释、性能可复现、功能可真机演示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BC27E7E-242A-48C1-BE1F-2FF03F66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896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24B"/>
          </a:solidFill>
          <a:ln xmlns:a="http://schemas.openxmlformats.org/drawingml/2006/main" w="12700">
            <a:solidFill>
              <a:srgbClr val="15324B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A94DB45-1A9F-4BEE-AC97-E773C156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79476"/>
            <a:ext cx="1783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主讲：杨初晓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00A0514-4C61-46B8-9644-F1792205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51560"/>
            <a:ext cx="3200400" cy="4069080"/>
          </a:xfrm>
          <a:prstGeom xmlns:a="http://schemas.openxmlformats.org/drawingml/2006/main" prst="roundRect">
            <a:avLst>
              <a:gd name="adj" fmla="val 371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B8D2F3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AC890C-41CD-4F30-A7FC-7EA2603B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188720"/>
            <a:ext cx="28712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0FF854-1825-40A6-8EB3-7DE02776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508760"/>
            <a:ext cx="2871216" cy="3538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256×100 灰度直方图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两种计算方案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Native v3 多线程优化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分阶段性能计时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结果一致性验证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BC640B0-938A-4421-92B3-0D19D1C3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051560"/>
            <a:ext cx="3200400" cy="4069080"/>
          </a:xfrm>
          <a:prstGeom xmlns:a="http://schemas.openxmlformats.org/drawingml/2006/main" prst="roundRect">
            <a:avLst>
              <a:gd name="adj" fmla="val 371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700">
            <a:solidFill>
              <a:srgbClr val="B8DFC9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7CCFB3B-03EE-4210-B094-E37BEFCB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188720"/>
            <a:ext cx="28712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用户价值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566975-F678-4AFD-A04D-29BD518B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508760"/>
            <a:ext cx="2871216" cy="3538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RGB 与自然语言解释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ROI 局部区域分析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实时相机直方图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三色画面状态提示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按建议重拍与手动微调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6578200-7BD8-413C-97EB-EF28A136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051560"/>
            <a:ext cx="3063240" cy="4069080"/>
          </a:xfrm>
          <a:prstGeom xmlns:a="http://schemas.openxmlformats.org/drawingml/2006/main" prst="roundRect">
            <a:avLst>
              <a:gd name="adj" fmla="val 3881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2700">
            <a:solidFill>
              <a:srgbClr val="E8C36A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D6E4F3">
                <a:alpha val="20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2C4D36-FEEA-4A89-A382-0A2BECBC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188720"/>
            <a:ext cx="27340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4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工程交付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65A0A5A-B9F6-4F08-ACC8-09C9C942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508760"/>
            <a:ext cx="2734056" cy="3538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Android 源码仓库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可安装 APK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自动化测试用例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真机性能记录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开发过程文档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1B9640A-AA17-42E9-A0C8-42CCF99A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50992"/>
            <a:ext cx="10515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E2435"/>
                </a:solidFill>
                <a:latin typeface="Microsoft YaHei"/>
                <a:ea typeface="Microsoft YaHei"/>
                <a:cs typeface="Microsoft YaHei"/>
              </a:rPr>
              <a:t>Q &amp; A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0E5BDB3-441B-46C6-A40E-79459757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4754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ImageHistogramAnalyzer · 第十四组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DC139CA-42FE-4688-8E6F-FB378CC2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8EA2B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9194580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2026-07-10T07:24:15.8610000Z</dcterms:created>
  <dcterms:modified xsi:type="dcterms:W3CDTF">2026-07-10T07:24:15.8610000Z</dcterms:modified>
</coreProperties>
</file>