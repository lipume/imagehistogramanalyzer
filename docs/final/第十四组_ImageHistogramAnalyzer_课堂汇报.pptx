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media/image7.jpg" ContentType="image/jpg"/>
  <Override PartName="/ppt/notesSlides/notesSlide9.xml" ContentType="application/vnd.openxmlformats-officedocument.presentationml.notesSlide+xml"/>
  <Override PartName="/ppt/media/image8.jpg" ContentType="image/jpg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media/image9.jpg" ContentType="image/jpg"/>
  <Override PartName="/ppt/media/image10.jpg" ContentType="image/jpg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545"/>
    <p:restoredTop sz="94610"/>
  </p:normalViewPr>
  <p:slideViewPr>
    <p:cSldViewPr snapToGrid="0" snapToObjects="1">
      <p:cViewPr varScale="1">
        <p:scale>
          <a:sx n="88" d="100"/>
          <a:sy n="88" d="100"/>
        </p:scale>
        <p:origin x="208" y="8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618820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3" Type="http://schemas.openxmlformats.org/officeDocument/2006/relationships/image" Target="../media/image1.jpg"/><Relationship Id="rId7" Type="http://schemas.openxmlformats.org/officeDocument/2006/relationships/image" Target="../media/image5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g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jp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F6FD0"/>
          </a:solidFill>
          <a:ln w="12700">
            <a:solidFill>
              <a:srgbClr val="2F6FD0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68580"/>
            <a:ext cx="9546336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300" b="1" dirty="0" err="1">
                <a:solidFill>
                  <a:srgbClr val="0E24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移动端图像质量分析与直方图计算优化系统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49224" y="1056132"/>
            <a:ext cx="6492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 Android 的直方图计算、区域分析与智能拍摄辅助</a:t>
            </a:r>
            <a:endParaRPr lang="en-US" sz="1400" dirty="0"/>
          </a:p>
        </p:txBody>
      </p:sp>
      <p:grpSp>
        <p:nvGrpSpPr>
          <p:cNvPr id="93" name="组合 92">
            <a:extLst>
              <a:ext uri="{FF2B5EF4-FFF2-40B4-BE49-F238E27FC236}">
                <a16:creationId xmlns:a16="http://schemas.microsoft.com/office/drawing/2014/main" id="{227D08ED-398C-AB4B-8217-C424558657B2}"/>
              </a:ext>
            </a:extLst>
          </p:cNvPr>
          <p:cNvGrpSpPr/>
          <p:nvPr/>
        </p:nvGrpSpPr>
        <p:grpSpPr>
          <a:xfrm>
            <a:off x="615696" y="2895382"/>
            <a:ext cx="5486400" cy="2340864"/>
            <a:chOff x="658368" y="2523816"/>
            <a:chExt cx="5486400" cy="2340864"/>
          </a:xfrm>
        </p:grpSpPr>
        <p:sp>
          <p:nvSpPr>
            <p:cNvPr id="15" name="Shape 13"/>
            <p:cNvSpPr/>
            <p:nvPr/>
          </p:nvSpPr>
          <p:spPr>
            <a:xfrm>
              <a:off x="658368" y="2523816"/>
              <a:ext cx="5486400" cy="2340864"/>
            </a:xfrm>
            <a:prstGeom prst="roundRect">
              <a:avLst>
                <a:gd name="adj" fmla="val 5078"/>
              </a:avLst>
            </a:prstGeom>
            <a:solidFill>
              <a:srgbClr val="FFFFFF"/>
            </a:solidFill>
            <a:ln w="12700">
              <a:solidFill>
                <a:srgbClr val="D7E4F2"/>
              </a:solidFill>
              <a:prstDash val="solid"/>
            </a:ln>
            <a:effectLst>
              <a:outerShdw blurRad="12700" dist="50800" dir="2700000" algn="bl" rotWithShape="0">
                <a:srgbClr val="D6E4F3">
                  <a:alpha val="20000"/>
                </a:srgbClr>
              </a:outerShdw>
            </a:effectLst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16" name="Text 14"/>
            <p:cNvSpPr/>
            <p:nvPr/>
          </p:nvSpPr>
          <p:spPr>
            <a:xfrm>
              <a:off x="822960" y="2596968"/>
              <a:ext cx="5157216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340" b="1" dirty="0">
                  <a:solidFill>
                    <a:srgbClr val="0E2435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团队分工</a:t>
              </a:r>
              <a:endParaRPr lang="en-US" sz="1340" dirty="0"/>
            </a:p>
          </p:txBody>
        </p:sp>
        <p:sp>
          <p:nvSpPr>
            <p:cNvPr id="17" name="Text 15"/>
            <p:cNvSpPr/>
            <p:nvPr/>
          </p:nvSpPr>
          <p:spPr>
            <a:xfrm>
              <a:off x="850392" y="2926152"/>
              <a:ext cx="228600" cy="1371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2F6FD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1</a:t>
              </a:r>
              <a:endParaRPr lang="en-US" sz="900" dirty="0"/>
            </a:p>
          </p:txBody>
        </p:sp>
        <p:sp>
          <p:nvSpPr>
            <p:cNvPr id="18" name="Text 16"/>
            <p:cNvSpPr/>
            <p:nvPr/>
          </p:nvSpPr>
          <p:spPr>
            <a:xfrm>
              <a:off x="1207008" y="2926152"/>
              <a:ext cx="685800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20" b="1" dirty="0">
                  <a:solidFill>
                    <a:srgbClr val="0E2435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黎哲轩</a:t>
              </a:r>
              <a:endParaRPr lang="en-US" sz="1020" dirty="0"/>
            </a:p>
          </p:txBody>
        </p:sp>
        <p:sp>
          <p:nvSpPr>
            <p:cNvPr id="19" name="Text 17"/>
            <p:cNvSpPr/>
            <p:nvPr/>
          </p:nvSpPr>
          <p:spPr>
            <a:xfrm>
              <a:off x="1975104" y="2926152"/>
              <a:ext cx="960120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20" dirty="0">
                  <a:solidFill>
                    <a:srgbClr val="6B7A8A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项目管理</a:t>
              </a:r>
              <a:endParaRPr lang="en-US" sz="920" dirty="0"/>
            </a:p>
          </p:txBody>
        </p:sp>
        <p:sp>
          <p:nvSpPr>
            <p:cNvPr id="20" name="Text 18"/>
            <p:cNvSpPr/>
            <p:nvPr/>
          </p:nvSpPr>
          <p:spPr>
            <a:xfrm>
              <a:off x="3072384" y="2926152"/>
              <a:ext cx="2560320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920" dirty="0">
                  <a:solidFill>
                    <a:srgbClr val="111827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目标、进度、答辩统筹</a:t>
              </a:r>
              <a:endParaRPr lang="en-US" sz="920" dirty="0"/>
            </a:p>
          </p:txBody>
        </p:sp>
        <p:sp>
          <p:nvSpPr>
            <p:cNvPr id="21" name="Text 19"/>
            <p:cNvSpPr/>
            <p:nvPr/>
          </p:nvSpPr>
          <p:spPr>
            <a:xfrm>
              <a:off x="850392" y="3273624"/>
              <a:ext cx="228600" cy="1371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2F6FD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2</a:t>
              </a:r>
              <a:endParaRPr lang="en-US" sz="900" dirty="0"/>
            </a:p>
          </p:txBody>
        </p:sp>
        <p:sp>
          <p:nvSpPr>
            <p:cNvPr id="22" name="Text 20"/>
            <p:cNvSpPr/>
            <p:nvPr/>
          </p:nvSpPr>
          <p:spPr>
            <a:xfrm>
              <a:off x="1207008" y="3273624"/>
              <a:ext cx="685800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20" b="1" dirty="0">
                  <a:solidFill>
                    <a:srgbClr val="0E2435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史佳雯</a:t>
              </a:r>
              <a:endParaRPr lang="en-US" sz="1020" dirty="0"/>
            </a:p>
          </p:txBody>
        </p:sp>
        <p:sp>
          <p:nvSpPr>
            <p:cNvPr id="23" name="Text 21"/>
            <p:cNvSpPr/>
            <p:nvPr/>
          </p:nvSpPr>
          <p:spPr>
            <a:xfrm>
              <a:off x="1975104" y="3273624"/>
              <a:ext cx="960120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20" dirty="0">
                  <a:solidFill>
                    <a:srgbClr val="6B7A8A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需求与设计</a:t>
              </a:r>
              <a:endParaRPr lang="en-US" sz="920" dirty="0"/>
            </a:p>
          </p:txBody>
        </p:sp>
        <p:sp>
          <p:nvSpPr>
            <p:cNvPr id="24" name="Text 22"/>
            <p:cNvSpPr/>
            <p:nvPr/>
          </p:nvSpPr>
          <p:spPr>
            <a:xfrm>
              <a:off x="3072384" y="3273624"/>
              <a:ext cx="2560320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920" dirty="0">
                  <a:solidFill>
                    <a:srgbClr val="111827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流程设计、功能梳理</a:t>
              </a:r>
              <a:endParaRPr lang="en-US" sz="920" dirty="0"/>
            </a:p>
          </p:txBody>
        </p:sp>
        <p:sp>
          <p:nvSpPr>
            <p:cNvPr id="25" name="Text 23"/>
            <p:cNvSpPr/>
            <p:nvPr/>
          </p:nvSpPr>
          <p:spPr>
            <a:xfrm>
              <a:off x="850392" y="3621096"/>
              <a:ext cx="228600" cy="1371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2F6FD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3</a:t>
              </a:r>
              <a:endParaRPr lang="en-US" sz="900" dirty="0"/>
            </a:p>
          </p:txBody>
        </p:sp>
        <p:sp>
          <p:nvSpPr>
            <p:cNvPr id="26" name="Text 24"/>
            <p:cNvSpPr/>
            <p:nvPr/>
          </p:nvSpPr>
          <p:spPr>
            <a:xfrm>
              <a:off x="1207008" y="3621096"/>
              <a:ext cx="685800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20" b="1" dirty="0">
                  <a:solidFill>
                    <a:srgbClr val="0E2435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张栋皓</a:t>
              </a:r>
              <a:endParaRPr lang="en-US" sz="1020" dirty="0"/>
            </a:p>
          </p:txBody>
        </p:sp>
        <p:sp>
          <p:nvSpPr>
            <p:cNvPr id="27" name="Text 25"/>
            <p:cNvSpPr/>
            <p:nvPr/>
          </p:nvSpPr>
          <p:spPr>
            <a:xfrm>
              <a:off x="1975104" y="3621096"/>
              <a:ext cx="960120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20" dirty="0">
                  <a:solidFill>
                    <a:srgbClr val="6B7A8A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Android 开发</a:t>
              </a:r>
              <a:endParaRPr lang="en-US" sz="920" dirty="0"/>
            </a:p>
          </p:txBody>
        </p:sp>
        <p:sp>
          <p:nvSpPr>
            <p:cNvPr id="28" name="Text 26"/>
            <p:cNvSpPr/>
            <p:nvPr/>
          </p:nvSpPr>
          <p:spPr>
            <a:xfrm>
              <a:off x="3072384" y="3621096"/>
              <a:ext cx="2560320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920" dirty="0">
                  <a:solidFill>
                    <a:srgbClr val="111827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界面实现、相机模块</a:t>
              </a:r>
              <a:endParaRPr lang="en-US" sz="920" dirty="0"/>
            </a:p>
          </p:txBody>
        </p:sp>
        <p:sp>
          <p:nvSpPr>
            <p:cNvPr id="29" name="Text 27"/>
            <p:cNvSpPr/>
            <p:nvPr/>
          </p:nvSpPr>
          <p:spPr>
            <a:xfrm>
              <a:off x="850392" y="3968568"/>
              <a:ext cx="228600" cy="1371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2F6FD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4</a:t>
              </a:r>
              <a:endParaRPr lang="en-US" sz="900" dirty="0"/>
            </a:p>
          </p:txBody>
        </p:sp>
        <p:sp>
          <p:nvSpPr>
            <p:cNvPr id="30" name="Text 28"/>
            <p:cNvSpPr/>
            <p:nvPr/>
          </p:nvSpPr>
          <p:spPr>
            <a:xfrm>
              <a:off x="1207008" y="3968568"/>
              <a:ext cx="685800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20" b="1" dirty="0">
                  <a:solidFill>
                    <a:srgbClr val="0E2435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杨清洁</a:t>
              </a:r>
              <a:endParaRPr lang="en-US" sz="1020" dirty="0"/>
            </a:p>
          </p:txBody>
        </p:sp>
        <p:sp>
          <p:nvSpPr>
            <p:cNvPr id="31" name="Text 29"/>
            <p:cNvSpPr/>
            <p:nvPr/>
          </p:nvSpPr>
          <p:spPr>
            <a:xfrm>
              <a:off x="1975104" y="3968568"/>
              <a:ext cx="960120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20" dirty="0">
                  <a:solidFill>
                    <a:srgbClr val="6B7A8A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算法开发</a:t>
              </a:r>
              <a:endParaRPr lang="en-US" sz="920" dirty="0"/>
            </a:p>
          </p:txBody>
        </p:sp>
        <p:sp>
          <p:nvSpPr>
            <p:cNvPr id="32" name="Text 30"/>
            <p:cNvSpPr/>
            <p:nvPr/>
          </p:nvSpPr>
          <p:spPr>
            <a:xfrm>
              <a:off x="3072384" y="3968568"/>
              <a:ext cx="2560320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920" dirty="0">
                  <a:solidFill>
                    <a:srgbClr val="111827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直方图、RGB、性能优化</a:t>
              </a:r>
              <a:endParaRPr lang="en-US" sz="920" dirty="0"/>
            </a:p>
          </p:txBody>
        </p:sp>
        <p:sp>
          <p:nvSpPr>
            <p:cNvPr id="33" name="Text 31"/>
            <p:cNvSpPr/>
            <p:nvPr/>
          </p:nvSpPr>
          <p:spPr>
            <a:xfrm>
              <a:off x="850392" y="4316040"/>
              <a:ext cx="228600" cy="1371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2F6FD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5</a:t>
              </a:r>
              <a:endParaRPr lang="en-US" sz="900" dirty="0"/>
            </a:p>
          </p:txBody>
        </p:sp>
        <p:sp>
          <p:nvSpPr>
            <p:cNvPr id="34" name="Text 32"/>
            <p:cNvSpPr/>
            <p:nvPr/>
          </p:nvSpPr>
          <p:spPr>
            <a:xfrm>
              <a:off x="1207008" y="4316040"/>
              <a:ext cx="685800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20" b="1" dirty="0">
                  <a:solidFill>
                    <a:srgbClr val="0E2435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杨初晓</a:t>
              </a:r>
              <a:endParaRPr lang="en-US" sz="1020" dirty="0"/>
            </a:p>
          </p:txBody>
        </p:sp>
        <p:sp>
          <p:nvSpPr>
            <p:cNvPr id="35" name="Text 33"/>
            <p:cNvSpPr/>
            <p:nvPr/>
          </p:nvSpPr>
          <p:spPr>
            <a:xfrm>
              <a:off x="1975104" y="4316040"/>
              <a:ext cx="960120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20" dirty="0">
                  <a:solidFill>
                    <a:srgbClr val="6B7A8A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测试与文档</a:t>
              </a:r>
              <a:endParaRPr lang="en-US" sz="920" dirty="0"/>
            </a:p>
          </p:txBody>
        </p:sp>
        <p:sp>
          <p:nvSpPr>
            <p:cNvPr id="36" name="Text 34"/>
            <p:cNvSpPr/>
            <p:nvPr/>
          </p:nvSpPr>
          <p:spPr>
            <a:xfrm>
              <a:off x="3072384" y="4316040"/>
              <a:ext cx="2560320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920" dirty="0">
                  <a:solidFill>
                    <a:srgbClr val="111827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测试验证、交付材料</a:t>
              </a:r>
              <a:endParaRPr lang="en-US" sz="920" dirty="0"/>
            </a:p>
          </p:txBody>
        </p:sp>
      </p:grpSp>
      <p:sp>
        <p:nvSpPr>
          <p:cNvPr id="43" name="Text 40"/>
          <p:cNvSpPr/>
          <p:nvPr/>
        </p:nvSpPr>
        <p:spPr>
          <a:xfrm>
            <a:off x="548640" y="6519672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EA2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ImageHistogramAnalyzer · 第十四组</a:t>
            </a:r>
            <a:endParaRPr lang="en-US" sz="850" dirty="0"/>
          </a:p>
        </p:txBody>
      </p:sp>
      <p:sp>
        <p:nvSpPr>
          <p:cNvPr id="44" name="Text 41"/>
          <p:cNvSpPr/>
          <p:nvPr/>
        </p:nvSpPr>
        <p:spPr>
          <a:xfrm>
            <a:off x="11000232" y="6445214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EA2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50" dirty="0"/>
          </a:p>
        </p:txBody>
      </p:sp>
      <p:sp>
        <p:nvSpPr>
          <p:cNvPr id="50" name="Rounded Rectangle 3">
            <a:extLst>
              <a:ext uri="{FF2B5EF4-FFF2-40B4-BE49-F238E27FC236}">
                <a16:creationId xmlns:a16="http://schemas.microsoft.com/office/drawing/2014/main" id="{E6FD0586-8FF5-DC99-C54F-07D0111A4A54}"/>
              </a:ext>
            </a:extLst>
          </p:cNvPr>
          <p:cNvSpPr/>
          <p:nvPr/>
        </p:nvSpPr>
        <p:spPr>
          <a:xfrm>
            <a:off x="644654" y="1665841"/>
            <a:ext cx="1143000" cy="320040"/>
          </a:xfrm>
          <a:prstGeom prst="roundRect">
            <a:avLst/>
          </a:prstGeom>
          <a:solidFill>
            <a:srgbClr val="EEF5FC"/>
          </a:solidFill>
          <a:ln>
            <a:solidFill>
              <a:srgbClr val="3878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ctr"/>
            <a:r>
              <a:rPr sz="1100" b="1">
                <a:solidFill>
                  <a:srgbClr val="3878D3"/>
                </a:solidFill>
                <a:latin typeface="Microsoft YaHei"/>
              </a:rPr>
              <a:t>Kotlin</a:t>
            </a:r>
          </a:p>
        </p:txBody>
      </p:sp>
      <p:sp>
        <p:nvSpPr>
          <p:cNvPr id="51" name="Rounded Rectangle 4">
            <a:extLst>
              <a:ext uri="{FF2B5EF4-FFF2-40B4-BE49-F238E27FC236}">
                <a16:creationId xmlns:a16="http://schemas.microsoft.com/office/drawing/2014/main" id="{66F007C2-D0D8-8D62-AA29-917E7FD58603}"/>
              </a:ext>
            </a:extLst>
          </p:cNvPr>
          <p:cNvSpPr/>
          <p:nvPr/>
        </p:nvSpPr>
        <p:spPr>
          <a:xfrm>
            <a:off x="1970533" y="1665841"/>
            <a:ext cx="1143000" cy="320040"/>
          </a:xfrm>
          <a:prstGeom prst="roundRect">
            <a:avLst/>
          </a:prstGeom>
          <a:solidFill>
            <a:srgbClr val="EEF5FC"/>
          </a:solidFill>
          <a:ln>
            <a:solidFill>
              <a:srgbClr val="3878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ctr"/>
            <a:r>
              <a:rPr sz="1100" b="1" dirty="0">
                <a:solidFill>
                  <a:srgbClr val="3878D3"/>
                </a:solidFill>
                <a:latin typeface="Microsoft YaHei"/>
              </a:rPr>
              <a:t>Jetpack Compose</a:t>
            </a:r>
          </a:p>
        </p:txBody>
      </p:sp>
      <p:sp>
        <p:nvSpPr>
          <p:cNvPr id="52" name="Rounded Rectangle 5">
            <a:extLst>
              <a:ext uri="{FF2B5EF4-FFF2-40B4-BE49-F238E27FC236}">
                <a16:creationId xmlns:a16="http://schemas.microsoft.com/office/drawing/2014/main" id="{EA33E2F3-D15D-0C1F-F874-78450B344EA0}"/>
              </a:ext>
            </a:extLst>
          </p:cNvPr>
          <p:cNvSpPr/>
          <p:nvPr/>
        </p:nvSpPr>
        <p:spPr>
          <a:xfrm>
            <a:off x="3296414" y="1665841"/>
            <a:ext cx="1143000" cy="320040"/>
          </a:xfrm>
          <a:prstGeom prst="roundRect">
            <a:avLst/>
          </a:prstGeom>
          <a:solidFill>
            <a:srgbClr val="EEF5FC"/>
          </a:solidFill>
          <a:ln>
            <a:solidFill>
              <a:srgbClr val="3878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ctr"/>
            <a:r>
              <a:rPr sz="1100" b="1">
                <a:solidFill>
                  <a:srgbClr val="3878D3"/>
                </a:solidFill>
                <a:latin typeface="Microsoft YaHei"/>
              </a:rPr>
              <a:t>NDK / C++</a:t>
            </a:r>
          </a:p>
        </p:txBody>
      </p:sp>
      <p:sp>
        <p:nvSpPr>
          <p:cNvPr id="53" name="Rounded Rectangle 6">
            <a:extLst>
              <a:ext uri="{FF2B5EF4-FFF2-40B4-BE49-F238E27FC236}">
                <a16:creationId xmlns:a16="http://schemas.microsoft.com/office/drawing/2014/main" id="{0B82BAC2-E07A-7F5D-7E3F-286F98BFEAA0}"/>
              </a:ext>
            </a:extLst>
          </p:cNvPr>
          <p:cNvSpPr/>
          <p:nvPr/>
        </p:nvSpPr>
        <p:spPr>
          <a:xfrm>
            <a:off x="4622293" y="1665841"/>
            <a:ext cx="1143000" cy="320040"/>
          </a:xfrm>
          <a:prstGeom prst="roundRect">
            <a:avLst/>
          </a:prstGeom>
          <a:solidFill>
            <a:srgbClr val="EEF5FC"/>
          </a:solidFill>
          <a:ln>
            <a:solidFill>
              <a:srgbClr val="3878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ctr"/>
            <a:r>
              <a:rPr sz="1100" b="1">
                <a:solidFill>
                  <a:srgbClr val="3878D3"/>
                </a:solidFill>
                <a:latin typeface="Microsoft YaHei"/>
              </a:rPr>
              <a:t>CameraX</a:t>
            </a:r>
          </a:p>
        </p:txBody>
      </p:sp>
      <p:sp>
        <p:nvSpPr>
          <p:cNvPr id="54" name="Rounded Rectangle 7">
            <a:extLst>
              <a:ext uri="{FF2B5EF4-FFF2-40B4-BE49-F238E27FC236}">
                <a16:creationId xmlns:a16="http://schemas.microsoft.com/office/drawing/2014/main" id="{430EC06A-01E6-00EF-3501-D3E4769F33C4}"/>
              </a:ext>
            </a:extLst>
          </p:cNvPr>
          <p:cNvSpPr/>
          <p:nvPr/>
        </p:nvSpPr>
        <p:spPr>
          <a:xfrm>
            <a:off x="4622293" y="2291552"/>
            <a:ext cx="1143000" cy="320040"/>
          </a:xfrm>
          <a:prstGeom prst="roundRect">
            <a:avLst/>
          </a:prstGeom>
          <a:solidFill>
            <a:srgbClr val="EEF5FC"/>
          </a:solidFill>
          <a:ln>
            <a:solidFill>
              <a:srgbClr val="3878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ctr"/>
            <a:r>
              <a:rPr sz="1100" b="1" dirty="0" err="1">
                <a:solidFill>
                  <a:srgbClr val="3878D3"/>
                </a:solidFill>
                <a:latin typeface="Microsoft YaHei"/>
              </a:rPr>
              <a:t>本地规则分析</a:t>
            </a:r>
            <a:endParaRPr sz="1100" b="1" dirty="0">
              <a:solidFill>
                <a:srgbClr val="3878D3"/>
              </a:solidFill>
              <a:latin typeface="Microsoft YaHei"/>
            </a:endParaRPr>
          </a:p>
        </p:txBody>
      </p:sp>
      <p:sp>
        <p:nvSpPr>
          <p:cNvPr id="73" name="Rounded Rectangle 8">
            <a:extLst>
              <a:ext uri="{FF2B5EF4-FFF2-40B4-BE49-F238E27FC236}">
                <a16:creationId xmlns:a16="http://schemas.microsoft.com/office/drawing/2014/main" id="{26393D32-B261-A194-2B1F-20619C52171E}"/>
              </a:ext>
            </a:extLst>
          </p:cNvPr>
          <p:cNvSpPr/>
          <p:nvPr/>
        </p:nvSpPr>
        <p:spPr>
          <a:xfrm>
            <a:off x="6876288" y="1056132"/>
            <a:ext cx="1371600" cy="2194560"/>
          </a:xfrm>
          <a:prstGeom prst="roundRect">
            <a:avLst/>
          </a:prstGeom>
          <a:solidFill>
            <a:srgbClr val="F2F7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4" name="Picture 9" descr="home.jpg">
            <a:extLst>
              <a:ext uri="{FF2B5EF4-FFF2-40B4-BE49-F238E27FC236}">
                <a16:creationId xmlns:a16="http://schemas.microsoft.com/office/drawing/2014/main" id="{B6A2B8C0-FD05-8ED4-D20A-42C5D54F48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0" y="1129284"/>
            <a:ext cx="1225296" cy="1792224"/>
          </a:xfrm>
          <a:prstGeom prst="rect">
            <a:avLst/>
          </a:prstGeom>
        </p:spPr>
      </p:pic>
      <p:sp>
        <p:nvSpPr>
          <p:cNvPr id="75" name="TextBox 10">
            <a:extLst>
              <a:ext uri="{FF2B5EF4-FFF2-40B4-BE49-F238E27FC236}">
                <a16:creationId xmlns:a16="http://schemas.microsoft.com/office/drawing/2014/main" id="{2A31D74E-5307-604B-1C22-52AD4FEF72E8}"/>
              </a:ext>
            </a:extLst>
          </p:cNvPr>
          <p:cNvSpPr txBox="1"/>
          <p:nvPr/>
        </p:nvSpPr>
        <p:spPr>
          <a:xfrm>
            <a:off x="6949440" y="2976372"/>
            <a:ext cx="1225296" cy="256032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ctr"/>
            <a:r>
              <a:rPr sz="1050" b="0">
                <a:solidFill>
                  <a:srgbClr val="2C3E50"/>
                </a:solidFill>
                <a:latin typeface="Microsoft YaHei"/>
              </a:rPr>
              <a:t>首页</a:t>
            </a:r>
          </a:p>
        </p:txBody>
      </p:sp>
      <p:sp>
        <p:nvSpPr>
          <p:cNvPr id="76" name="Rounded Rectangle 11">
            <a:extLst>
              <a:ext uri="{FF2B5EF4-FFF2-40B4-BE49-F238E27FC236}">
                <a16:creationId xmlns:a16="http://schemas.microsoft.com/office/drawing/2014/main" id="{A644BBE4-5C5F-6942-3610-A70F7A64106D}"/>
              </a:ext>
            </a:extLst>
          </p:cNvPr>
          <p:cNvSpPr/>
          <p:nvPr/>
        </p:nvSpPr>
        <p:spPr>
          <a:xfrm>
            <a:off x="8430768" y="1056132"/>
            <a:ext cx="1371600" cy="2194560"/>
          </a:xfrm>
          <a:prstGeom prst="roundRect">
            <a:avLst/>
          </a:prstGeom>
          <a:solidFill>
            <a:srgbClr val="F2F7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7" name="Picture 12" descr="static_top.jpg">
            <a:extLst>
              <a:ext uri="{FF2B5EF4-FFF2-40B4-BE49-F238E27FC236}">
                <a16:creationId xmlns:a16="http://schemas.microsoft.com/office/drawing/2014/main" id="{3F958449-05F4-D698-8C51-A1F4D56683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3920" y="1129284"/>
            <a:ext cx="1225296" cy="1792224"/>
          </a:xfrm>
          <a:prstGeom prst="rect">
            <a:avLst/>
          </a:prstGeom>
        </p:spPr>
      </p:pic>
      <p:sp>
        <p:nvSpPr>
          <p:cNvPr id="78" name="TextBox 13">
            <a:extLst>
              <a:ext uri="{FF2B5EF4-FFF2-40B4-BE49-F238E27FC236}">
                <a16:creationId xmlns:a16="http://schemas.microsoft.com/office/drawing/2014/main" id="{B4108A35-35C8-AEB4-E200-5D92E6D9DA4B}"/>
              </a:ext>
            </a:extLst>
          </p:cNvPr>
          <p:cNvSpPr txBox="1"/>
          <p:nvPr/>
        </p:nvSpPr>
        <p:spPr>
          <a:xfrm>
            <a:off x="8503920" y="2976372"/>
            <a:ext cx="1225296" cy="256032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ctr"/>
            <a:r>
              <a:rPr sz="1050" b="0">
                <a:solidFill>
                  <a:srgbClr val="2C3E50"/>
                </a:solidFill>
                <a:latin typeface="Microsoft YaHei"/>
              </a:rPr>
              <a:t>静态分析</a:t>
            </a:r>
          </a:p>
        </p:txBody>
      </p:sp>
      <p:sp>
        <p:nvSpPr>
          <p:cNvPr id="79" name="Rounded Rectangle 14">
            <a:extLst>
              <a:ext uri="{FF2B5EF4-FFF2-40B4-BE49-F238E27FC236}">
                <a16:creationId xmlns:a16="http://schemas.microsoft.com/office/drawing/2014/main" id="{6FA68CAB-F82F-BAEC-3BA9-850BFA59E32C}"/>
              </a:ext>
            </a:extLst>
          </p:cNvPr>
          <p:cNvSpPr/>
          <p:nvPr/>
        </p:nvSpPr>
        <p:spPr>
          <a:xfrm>
            <a:off x="9985248" y="1056132"/>
            <a:ext cx="1371600" cy="2194560"/>
          </a:xfrm>
          <a:prstGeom prst="roundRect">
            <a:avLst/>
          </a:prstGeom>
          <a:solidFill>
            <a:srgbClr val="F2F7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0" name="Picture 15" descr="camera_preview_good.jpg">
            <a:extLst>
              <a:ext uri="{FF2B5EF4-FFF2-40B4-BE49-F238E27FC236}">
                <a16:creationId xmlns:a16="http://schemas.microsoft.com/office/drawing/2014/main" id="{277E6EF6-A5E2-F7FE-582F-3DAFE02578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0" y="1129284"/>
            <a:ext cx="1225296" cy="1792224"/>
          </a:xfrm>
          <a:prstGeom prst="rect">
            <a:avLst/>
          </a:prstGeom>
        </p:spPr>
      </p:pic>
      <p:sp>
        <p:nvSpPr>
          <p:cNvPr id="81" name="TextBox 16">
            <a:extLst>
              <a:ext uri="{FF2B5EF4-FFF2-40B4-BE49-F238E27FC236}">
                <a16:creationId xmlns:a16="http://schemas.microsoft.com/office/drawing/2014/main" id="{9280C008-2A3D-0528-17D8-C335545B46D7}"/>
              </a:ext>
            </a:extLst>
          </p:cNvPr>
          <p:cNvSpPr txBox="1"/>
          <p:nvPr/>
        </p:nvSpPr>
        <p:spPr>
          <a:xfrm>
            <a:off x="10058400" y="2976372"/>
            <a:ext cx="1225296" cy="256032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ctr"/>
            <a:r>
              <a:rPr sz="1050" b="0">
                <a:solidFill>
                  <a:srgbClr val="2C3E50"/>
                </a:solidFill>
                <a:latin typeface="Microsoft YaHei"/>
              </a:rPr>
              <a:t>实时拍摄</a:t>
            </a:r>
          </a:p>
        </p:txBody>
      </p:sp>
      <p:sp>
        <p:nvSpPr>
          <p:cNvPr id="82" name="Rounded Rectangle 17">
            <a:extLst>
              <a:ext uri="{FF2B5EF4-FFF2-40B4-BE49-F238E27FC236}">
                <a16:creationId xmlns:a16="http://schemas.microsoft.com/office/drawing/2014/main" id="{4BD3CC2D-015D-19BC-7D31-4B0E6E3D91B6}"/>
              </a:ext>
            </a:extLst>
          </p:cNvPr>
          <p:cNvSpPr/>
          <p:nvPr/>
        </p:nvSpPr>
        <p:spPr>
          <a:xfrm>
            <a:off x="6876288" y="3387852"/>
            <a:ext cx="1371600" cy="2148840"/>
          </a:xfrm>
          <a:prstGeom prst="roundRect">
            <a:avLst/>
          </a:prstGeom>
          <a:solidFill>
            <a:srgbClr val="F2F7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3" name="Picture 18" descr="roi_after.jpg">
            <a:extLst>
              <a:ext uri="{FF2B5EF4-FFF2-40B4-BE49-F238E27FC236}">
                <a16:creationId xmlns:a16="http://schemas.microsoft.com/office/drawing/2014/main" id="{42ABC22D-9B14-FEF0-DBDF-5454B322537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49440" y="3461004"/>
            <a:ext cx="1225296" cy="1746504"/>
          </a:xfrm>
          <a:prstGeom prst="rect">
            <a:avLst/>
          </a:prstGeom>
        </p:spPr>
      </p:pic>
      <p:sp>
        <p:nvSpPr>
          <p:cNvPr id="84" name="TextBox 19">
            <a:extLst>
              <a:ext uri="{FF2B5EF4-FFF2-40B4-BE49-F238E27FC236}">
                <a16:creationId xmlns:a16="http://schemas.microsoft.com/office/drawing/2014/main" id="{03AD6917-830A-1A82-743B-39C5C8CAC162}"/>
              </a:ext>
            </a:extLst>
          </p:cNvPr>
          <p:cNvSpPr txBox="1"/>
          <p:nvPr/>
        </p:nvSpPr>
        <p:spPr>
          <a:xfrm>
            <a:off x="6949440" y="5262372"/>
            <a:ext cx="1225296" cy="256032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ctr"/>
            <a:r>
              <a:rPr sz="1050" b="0">
                <a:solidFill>
                  <a:srgbClr val="2C3E50"/>
                </a:solidFill>
                <a:latin typeface="Microsoft YaHei"/>
              </a:rPr>
              <a:t>ROI 分析</a:t>
            </a:r>
          </a:p>
        </p:txBody>
      </p:sp>
      <p:sp>
        <p:nvSpPr>
          <p:cNvPr id="85" name="Rounded Rectangle 20">
            <a:extLst>
              <a:ext uri="{FF2B5EF4-FFF2-40B4-BE49-F238E27FC236}">
                <a16:creationId xmlns:a16="http://schemas.microsoft.com/office/drawing/2014/main" id="{B286AE3A-A8E6-77AA-7B5A-0D790C69ECAF}"/>
              </a:ext>
            </a:extLst>
          </p:cNvPr>
          <p:cNvSpPr/>
          <p:nvPr/>
        </p:nvSpPr>
        <p:spPr>
          <a:xfrm>
            <a:off x="8430768" y="3387852"/>
            <a:ext cx="1371600" cy="2148840"/>
          </a:xfrm>
          <a:prstGeom prst="roundRect">
            <a:avLst/>
          </a:prstGeom>
          <a:solidFill>
            <a:srgbClr val="F2F7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6" name="Picture 21" descr="rgb_quality.jpg">
            <a:extLst>
              <a:ext uri="{FF2B5EF4-FFF2-40B4-BE49-F238E27FC236}">
                <a16:creationId xmlns:a16="http://schemas.microsoft.com/office/drawing/2014/main" id="{FF616916-4D8E-E8BA-0423-9BC49E59004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03920" y="3461004"/>
            <a:ext cx="1225296" cy="1746504"/>
          </a:xfrm>
          <a:prstGeom prst="rect">
            <a:avLst/>
          </a:prstGeom>
        </p:spPr>
      </p:pic>
      <p:sp>
        <p:nvSpPr>
          <p:cNvPr id="87" name="TextBox 22">
            <a:extLst>
              <a:ext uri="{FF2B5EF4-FFF2-40B4-BE49-F238E27FC236}">
                <a16:creationId xmlns:a16="http://schemas.microsoft.com/office/drawing/2014/main" id="{1813EEC7-6B9C-CE76-7FDC-7A7F947DF94A}"/>
              </a:ext>
            </a:extLst>
          </p:cNvPr>
          <p:cNvSpPr txBox="1"/>
          <p:nvPr/>
        </p:nvSpPr>
        <p:spPr>
          <a:xfrm>
            <a:off x="8503920" y="5262372"/>
            <a:ext cx="1225296" cy="256032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ctr"/>
            <a:r>
              <a:rPr sz="1050" b="0">
                <a:solidFill>
                  <a:srgbClr val="2C3E50"/>
                </a:solidFill>
                <a:latin typeface="Microsoft YaHei"/>
              </a:rPr>
              <a:t>RGB 分析</a:t>
            </a:r>
          </a:p>
        </p:txBody>
      </p:sp>
      <p:sp>
        <p:nvSpPr>
          <p:cNvPr id="88" name="Rounded Rectangle 23">
            <a:extLst>
              <a:ext uri="{FF2B5EF4-FFF2-40B4-BE49-F238E27FC236}">
                <a16:creationId xmlns:a16="http://schemas.microsoft.com/office/drawing/2014/main" id="{A29E4435-4BAC-C6A2-3DA7-D932557A7E6E}"/>
              </a:ext>
            </a:extLst>
          </p:cNvPr>
          <p:cNvSpPr/>
          <p:nvPr/>
        </p:nvSpPr>
        <p:spPr>
          <a:xfrm>
            <a:off x="9985248" y="3387852"/>
            <a:ext cx="1371600" cy="2148840"/>
          </a:xfrm>
          <a:prstGeom prst="roundRect">
            <a:avLst/>
          </a:prstGeom>
          <a:solidFill>
            <a:srgbClr val="F2F7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9" name="Picture 24" descr="perf_card.jpg">
            <a:extLst>
              <a:ext uri="{FF2B5EF4-FFF2-40B4-BE49-F238E27FC236}">
                <a16:creationId xmlns:a16="http://schemas.microsoft.com/office/drawing/2014/main" id="{DA1051E8-D27C-7AFC-A1D3-1FFDE700E94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58400" y="3461004"/>
            <a:ext cx="1225296" cy="1746504"/>
          </a:xfrm>
          <a:prstGeom prst="rect">
            <a:avLst/>
          </a:prstGeom>
        </p:spPr>
      </p:pic>
      <p:sp>
        <p:nvSpPr>
          <p:cNvPr id="90" name="TextBox 25">
            <a:extLst>
              <a:ext uri="{FF2B5EF4-FFF2-40B4-BE49-F238E27FC236}">
                <a16:creationId xmlns:a16="http://schemas.microsoft.com/office/drawing/2014/main" id="{CAD2C8B2-759D-BC8A-6CA4-F87261346A3A}"/>
              </a:ext>
            </a:extLst>
          </p:cNvPr>
          <p:cNvSpPr txBox="1"/>
          <p:nvPr/>
        </p:nvSpPr>
        <p:spPr>
          <a:xfrm>
            <a:off x="10058400" y="5262372"/>
            <a:ext cx="1225296" cy="256032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ctr"/>
            <a:r>
              <a:rPr sz="1050" b="0">
                <a:solidFill>
                  <a:srgbClr val="2C3E50"/>
                </a:solidFill>
                <a:latin typeface="Microsoft YaHei"/>
              </a:rPr>
              <a:t>性能统计</a:t>
            </a:r>
          </a:p>
        </p:txBody>
      </p:sp>
      <p:sp>
        <p:nvSpPr>
          <p:cNvPr id="91" name="TextBox 27">
            <a:extLst>
              <a:ext uri="{FF2B5EF4-FFF2-40B4-BE49-F238E27FC236}">
                <a16:creationId xmlns:a16="http://schemas.microsoft.com/office/drawing/2014/main" id="{0F2316D5-E817-803C-515E-414BD4B05994}"/>
              </a:ext>
            </a:extLst>
          </p:cNvPr>
          <p:cNvSpPr txBox="1"/>
          <p:nvPr/>
        </p:nvSpPr>
        <p:spPr>
          <a:xfrm>
            <a:off x="658368" y="5719572"/>
            <a:ext cx="6217920" cy="365760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/>
            <a:r>
              <a:rPr sz="1500" b="1" dirty="0" err="1">
                <a:solidFill>
                  <a:srgbClr val="3878D3"/>
                </a:solidFill>
                <a:latin typeface="Microsoft YaHei"/>
              </a:rPr>
              <a:t>第十四组</a:t>
            </a:r>
            <a:r>
              <a:rPr sz="1500" b="1" dirty="0">
                <a:solidFill>
                  <a:srgbClr val="3878D3"/>
                </a:solidFill>
                <a:latin typeface="Microsoft YaHei"/>
              </a:rPr>
              <a:t> · </a:t>
            </a:r>
            <a:r>
              <a:rPr sz="1500" b="1" dirty="0" err="1">
                <a:solidFill>
                  <a:srgbClr val="3878D3"/>
                </a:solidFill>
                <a:latin typeface="Microsoft YaHei"/>
              </a:rPr>
              <a:t>软件开发实践</a:t>
            </a:r>
            <a:r>
              <a:rPr sz="1500" b="1" dirty="0">
                <a:solidFill>
                  <a:srgbClr val="3878D3"/>
                </a:solidFill>
                <a:latin typeface="Microsoft YaHei"/>
              </a:rPr>
              <a:t> 3 </a:t>
            </a:r>
            <a:r>
              <a:rPr sz="1500" b="1" dirty="0" err="1">
                <a:solidFill>
                  <a:srgbClr val="3878D3"/>
                </a:solidFill>
                <a:latin typeface="Microsoft YaHei"/>
              </a:rPr>
              <a:t>课堂汇报</a:t>
            </a:r>
            <a:endParaRPr sz="1500" b="1" dirty="0">
              <a:solidFill>
                <a:srgbClr val="3878D3"/>
              </a:solidFill>
              <a:latin typeface="Microsoft YaHei"/>
            </a:endParaRPr>
          </a:p>
        </p:txBody>
      </p:sp>
      <p:sp>
        <p:nvSpPr>
          <p:cNvPr id="94" name="Rounded Rectangle 7">
            <a:extLst>
              <a:ext uri="{FF2B5EF4-FFF2-40B4-BE49-F238E27FC236}">
                <a16:creationId xmlns:a16="http://schemas.microsoft.com/office/drawing/2014/main" id="{E42A0E6B-7C90-1C44-0415-C0C824E98F03}"/>
              </a:ext>
            </a:extLst>
          </p:cNvPr>
          <p:cNvSpPr/>
          <p:nvPr/>
        </p:nvSpPr>
        <p:spPr>
          <a:xfrm>
            <a:off x="3296413" y="2287306"/>
            <a:ext cx="1143000" cy="320040"/>
          </a:xfrm>
          <a:prstGeom prst="roundRect">
            <a:avLst/>
          </a:prstGeom>
          <a:solidFill>
            <a:srgbClr val="EEF5FC"/>
          </a:solidFill>
          <a:ln>
            <a:solidFill>
              <a:srgbClr val="3878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ctr"/>
            <a:r>
              <a:rPr lang="zh-CN" altLang="en-US" sz="1100" b="1" dirty="0">
                <a:solidFill>
                  <a:srgbClr val="3878D3"/>
                </a:solidFill>
                <a:latin typeface="Microsoft YaHei"/>
              </a:rPr>
              <a:t>实时拍摄分析</a:t>
            </a:r>
            <a:endParaRPr sz="1100" b="1" dirty="0">
              <a:solidFill>
                <a:srgbClr val="3878D3"/>
              </a:solidFill>
              <a:latin typeface="Microsoft YaHei"/>
            </a:endParaRPr>
          </a:p>
        </p:txBody>
      </p:sp>
      <p:sp>
        <p:nvSpPr>
          <p:cNvPr id="95" name="Rounded Rectangle 7">
            <a:extLst>
              <a:ext uri="{FF2B5EF4-FFF2-40B4-BE49-F238E27FC236}">
                <a16:creationId xmlns:a16="http://schemas.microsoft.com/office/drawing/2014/main" id="{00F5734C-2686-0497-508C-A1686627EEFD}"/>
              </a:ext>
            </a:extLst>
          </p:cNvPr>
          <p:cNvSpPr/>
          <p:nvPr/>
        </p:nvSpPr>
        <p:spPr>
          <a:xfrm>
            <a:off x="1970533" y="2280121"/>
            <a:ext cx="1143000" cy="320040"/>
          </a:xfrm>
          <a:prstGeom prst="roundRect">
            <a:avLst/>
          </a:prstGeom>
          <a:solidFill>
            <a:srgbClr val="EEF5FC"/>
          </a:solidFill>
          <a:ln>
            <a:solidFill>
              <a:srgbClr val="3878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ctr"/>
            <a:r>
              <a:rPr lang="en-US" altLang="zh-CN" sz="1100" b="1" dirty="0">
                <a:solidFill>
                  <a:srgbClr val="3878D3"/>
                </a:solidFill>
                <a:latin typeface="Microsoft YaHei"/>
              </a:rPr>
              <a:t>ROI</a:t>
            </a:r>
            <a:r>
              <a:rPr lang="zh-CN" altLang="en-US" sz="1100" b="1" dirty="0">
                <a:solidFill>
                  <a:srgbClr val="3878D3"/>
                </a:solidFill>
                <a:latin typeface="Microsoft YaHei"/>
              </a:rPr>
              <a:t>分析</a:t>
            </a:r>
            <a:endParaRPr sz="1100" b="1" dirty="0">
              <a:solidFill>
                <a:srgbClr val="3878D3"/>
              </a:solidFill>
              <a:latin typeface="Microsoft YaHei"/>
            </a:endParaRPr>
          </a:p>
        </p:txBody>
      </p:sp>
      <p:sp>
        <p:nvSpPr>
          <p:cNvPr id="96" name="Rounded Rectangle 7">
            <a:extLst>
              <a:ext uri="{FF2B5EF4-FFF2-40B4-BE49-F238E27FC236}">
                <a16:creationId xmlns:a16="http://schemas.microsoft.com/office/drawing/2014/main" id="{9CF0C2D2-8EBE-D799-C373-4F5379860420}"/>
              </a:ext>
            </a:extLst>
          </p:cNvPr>
          <p:cNvSpPr/>
          <p:nvPr/>
        </p:nvSpPr>
        <p:spPr>
          <a:xfrm>
            <a:off x="643963" y="2287306"/>
            <a:ext cx="1143000" cy="320040"/>
          </a:xfrm>
          <a:prstGeom prst="roundRect">
            <a:avLst/>
          </a:prstGeom>
          <a:solidFill>
            <a:srgbClr val="EEF5FC"/>
          </a:solidFill>
          <a:ln>
            <a:solidFill>
              <a:srgbClr val="3878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ctr"/>
            <a:r>
              <a:rPr lang="en-US" altLang="zh-CN" sz="1100" b="1" dirty="0">
                <a:solidFill>
                  <a:srgbClr val="3878D3"/>
                </a:solidFill>
                <a:latin typeface="Microsoft YaHei"/>
              </a:rPr>
              <a:t>RGB</a:t>
            </a:r>
            <a:r>
              <a:rPr lang="zh-CN" altLang="en-US" sz="1100" b="1" dirty="0">
                <a:solidFill>
                  <a:srgbClr val="3878D3"/>
                </a:solidFill>
                <a:latin typeface="Microsoft YaHei"/>
              </a:rPr>
              <a:t>分析</a:t>
            </a:r>
            <a:endParaRPr sz="1100" b="1" dirty="0">
              <a:solidFill>
                <a:srgbClr val="3878D3"/>
              </a:solidFill>
              <a:latin typeface="Microsoft YaHe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F6FD0"/>
          </a:solidFill>
          <a:ln w="12700">
            <a:solidFill>
              <a:srgbClr val="2F6FD0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25603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F6F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21792" y="256032"/>
            <a:ext cx="8915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50" b="1" dirty="0">
                <a:solidFill>
                  <a:srgbClr val="0E24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从“生成直方图”扩展到“解释并应用直方图”</a:t>
            </a:r>
            <a:endParaRPr lang="en-US" sz="2450" dirty="0"/>
          </a:p>
        </p:txBody>
      </p:sp>
      <p:sp>
        <p:nvSpPr>
          <p:cNvPr id="5" name="Text 3"/>
          <p:cNvSpPr/>
          <p:nvPr/>
        </p:nvSpPr>
        <p:spPr>
          <a:xfrm>
            <a:off x="640080" y="713232"/>
            <a:ext cx="8961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B7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先完成准确生成与快速生成，再将直方图用于局部分析和拍摄辅助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9829800" y="310896"/>
            <a:ext cx="1938528" cy="310896"/>
          </a:xfrm>
          <a:prstGeom prst="roundRect">
            <a:avLst>
              <a:gd name="adj" fmla="val 23529"/>
            </a:avLst>
          </a:prstGeom>
          <a:solidFill>
            <a:srgbClr val="15324B"/>
          </a:solidFill>
          <a:ln w="12700">
            <a:solidFill>
              <a:srgbClr val="15324B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912096" y="379476"/>
            <a:ext cx="1783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主讲：黎哲轩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31520" y="1143000"/>
            <a:ext cx="2148840" cy="987552"/>
          </a:xfrm>
          <a:prstGeom prst="roundRect">
            <a:avLst>
              <a:gd name="adj" fmla="val 12037"/>
            </a:avLst>
          </a:prstGeom>
          <a:solidFill>
            <a:srgbClr val="FFFFFF"/>
          </a:solidFill>
          <a:ln w="12700">
            <a:solidFill>
              <a:srgbClr val="DCE8F5"/>
            </a:solidFill>
            <a:prstDash val="solid"/>
          </a:ln>
          <a:effectLst>
            <a:outerShdw blurRad="12700" dist="50800" dir="2700000" algn="bl" rotWithShape="0">
              <a:srgbClr val="D6E4F3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77824" y="1289304"/>
            <a:ext cx="18562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6B7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准确生成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877824" y="1545336"/>
            <a:ext cx="1856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2F6F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256 bins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877824" y="1856232"/>
            <a:ext cx="18562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6B7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0–100 归一化</a:t>
            </a:r>
            <a:endParaRPr lang="en-US" sz="880" dirty="0"/>
          </a:p>
        </p:txBody>
      </p:sp>
      <p:sp>
        <p:nvSpPr>
          <p:cNvPr id="12" name="Shape 10"/>
          <p:cNvSpPr/>
          <p:nvPr/>
        </p:nvSpPr>
        <p:spPr>
          <a:xfrm>
            <a:off x="3063240" y="1143000"/>
            <a:ext cx="2148840" cy="987552"/>
          </a:xfrm>
          <a:prstGeom prst="roundRect">
            <a:avLst>
              <a:gd name="adj" fmla="val 12037"/>
            </a:avLst>
          </a:prstGeom>
          <a:solidFill>
            <a:srgbClr val="FFFFFF"/>
          </a:solidFill>
          <a:ln w="12700">
            <a:solidFill>
              <a:srgbClr val="DCE8F5"/>
            </a:solidFill>
            <a:prstDash val="solid"/>
          </a:ln>
          <a:effectLst>
            <a:outerShdw blurRad="12700" dist="50800" dir="2700000" algn="bl" rotWithShape="0">
              <a:srgbClr val="D6E4F3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209544" y="1289304"/>
            <a:ext cx="18562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6B7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快速生成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209544" y="1545336"/>
            <a:ext cx="1856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F2B8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&lt; 300 ms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3209544" y="1856232"/>
            <a:ext cx="18562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6B7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核心计算目标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5394960" y="1143000"/>
            <a:ext cx="2148840" cy="987552"/>
          </a:xfrm>
          <a:prstGeom prst="roundRect">
            <a:avLst>
              <a:gd name="adj" fmla="val 12037"/>
            </a:avLst>
          </a:prstGeom>
          <a:solidFill>
            <a:srgbClr val="FFFFFF"/>
          </a:solidFill>
          <a:ln w="12700">
            <a:solidFill>
              <a:srgbClr val="DCE8F5"/>
            </a:solidFill>
            <a:prstDash val="solid"/>
          </a:ln>
          <a:effectLst>
            <a:outerShdw blurRad="12700" dist="50800" dir="2700000" algn="bl" rotWithShape="0">
              <a:srgbClr val="D6E4F3">
                <a:alpha val="2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541264" y="1289304"/>
            <a:ext cx="18562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6B7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图像规模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541264" y="1545336"/>
            <a:ext cx="1856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D953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12.58 MP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5541264" y="1856232"/>
            <a:ext cx="18562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6B7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大图样本</a:t>
            </a:r>
            <a:endParaRPr lang="en-US" sz="880" dirty="0"/>
          </a:p>
        </p:txBody>
      </p:sp>
      <p:sp>
        <p:nvSpPr>
          <p:cNvPr id="20" name="Shape 18"/>
          <p:cNvSpPr/>
          <p:nvPr/>
        </p:nvSpPr>
        <p:spPr>
          <a:xfrm>
            <a:off x="7726680" y="1143000"/>
            <a:ext cx="2148840" cy="987552"/>
          </a:xfrm>
          <a:prstGeom prst="roundRect">
            <a:avLst>
              <a:gd name="adj" fmla="val 12037"/>
            </a:avLst>
          </a:prstGeom>
          <a:solidFill>
            <a:srgbClr val="FFFFFF"/>
          </a:solidFill>
          <a:ln w="12700">
            <a:solidFill>
              <a:srgbClr val="DCE8F5"/>
            </a:solidFill>
            <a:prstDash val="solid"/>
          </a:ln>
          <a:effectLst>
            <a:outerShdw blurRad="12700" dist="50800" dir="2700000" algn="bl" rotWithShape="0">
              <a:srgbClr val="D6E4F3">
                <a:alpha val="2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872984" y="1289304"/>
            <a:ext cx="18562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6B7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应用分析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7872984" y="1545336"/>
            <a:ext cx="1856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4DA7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ROI / RGB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7872984" y="1856232"/>
            <a:ext cx="18562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6B7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拍摄辅助</a:t>
            </a:r>
            <a:endParaRPr lang="en-US" sz="880" dirty="0"/>
          </a:p>
        </p:txBody>
      </p:sp>
      <p:sp>
        <p:nvSpPr>
          <p:cNvPr id="24" name="Shape 22"/>
          <p:cNvSpPr/>
          <p:nvPr/>
        </p:nvSpPr>
        <p:spPr>
          <a:xfrm>
            <a:off x="786384" y="2606040"/>
            <a:ext cx="3337560" cy="1920240"/>
          </a:xfrm>
          <a:prstGeom prst="roundRect">
            <a:avLst>
              <a:gd name="adj" fmla="val 6190"/>
            </a:avLst>
          </a:prstGeom>
          <a:solidFill>
            <a:srgbClr val="EAF3FF"/>
          </a:solidFill>
          <a:ln w="12700">
            <a:solidFill>
              <a:srgbClr val="B8D2F3"/>
            </a:solidFill>
            <a:prstDash val="solid"/>
          </a:ln>
          <a:effectLst>
            <a:outerShdw blurRad="12700" dist="50800" dir="2700000" algn="bl" rotWithShape="0">
              <a:srgbClr val="D6E4F3">
                <a:alpha val="2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950976" y="2743200"/>
            <a:ext cx="30083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40" b="1" dirty="0">
                <a:solidFill>
                  <a:srgbClr val="0E24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 1：准确生成</a:t>
            </a:r>
            <a:endParaRPr lang="en-US" sz="1340" dirty="0"/>
          </a:p>
        </p:txBody>
      </p:sp>
      <p:sp>
        <p:nvSpPr>
          <p:cNvPr id="26" name="Text 24"/>
          <p:cNvSpPr/>
          <p:nvPr/>
        </p:nvSpPr>
        <p:spPr>
          <a:xfrm>
            <a:off x="950976" y="3063240"/>
            <a:ext cx="3008376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 RGB 灰度公式统计 0–255 频次，输出 256×100 白底黑柱直方图。</a:t>
            </a:r>
            <a:endParaRPr lang="en-US" sz="1080" dirty="0"/>
          </a:p>
        </p:txBody>
      </p:sp>
      <p:sp>
        <p:nvSpPr>
          <p:cNvPr id="27" name="Shape 25"/>
          <p:cNvSpPr/>
          <p:nvPr/>
        </p:nvSpPr>
        <p:spPr>
          <a:xfrm>
            <a:off x="4443984" y="2606040"/>
            <a:ext cx="3337560" cy="1920240"/>
          </a:xfrm>
          <a:prstGeom prst="roundRect">
            <a:avLst>
              <a:gd name="adj" fmla="val 6190"/>
            </a:avLst>
          </a:prstGeom>
          <a:solidFill>
            <a:srgbClr val="FFF4D7"/>
          </a:solidFill>
          <a:ln w="12700">
            <a:solidFill>
              <a:srgbClr val="E8C36A"/>
            </a:solidFill>
            <a:prstDash val="solid"/>
          </a:ln>
          <a:effectLst>
            <a:outerShdw blurRad="12700" dist="50800" dir="2700000" algn="bl" rotWithShape="0">
              <a:srgbClr val="D6E4F3">
                <a:alpha val="2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608576" y="2743200"/>
            <a:ext cx="30083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40" b="1" dirty="0">
                <a:solidFill>
                  <a:srgbClr val="0E24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 2：快速生成</a:t>
            </a:r>
            <a:endParaRPr lang="en-US" sz="1340" dirty="0"/>
          </a:p>
        </p:txBody>
      </p:sp>
      <p:sp>
        <p:nvSpPr>
          <p:cNvPr id="29" name="Text 27"/>
          <p:cNvSpPr/>
          <p:nvPr/>
        </p:nvSpPr>
        <p:spPr>
          <a:xfrm>
            <a:off x="4608576" y="3063240"/>
            <a:ext cx="3008376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核心计算单独计时，聚焦像素读取、灰度统计和归一化，避免把解码和绘制混入算法耗时。</a:t>
            </a:r>
            <a:endParaRPr lang="en-US" sz="1080" dirty="0"/>
          </a:p>
        </p:txBody>
      </p:sp>
      <p:sp>
        <p:nvSpPr>
          <p:cNvPr id="30" name="Shape 28"/>
          <p:cNvSpPr/>
          <p:nvPr/>
        </p:nvSpPr>
        <p:spPr>
          <a:xfrm>
            <a:off x="8101584" y="2606040"/>
            <a:ext cx="3337560" cy="1920240"/>
          </a:xfrm>
          <a:prstGeom prst="roundRect">
            <a:avLst>
              <a:gd name="adj" fmla="val 6190"/>
            </a:avLst>
          </a:prstGeom>
          <a:solidFill>
            <a:srgbClr val="EAF7EF"/>
          </a:solidFill>
          <a:ln w="12700">
            <a:solidFill>
              <a:srgbClr val="B8DFC9"/>
            </a:solidFill>
            <a:prstDash val="solid"/>
          </a:ln>
          <a:effectLst>
            <a:outerShdw blurRad="12700" dist="50800" dir="2700000" algn="bl" rotWithShape="0">
              <a:srgbClr val="D6E4F3">
                <a:alpha val="2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8266176" y="2743200"/>
            <a:ext cx="30083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40" b="1" dirty="0">
                <a:solidFill>
                  <a:srgbClr val="0E24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 3：应用分析</a:t>
            </a:r>
            <a:endParaRPr lang="en-US" sz="1340" dirty="0"/>
          </a:p>
        </p:txBody>
      </p:sp>
      <p:sp>
        <p:nvSpPr>
          <p:cNvPr id="32" name="Text 30"/>
          <p:cNvSpPr/>
          <p:nvPr/>
        </p:nvSpPr>
        <p:spPr>
          <a:xfrm>
            <a:off x="8266176" y="3063240"/>
            <a:ext cx="3008376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用直方图解释亮度、曝光、对比度和颜色分布，并服务 ROI 与实时拍摄建议。</a:t>
            </a:r>
            <a:endParaRPr lang="en-US" sz="1080" dirty="0"/>
          </a:p>
        </p:txBody>
      </p:sp>
      <p:sp>
        <p:nvSpPr>
          <p:cNvPr id="33" name="Shape 31"/>
          <p:cNvSpPr/>
          <p:nvPr/>
        </p:nvSpPr>
        <p:spPr>
          <a:xfrm>
            <a:off x="1005840" y="5257800"/>
            <a:ext cx="2011680" cy="566928"/>
          </a:xfrm>
          <a:prstGeom prst="roundRect">
            <a:avLst>
              <a:gd name="adj" fmla="val 17742"/>
            </a:avLst>
          </a:prstGeom>
          <a:solidFill>
            <a:srgbClr val="EAF3FF"/>
          </a:solidFill>
          <a:ln w="12700">
            <a:solidFill>
              <a:srgbClr val="2F6FD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69848" y="5349240"/>
            <a:ext cx="18836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E24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静态图片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E24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课程主线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017520" y="5541264"/>
            <a:ext cx="1554480" cy="0"/>
          </a:xfrm>
          <a:prstGeom prst="line">
            <a:avLst/>
          </a:prstGeom>
          <a:noFill/>
          <a:ln w="17145">
            <a:solidFill>
              <a:srgbClr val="2F6FD0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4572000" y="5257800"/>
            <a:ext cx="2011680" cy="566928"/>
          </a:xfrm>
          <a:prstGeom prst="roundRect">
            <a:avLst>
              <a:gd name="adj" fmla="val 17742"/>
            </a:avLst>
          </a:prstGeom>
          <a:solidFill>
            <a:srgbClr val="EAF7EF"/>
          </a:solidFill>
          <a:ln w="12700">
            <a:solidFill>
              <a:srgbClr val="4DA77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636008" y="5349240"/>
            <a:ext cx="18836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E24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ROI / RGB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E24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分析增强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583680" y="5541264"/>
            <a:ext cx="1554480" cy="0"/>
          </a:xfrm>
          <a:prstGeom prst="line">
            <a:avLst/>
          </a:prstGeom>
          <a:noFill/>
          <a:ln w="17145">
            <a:solidFill>
              <a:srgbClr val="4DA77B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8138160" y="5257800"/>
            <a:ext cx="2011680" cy="566928"/>
          </a:xfrm>
          <a:prstGeom prst="roundRect">
            <a:avLst>
              <a:gd name="adj" fmla="val 17742"/>
            </a:avLst>
          </a:prstGeom>
          <a:solidFill>
            <a:srgbClr val="FFF4D7"/>
          </a:solidFill>
          <a:ln w="12700">
            <a:solidFill>
              <a:srgbClr val="F2B84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202168" y="5349240"/>
            <a:ext cx="18836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E24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实时相机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E24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拍摄辅助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48640" y="6519672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EA2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ImageHistogramAnalyzer · 第十四组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11292840" y="647395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EA2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F6FD0"/>
          </a:solidFill>
          <a:ln w="12700">
            <a:solidFill>
              <a:srgbClr val="2F6FD0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25603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F6F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21792" y="256032"/>
            <a:ext cx="8915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50" b="1" dirty="0">
                <a:solidFill>
                  <a:srgbClr val="0E24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系统功能总览：静态分析、局部分析、实时拍摄三条线</a:t>
            </a:r>
            <a:endParaRPr lang="en-US" sz="2450" dirty="0"/>
          </a:p>
        </p:txBody>
      </p:sp>
      <p:sp>
        <p:nvSpPr>
          <p:cNvPr id="5" name="Text 3"/>
          <p:cNvSpPr/>
          <p:nvPr/>
        </p:nvSpPr>
        <p:spPr>
          <a:xfrm>
            <a:off x="640080" y="713232"/>
            <a:ext cx="8961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B7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三条功能线共用同一套直方图统计、质量分析和结果展示逻辑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9829800" y="310896"/>
            <a:ext cx="1938528" cy="310896"/>
          </a:xfrm>
          <a:prstGeom prst="roundRect">
            <a:avLst>
              <a:gd name="adj" fmla="val 23529"/>
            </a:avLst>
          </a:prstGeom>
          <a:solidFill>
            <a:srgbClr val="15324B"/>
          </a:solidFill>
          <a:ln w="12700">
            <a:solidFill>
              <a:srgbClr val="15324B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912096" y="379476"/>
            <a:ext cx="1783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主讲：史佳雯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31520" y="1133856"/>
            <a:ext cx="3383280" cy="4480560"/>
          </a:xfrm>
          <a:prstGeom prst="roundRect">
            <a:avLst>
              <a:gd name="adj" fmla="val 3514"/>
            </a:avLst>
          </a:prstGeom>
          <a:solidFill>
            <a:srgbClr val="EAF3FF"/>
          </a:solidFill>
          <a:ln w="12700">
            <a:solidFill>
              <a:srgbClr val="B8D2F3"/>
            </a:solidFill>
            <a:prstDash val="solid"/>
          </a:ln>
          <a:effectLst>
            <a:outerShdw blurRad="12700" dist="50800" dir="2700000" algn="bl" rotWithShape="0">
              <a:srgbClr val="D6E4F3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96112" y="1271016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40" b="1" dirty="0">
                <a:solidFill>
                  <a:srgbClr val="0E24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静态图片分析</a:t>
            </a:r>
            <a:endParaRPr lang="en-US" sz="1340" dirty="0"/>
          </a:p>
        </p:txBody>
      </p:sp>
      <p:sp>
        <p:nvSpPr>
          <p:cNvPr id="10" name="Text 8"/>
          <p:cNvSpPr/>
          <p:nvPr/>
        </p:nvSpPr>
        <p:spPr>
          <a:xfrm>
            <a:off x="896112" y="1591056"/>
            <a:ext cx="3054096" cy="3950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选择本地图片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显示分辨率与像素数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手动选择计算方案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生成灰度直方图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展示 RGB、质量与性能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4434840" y="1133856"/>
            <a:ext cx="3383280" cy="4480560"/>
          </a:xfrm>
          <a:prstGeom prst="roundRect">
            <a:avLst>
              <a:gd name="adj" fmla="val 3514"/>
            </a:avLst>
          </a:prstGeom>
          <a:solidFill>
            <a:srgbClr val="EAF7EF"/>
          </a:solidFill>
          <a:ln w="12700">
            <a:solidFill>
              <a:srgbClr val="B8DFC9"/>
            </a:solidFill>
            <a:prstDash val="solid"/>
          </a:ln>
          <a:effectLst>
            <a:outerShdw blurRad="12700" dist="50800" dir="2700000" algn="bl" rotWithShape="0">
              <a:srgbClr val="D6E4F3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99432" y="1271016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40" b="1" dirty="0">
                <a:solidFill>
                  <a:srgbClr val="0E24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ROI 区域分析</a:t>
            </a:r>
            <a:endParaRPr lang="en-US" sz="1340" dirty="0"/>
          </a:p>
        </p:txBody>
      </p:sp>
      <p:sp>
        <p:nvSpPr>
          <p:cNvPr id="13" name="Text 11"/>
          <p:cNvSpPr/>
          <p:nvPr/>
        </p:nvSpPr>
        <p:spPr>
          <a:xfrm>
            <a:off x="4599432" y="1591056"/>
            <a:ext cx="3054096" cy="3950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自由框选局部区域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ROI 裁剪为新 Bitmap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重新计算局部直方图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输出局部质量判断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支持恢复全图分析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8138160" y="1133856"/>
            <a:ext cx="3383280" cy="4480560"/>
          </a:xfrm>
          <a:prstGeom prst="roundRect">
            <a:avLst>
              <a:gd name="adj" fmla="val 3514"/>
            </a:avLst>
          </a:prstGeom>
          <a:solidFill>
            <a:srgbClr val="FFF4D7"/>
          </a:solidFill>
          <a:ln w="12700">
            <a:solidFill>
              <a:srgbClr val="E8C36A"/>
            </a:solidFill>
            <a:prstDash val="solid"/>
          </a:ln>
          <a:effectLst>
            <a:outerShdw blurRad="12700" dist="50800" dir="2700000" algn="bl" rotWithShape="0">
              <a:srgbClr val="D6E4F3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302752" y="1271016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40" b="1" dirty="0">
                <a:solidFill>
                  <a:srgbClr val="0E24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智能拍摄助手</a:t>
            </a:r>
            <a:endParaRPr lang="en-US" sz="1340" dirty="0"/>
          </a:p>
        </p:txBody>
      </p:sp>
      <p:sp>
        <p:nvSpPr>
          <p:cNvPr id="16" name="Text 14"/>
          <p:cNvSpPr/>
          <p:nvPr/>
        </p:nvSpPr>
        <p:spPr>
          <a:xfrm>
            <a:off x="8302752" y="1591056"/>
            <a:ext cx="3054096" cy="3950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CameraX 实时预览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实时直方图反馈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智能判断当前画面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自动优化曝光/补光灯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用户手动微调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548640" y="6519672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EA2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ImageHistogramAnalyzer · 第十四组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1292840" y="647395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EA2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F6FD0"/>
          </a:solidFill>
          <a:ln w="12700">
            <a:solidFill>
              <a:srgbClr val="2F6FD0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25603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F6F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21792" y="256032"/>
            <a:ext cx="8915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50" b="1" dirty="0">
                <a:solidFill>
                  <a:srgbClr val="0E24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用户操作流程：选图分析与拍摄辅助形成闭环</a:t>
            </a:r>
            <a:endParaRPr lang="en-US" sz="2450" dirty="0"/>
          </a:p>
        </p:txBody>
      </p:sp>
      <p:sp>
        <p:nvSpPr>
          <p:cNvPr id="5" name="Text 3"/>
          <p:cNvSpPr/>
          <p:nvPr/>
        </p:nvSpPr>
        <p:spPr>
          <a:xfrm>
            <a:off x="640080" y="713232"/>
            <a:ext cx="8961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B7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静态路径服务于准确性与性能验证；相机路径服务于实时应用展示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9829800" y="310896"/>
            <a:ext cx="1938528" cy="310896"/>
          </a:xfrm>
          <a:prstGeom prst="roundRect">
            <a:avLst>
              <a:gd name="adj" fmla="val 23529"/>
            </a:avLst>
          </a:prstGeom>
          <a:solidFill>
            <a:srgbClr val="15324B"/>
          </a:solidFill>
          <a:ln w="12700">
            <a:solidFill>
              <a:srgbClr val="15324B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912096" y="379476"/>
            <a:ext cx="1783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主讲：史佳雯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31520" y="1051560"/>
            <a:ext cx="5166360" cy="4800600"/>
          </a:xfrm>
          <a:prstGeom prst="roundRect">
            <a:avLst>
              <a:gd name="adj" fmla="val 2476"/>
            </a:avLst>
          </a:prstGeom>
          <a:solidFill>
            <a:srgbClr val="FFFFFF"/>
          </a:solidFill>
          <a:ln w="12700">
            <a:solidFill>
              <a:srgbClr val="D7E4F2"/>
            </a:solidFill>
            <a:prstDash val="solid"/>
          </a:ln>
          <a:effectLst>
            <a:outerShdw blurRad="12700" dist="50800" dir="2700000" algn="bl" rotWithShape="0">
              <a:srgbClr val="D6E4F3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96112" y="1188720"/>
            <a:ext cx="48371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40" b="1" dirty="0">
                <a:solidFill>
                  <a:srgbClr val="0E24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静态图片路径</a:t>
            </a:r>
            <a:endParaRPr lang="en-US" sz="1340" dirty="0"/>
          </a:p>
        </p:txBody>
      </p:sp>
      <p:sp>
        <p:nvSpPr>
          <p:cNvPr id="10" name="Shape 8"/>
          <p:cNvSpPr/>
          <p:nvPr/>
        </p:nvSpPr>
        <p:spPr>
          <a:xfrm>
            <a:off x="1234440" y="1600200"/>
            <a:ext cx="1325880" cy="438912"/>
          </a:xfrm>
          <a:prstGeom prst="roundRect">
            <a:avLst>
              <a:gd name="adj" fmla="val 22917"/>
            </a:avLst>
          </a:prstGeom>
          <a:solidFill>
            <a:srgbClr val="EAF3FF"/>
          </a:solidFill>
          <a:ln w="12700">
            <a:solidFill>
              <a:srgbClr val="2F6F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98448" y="1691640"/>
            <a:ext cx="1197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E24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首页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1901952" y="2039112"/>
            <a:ext cx="0" cy="219456"/>
          </a:xfrm>
          <a:prstGeom prst="line">
            <a:avLst/>
          </a:prstGeom>
          <a:noFill/>
          <a:ln w="17145">
            <a:solidFill>
              <a:srgbClr val="2F6FD0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2880360" y="1700784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6B7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进入本地处理入口</a:t>
            </a:r>
            <a:endParaRPr lang="en-US" sz="920" dirty="0"/>
          </a:p>
        </p:txBody>
      </p:sp>
      <p:sp>
        <p:nvSpPr>
          <p:cNvPr id="14" name="Shape 12"/>
          <p:cNvSpPr/>
          <p:nvPr/>
        </p:nvSpPr>
        <p:spPr>
          <a:xfrm>
            <a:off x="1234440" y="2313432"/>
            <a:ext cx="1325880" cy="438912"/>
          </a:xfrm>
          <a:prstGeom prst="roundRect">
            <a:avLst>
              <a:gd name="adj" fmla="val 22917"/>
            </a:avLst>
          </a:prstGeom>
          <a:solidFill>
            <a:srgbClr val="EAF3FF"/>
          </a:solidFill>
          <a:ln w="12700">
            <a:solidFill>
              <a:srgbClr val="2F6FD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98448" y="2404872"/>
            <a:ext cx="1197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E24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选择图片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1901952" y="2752344"/>
            <a:ext cx="0" cy="219456"/>
          </a:xfrm>
          <a:prstGeom prst="line">
            <a:avLst/>
          </a:prstGeom>
          <a:noFill/>
          <a:ln w="17145">
            <a:solidFill>
              <a:srgbClr val="2F6FD0"/>
            </a:solidFill>
            <a:prstDash val="solid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2880360" y="2414016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6B7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显示预览、分辨率、像素数</a:t>
            </a:r>
            <a:endParaRPr lang="en-US" sz="920" dirty="0"/>
          </a:p>
        </p:txBody>
      </p:sp>
      <p:sp>
        <p:nvSpPr>
          <p:cNvPr id="18" name="Shape 16"/>
          <p:cNvSpPr/>
          <p:nvPr/>
        </p:nvSpPr>
        <p:spPr>
          <a:xfrm>
            <a:off x="1234440" y="3026664"/>
            <a:ext cx="1325880" cy="438912"/>
          </a:xfrm>
          <a:prstGeom prst="roundRect">
            <a:avLst>
              <a:gd name="adj" fmla="val 22917"/>
            </a:avLst>
          </a:prstGeom>
          <a:solidFill>
            <a:srgbClr val="EAF3FF"/>
          </a:solidFill>
          <a:ln w="12700">
            <a:solidFill>
              <a:srgbClr val="2F6FD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298448" y="3118104"/>
            <a:ext cx="1197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E24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全图 / ROI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1901952" y="3465576"/>
            <a:ext cx="0" cy="219456"/>
          </a:xfrm>
          <a:prstGeom prst="line">
            <a:avLst/>
          </a:prstGeom>
          <a:noFill/>
          <a:ln w="17145">
            <a:solidFill>
              <a:srgbClr val="2F6FD0"/>
            </a:solidFill>
            <a:prstDash val="solid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2880360" y="3127248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6B7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框选区域可作为新图分析</a:t>
            </a:r>
            <a:endParaRPr lang="en-US" sz="920" dirty="0"/>
          </a:p>
        </p:txBody>
      </p:sp>
      <p:sp>
        <p:nvSpPr>
          <p:cNvPr id="22" name="Shape 20"/>
          <p:cNvSpPr/>
          <p:nvPr/>
        </p:nvSpPr>
        <p:spPr>
          <a:xfrm>
            <a:off x="1234440" y="3739896"/>
            <a:ext cx="1325880" cy="438912"/>
          </a:xfrm>
          <a:prstGeom prst="roundRect">
            <a:avLst>
              <a:gd name="adj" fmla="val 22917"/>
            </a:avLst>
          </a:prstGeom>
          <a:solidFill>
            <a:srgbClr val="EAF3FF"/>
          </a:solidFill>
          <a:ln w="12700">
            <a:solidFill>
              <a:srgbClr val="2F6FD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298448" y="3831336"/>
            <a:ext cx="1197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E24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选择方案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1901952" y="4178808"/>
            <a:ext cx="0" cy="219456"/>
          </a:xfrm>
          <a:prstGeom prst="line">
            <a:avLst/>
          </a:prstGeom>
          <a:noFill/>
          <a:ln w="17145">
            <a:solidFill>
              <a:srgbClr val="2F6FD0"/>
            </a:solidFill>
            <a:prstDash val="solid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2880360" y="3840480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6B7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优先灰度化 / 统计时灰度化</a:t>
            </a:r>
            <a:endParaRPr lang="en-US" sz="920" dirty="0"/>
          </a:p>
        </p:txBody>
      </p:sp>
      <p:sp>
        <p:nvSpPr>
          <p:cNvPr id="26" name="Shape 24"/>
          <p:cNvSpPr/>
          <p:nvPr/>
        </p:nvSpPr>
        <p:spPr>
          <a:xfrm>
            <a:off x="1234440" y="4453128"/>
            <a:ext cx="1325880" cy="438912"/>
          </a:xfrm>
          <a:prstGeom prst="roundRect">
            <a:avLst>
              <a:gd name="adj" fmla="val 22917"/>
            </a:avLst>
          </a:prstGeom>
          <a:solidFill>
            <a:srgbClr val="EAF3FF"/>
          </a:solidFill>
          <a:ln w="12700">
            <a:solidFill>
              <a:srgbClr val="2F6FD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298448" y="4544568"/>
            <a:ext cx="1197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E24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直方图 + 判断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2880360" y="455371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6B7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输出灰度、RGB、质量和性能</a:t>
            </a:r>
            <a:endParaRPr lang="en-US" sz="920" dirty="0"/>
          </a:p>
        </p:txBody>
      </p:sp>
      <p:sp>
        <p:nvSpPr>
          <p:cNvPr id="29" name="Shape 27"/>
          <p:cNvSpPr/>
          <p:nvPr/>
        </p:nvSpPr>
        <p:spPr>
          <a:xfrm>
            <a:off x="6263640" y="1051560"/>
            <a:ext cx="5166360" cy="4800600"/>
          </a:xfrm>
          <a:prstGeom prst="roundRect">
            <a:avLst>
              <a:gd name="adj" fmla="val 2476"/>
            </a:avLst>
          </a:prstGeom>
          <a:solidFill>
            <a:srgbClr val="FFFFFF"/>
          </a:solidFill>
          <a:ln w="12700">
            <a:solidFill>
              <a:srgbClr val="D7E4F2"/>
            </a:solidFill>
            <a:prstDash val="solid"/>
          </a:ln>
          <a:effectLst>
            <a:outerShdw blurRad="12700" dist="50800" dir="2700000" algn="bl" rotWithShape="0">
              <a:srgbClr val="D6E4F3">
                <a:alpha val="2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428232" y="1188720"/>
            <a:ext cx="48371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40" b="1" dirty="0">
                <a:solidFill>
                  <a:srgbClr val="0E24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智能拍摄路径</a:t>
            </a:r>
            <a:endParaRPr lang="en-US" sz="1340" dirty="0"/>
          </a:p>
        </p:txBody>
      </p:sp>
      <p:sp>
        <p:nvSpPr>
          <p:cNvPr id="31" name="Shape 29"/>
          <p:cNvSpPr/>
          <p:nvPr/>
        </p:nvSpPr>
        <p:spPr>
          <a:xfrm>
            <a:off x="6766560" y="1600200"/>
            <a:ext cx="1417320" cy="438912"/>
          </a:xfrm>
          <a:prstGeom prst="roundRect">
            <a:avLst>
              <a:gd name="adj" fmla="val 22917"/>
            </a:avLst>
          </a:prstGeom>
          <a:solidFill>
            <a:srgbClr val="EAF7EF"/>
          </a:solidFill>
          <a:ln w="12700">
            <a:solidFill>
              <a:srgbClr val="4DA77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30568" y="1691640"/>
            <a:ext cx="1289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0E24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相机预览</a:t>
            </a:r>
            <a:endParaRPr lang="en-US" sz="920" dirty="0"/>
          </a:p>
        </p:txBody>
      </p:sp>
      <p:sp>
        <p:nvSpPr>
          <p:cNvPr id="33" name="Shape 31"/>
          <p:cNvSpPr/>
          <p:nvPr/>
        </p:nvSpPr>
        <p:spPr>
          <a:xfrm>
            <a:off x="7479792" y="2039112"/>
            <a:ext cx="0" cy="219456"/>
          </a:xfrm>
          <a:prstGeom prst="line">
            <a:avLst/>
          </a:prstGeom>
          <a:noFill/>
          <a:ln w="17145">
            <a:solidFill>
              <a:srgbClr val="4DA77B"/>
            </a:solidFill>
            <a:prstDash val="solid"/>
            <a:tailEnd type="triangle"/>
          </a:ln>
        </p:spPr>
      </p:sp>
      <p:sp>
        <p:nvSpPr>
          <p:cNvPr id="34" name="Text 32"/>
          <p:cNvSpPr/>
          <p:nvPr/>
        </p:nvSpPr>
        <p:spPr>
          <a:xfrm>
            <a:off x="8549640" y="1700784"/>
            <a:ext cx="2468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6B7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CameraX Preview + ImageAnalysis</a:t>
            </a:r>
            <a:endParaRPr lang="en-US" sz="920" dirty="0"/>
          </a:p>
        </p:txBody>
      </p:sp>
      <p:sp>
        <p:nvSpPr>
          <p:cNvPr id="35" name="Shape 33"/>
          <p:cNvSpPr/>
          <p:nvPr/>
        </p:nvSpPr>
        <p:spPr>
          <a:xfrm>
            <a:off x="6766560" y="2313432"/>
            <a:ext cx="1417320" cy="438912"/>
          </a:xfrm>
          <a:prstGeom prst="roundRect">
            <a:avLst>
              <a:gd name="adj" fmla="val 22917"/>
            </a:avLst>
          </a:prstGeom>
          <a:solidFill>
            <a:srgbClr val="EAF7EF"/>
          </a:solidFill>
          <a:ln w="12700">
            <a:solidFill>
              <a:srgbClr val="4DA77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830568" y="2404872"/>
            <a:ext cx="1289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0E24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实时直方图</a:t>
            </a:r>
            <a:endParaRPr lang="en-US" sz="920" dirty="0"/>
          </a:p>
        </p:txBody>
      </p:sp>
      <p:sp>
        <p:nvSpPr>
          <p:cNvPr id="37" name="Shape 35"/>
          <p:cNvSpPr/>
          <p:nvPr/>
        </p:nvSpPr>
        <p:spPr>
          <a:xfrm>
            <a:off x="7479792" y="2752344"/>
            <a:ext cx="0" cy="219456"/>
          </a:xfrm>
          <a:prstGeom prst="line">
            <a:avLst/>
          </a:prstGeom>
          <a:noFill/>
          <a:ln w="17145">
            <a:solidFill>
              <a:srgbClr val="4DA77B"/>
            </a:solidFill>
            <a:prstDash val="solid"/>
            <a:tailEnd type="triangle"/>
          </a:ln>
        </p:spPr>
      </p:sp>
      <p:sp>
        <p:nvSpPr>
          <p:cNvPr id="38" name="Text 36"/>
          <p:cNvSpPr/>
          <p:nvPr/>
        </p:nvSpPr>
        <p:spPr>
          <a:xfrm>
            <a:off x="8549640" y="2414016"/>
            <a:ext cx="2468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6B7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周期性计算亮度与曝光指标</a:t>
            </a:r>
            <a:endParaRPr lang="en-US" sz="920" dirty="0"/>
          </a:p>
        </p:txBody>
      </p:sp>
      <p:sp>
        <p:nvSpPr>
          <p:cNvPr id="39" name="Shape 37"/>
          <p:cNvSpPr/>
          <p:nvPr/>
        </p:nvSpPr>
        <p:spPr>
          <a:xfrm>
            <a:off x="6766560" y="3026664"/>
            <a:ext cx="1417320" cy="438912"/>
          </a:xfrm>
          <a:prstGeom prst="roundRect">
            <a:avLst>
              <a:gd name="adj" fmla="val 22917"/>
            </a:avLst>
          </a:prstGeom>
          <a:solidFill>
            <a:srgbClr val="EAF7EF"/>
          </a:solidFill>
          <a:ln w="12700">
            <a:solidFill>
              <a:srgbClr val="4DA77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830568" y="3118104"/>
            <a:ext cx="1289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0E24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智能判断</a:t>
            </a:r>
            <a:endParaRPr lang="en-US" sz="920" dirty="0"/>
          </a:p>
        </p:txBody>
      </p:sp>
      <p:sp>
        <p:nvSpPr>
          <p:cNvPr id="41" name="Shape 39"/>
          <p:cNvSpPr/>
          <p:nvPr/>
        </p:nvSpPr>
        <p:spPr>
          <a:xfrm>
            <a:off x="7479792" y="3465576"/>
            <a:ext cx="0" cy="219456"/>
          </a:xfrm>
          <a:prstGeom prst="line">
            <a:avLst/>
          </a:prstGeom>
          <a:noFill/>
          <a:ln w="17145">
            <a:solidFill>
              <a:srgbClr val="4DA77B"/>
            </a:solidFill>
            <a:prstDash val="solid"/>
            <a:tailEnd type="triangle"/>
          </a:ln>
        </p:spPr>
      </p:sp>
      <p:sp>
        <p:nvSpPr>
          <p:cNvPr id="42" name="Text 40"/>
          <p:cNvSpPr/>
          <p:nvPr/>
        </p:nvSpPr>
        <p:spPr>
          <a:xfrm>
            <a:off x="8549640" y="3127248"/>
            <a:ext cx="2468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6B7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本地规则生成建议</a:t>
            </a:r>
            <a:endParaRPr lang="en-US" sz="920" dirty="0"/>
          </a:p>
        </p:txBody>
      </p:sp>
      <p:sp>
        <p:nvSpPr>
          <p:cNvPr id="43" name="Shape 41"/>
          <p:cNvSpPr/>
          <p:nvPr/>
        </p:nvSpPr>
        <p:spPr>
          <a:xfrm>
            <a:off x="6766560" y="3739896"/>
            <a:ext cx="1417320" cy="438912"/>
          </a:xfrm>
          <a:prstGeom prst="roundRect">
            <a:avLst>
              <a:gd name="adj" fmla="val 22917"/>
            </a:avLst>
          </a:prstGeom>
          <a:solidFill>
            <a:srgbClr val="EAF7EF"/>
          </a:solidFill>
          <a:ln w="12700">
            <a:solidFill>
              <a:srgbClr val="4DA77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830568" y="3831336"/>
            <a:ext cx="1289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0E24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一键优化</a:t>
            </a:r>
            <a:endParaRPr lang="en-US" sz="920" dirty="0"/>
          </a:p>
        </p:txBody>
      </p:sp>
      <p:sp>
        <p:nvSpPr>
          <p:cNvPr id="45" name="Shape 43"/>
          <p:cNvSpPr/>
          <p:nvPr/>
        </p:nvSpPr>
        <p:spPr>
          <a:xfrm>
            <a:off x="7479792" y="4178808"/>
            <a:ext cx="0" cy="219456"/>
          </a:xfrm>
          <a:prstGeom prst="line">
            <a:avLst/>
          </a:prstGeom>
          <a:noFill/>
          <a:ln w="17145">
            <a:solidFill>
              <a:srgbClr val="4DA77B"/>
            </a:solidFill>
            <a:prstDash val="solid"/>
            <a:tailEnd type="triangle"/>
          </a:ln>
        </p:spPr>
      </p:sp>
      <p:sp>
        <p:nvSpPr>
          <p:cNvPr id="46" name="Text 44"/>
          <p:cNvSpPr/>
          <p:nvPr/>
        </p:nvSpPr>
        <p:spPr>
          <a:xfrm>
            <a:off x="8549640" y="3840480"/>
            <a:ext cx="2468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6B7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调整曝光补偿与补光灯</a:t>
            </a:r>
            <a:endParaRPr lang="en-US" sz="920" dirty="0"/>
          </a:p>
        </p:txBody>
      </p:sp>
      <p:sp>
        <p:nvSpPr>
          <p:cNvPr id="47" name="Shape 45"/>
          <p:cNvSpPr/>
          <p:nvPr/>
        </p:nvSpPr>
        <p:spPr>
          <a:xfrm>
            <a:off x="6766560" y="4453128"/>
            <a:ext cx="1417320" cy="438912"/>
          </a:xfrm>
          <a:prstGeom prst="roundRect">
            <a:avLst>
              <a:gd name="adj" fmla="val 22917"/>
            </a:avLst>
          </a:prstGeom>
          <a:solidFill>
            <a:srgbClr val="EAF7EF"/>
          </a:solidFill>
          <a:ln w="12700">
            <a:solidFill>
              <a:srgbClr val="4DA77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830568" y="4544568"/>
            <a:ext cx="1289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0E24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手动微调 / 拍照</a:t>
            </a:r>
            <a:endParaRPr lang="en-US" sz="920" dirty="0"/>
          </a:p>
        </p:txBody>
      </p:sp>
      <p:sp>
        <p:nvSpPr>
          <p:cNvPr id="49" name="Text 47"/>
          <p:cNvSpPr/>
          <p:nvPr/>
        </p:nvSpPr>
        <p:spPr>
          <a:xfrm>
            <a:off x="8549640" y="4553712"/>
            <a:ext cx="2468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6B7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用户保留最终控制权</a:t>
            </a:r>
            <a:endParaRPr lang="en-US" sz="920" dirty="0"/>
          </a:p>
        </p:txBody>
      </p:sp>
      <p:sp>
        <p:nvSpPr>
          <p:cNvPr id="50" name="Text 48"/>
          <p:cNvSpPr/>
          <p:nvPr/>
        </p:nvSpPr>
        <p:spPr>
          <a:xfrm>
            <a:off x="548640" y="6519672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EA2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ImageHistogramAnalyzer · 第十四组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11292840" y="647395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EA2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F6FD0"/>
          </a:solidFill>
          <a:ln w="12700">
            <a:solidFill>
              <a:srgbClr val="2F6FD0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25603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F6F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21792" y="256032"/>
            <a:ext cx="8915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50" b="1" dirty="0">
                <a:solidFill>
                  <a:srgbClr val="0E24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系统架构与模块分层：算法、UI、相机职责解耦</a:t>
            </a:r>
            <a:endParaRPr lang="en-US" sz="2450" dirty="0"/>
          </a:p>
        </p:txBody>
      </p:sp>
      <p:sp>
        <p:nvSpPr>
          <p:cNvPr id="5" name="Text 3"/>
          <p:cNvSpPr/>
          <p:nvPr/>
        </p:nvSpPr>
        <p:spPr>
          <a:xfrm>
            <a:off x="640080" y="713232"/>
            <a:ext cx="8961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B7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MainActivity 只作为入口，核心算法不写在 Compose 或 Canvas 中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9829800" y="310896"/>
            <a:ext cx="1938528" cy="310896"/>
          </a:xfrm>
          <a:prstGeom prst="roundRect">
            <a:avLst>
              <a:gd name="adj" fmla="val 23529"/>
            </a:avLst>
          </a:prstGeom>
          <a:solidFill>
            <a:srgbClr val="15324B"/>
          </a:solidFill>
          <a:ln w="12700">
            <a:solidFill>
              <a:srgbClr val="15324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Text 5"/>
          <p:cNvSpPr/>
          <p:nvPr/>
        </p:nvSpPr>
        <p:spPr>
          <a:xfrm>
            <a:off x="9912096" y="379476"/>
            <a:ext cx="1783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主讲：张栋皓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96112" y="1097280"/>
            <a:ext cx="1417320" cy="512064"/>
          </a:xfrm>
          <a:prstGeom prst="roundRect">
            <a:avLst>
              <a:gd name="adj" fmla="val 19643"/>
            </a:avLst>
          </a:prstGeom>
          <a:solidFill>
            <a:srgbClr val="EAF3FF"/>
          </a:solidFill>
          <a:ln w="12700">
            <a:solidFill>
              <a:srgbClr val="2F6F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1188720"/>
            <a:ext cx="1289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E24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UI 层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697480" y="1097280"/>
            <a:ext cx="8183880" cy="512064"/>
          </a:xfrm>
          <a:prstGeom prst="roundRect">
            <a:avLst>
              <a:gd name="adj" fmla="val 19643"/>
            </a:avLst>
          </a:prstGeom>
          <a:solidFill>
            <a:srgbClr val="EAF3FF"/>
          </a:solidFill>
          <a:ln w="12700">
            <a:solidFill>
              <a:srgbClr val="2F6F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61488" y="1188720"/>
            <a:ext cx="8055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0E24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Home / Analyzer / ROI / Camera / Component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784848" y="1609344"/>
            <a:ext cx="0" cy="201168"/>
          </a:xfrm>
          <a:prstGeom prst="line">
            <a:avLst/>
          </a:prstGeom>
          <a:noFill/>
          <a:ln w="13970">
            <a:solidFill>
              <a:srgbClr val="2F6FD0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896112" y="1856232"/>
            <a:ext cx="1417320" cy="512064"/>
          </a:xfrm>
          <a:prstGeom prst="roundRect">
            <a:avLst>
              <a:gd name="adj" fmla="val 19643"/>
            </a:avLst>
          </a:prstGeom>
          <a:solidFill>
            <a:srgbClr val="EAF7EF"/>
          </a:solidFill>
          <a:ln w="12700">
            <a:solidFill>
              <a:srgbClr val="4DA77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" y="1947672"/>
            <a:ext cx="1289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E24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状态层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697480" y="1856232"/>
            <a:ext cx="8183880" cy="512064"/>
          </a:xfrm>
          <a:prstGeom prst="roundRect">
            <a:avLst>
              <a:gd name="adj" fmla="val 19643"/>
            </a:avLst>
          </a:prstGeom>
          <a:solidFill>
            <a:srgbClr val="EAF7EF"/>
          </a:solidFill>
          <a:ln w="12700">
            <a:solidFill>
              <a:srgbClr val="4DA77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61488" y="1947672"/>
            <a:ext cx="8055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0E24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AnalyzerViewModel / CameraAssistantViewModel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784848" y="2368296"/>
            <a:ext cx="0" cy="201168"/>
          </a:xfrm>
          <a:prstGeom prst="line">
            <a:avLst/>
          </a:prstGeom>
          <a:noFill/>
          <a:ln w="13970">
            <a:solidFill>
              <a:srgbClr val="4DA77B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896112" y="2615184"/>
            <a:ext cx="1417320" cy="512064"/>
          </a:xfrm>
          <a:prstGeom prst="roundRect">
            <a:avLst>
              <a:gd name="adj" fmla="val 19643"/>
            </a:avLst>
          </a:prstGeom>
          <a:solidFill>
            <a:srgbClr val="FFF4D7"/>
          </a:solidFill>
          <a:ln w="12700">
            <a:solidFill>
              <a:srgbClr val="F2B84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0120" y="2706624"/>
            <a:ext cx="1289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E24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领域层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697480" y="2615184"/>
            <a:ext cx="8183880" cy="512064"/>
          </a:xfrm>
          <a:prstGeom prst="roundRect">
            <a:avLst>
              <a:gd name="adj" fmla="val 19643"/>
            </a:avLst>
          </a:prstGeom>
          <a:solidFill>
            <a:srgbClr val="FFF4D7"/>
          </a:solidFill>
          <a:ln w="12700">
            <a:solidFill>
              <a:srgbClr val="F2B84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61488" y="2706624"/>
            <a:ext cx="8055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0E24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Histogram / Quality / Color / Insight / ROI / PhotoCoach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784848" y="3127248"/>
            <a:ext cx="0" cy="201168"/>
          </a:xfrm>
          <a:prstGeom prst="line">
            <a:avLst/>
          </a:prstGeom>
          <a:noFill/>
          <a:ln w="13970">
            <a:solidFill>
              <a:srgbClr val="F2B84B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896112" y="3374136"/>
            <a:ext cx="1417320" cy="512064"/>
          </a:xfrm>
          <a:prstGeom prst="roundRect">
            <a:avLst>
              <a:gd name="adj" fmla="val 19643"/>
            </a:avLst>
          </a:prstGeom>
          <a:solidFill>
            <a:srgbClr val="F1F6FB"/>
          </a:solidFill>
          <a:ln w="12700">
            <a:solidFill>
              <a:srgbClr val="7B90A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60120" y="3465576"/>
            <a:ext cx="1289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E24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数据与设备层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697480" y="3374136"/>
            <a:ext cx="8183880" cy="512064"/>
          </a:xfrm>
          <a:prstGeom prst="roundRect">
            <a:avLst>
              <a:gd name="adj" fmla="val 19643"/>
            </a:avLst>
          </a:prstGeom>
          <a:solidFill>
            <a:srgbClr val="F1F6FB"/>
          </a:solidFill>
          <a:ln w="12700">
            <a:solidFill>
              <a:srgbClr val="7B90A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61488" y="3465576"/>
            <a:ext cx="8055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0E24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ContentResolver / Bitmap / CameraX / ImageCapture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784848" y="3886200"/>
            <a:ext cx="0" cy="201168"/>
          </a:xfrm>
          <a:prstGeom prst="line">
            <a:avLst/>
          </a:prstGeom>
          <a:noFill/>
          <a:ln w="13970">
            <a:solidFill>
              <a:srgbClr val="7B90A8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896112" y="4133088"/>
            <a:ext cx="1417320" cy="512064"/>
          </a:xfrm>
          <a:prstGeom prst="roundRect">
            <a:avLst>
              <a:gd name="adj" fmla="val 19643"/>
            </a:avLst>
          </a:prstGeom>
          <a:solidFill>
            <a:srgbClr val="EDE7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60120" y="4224528"/>
            <a:ext cx="1289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E24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Native 层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697480" y="4133088"/>
            <a:ext cx="8183880" cy="512064"/>
          </a:xfrm>
          <a:prstGeom prst="roundRect">
            <a:avLst>
              <a:gd name="adj" fmla="val 19643"/>
            </a:avLst>
          </a:prstGeom>
          <a:solidFill>
            <a:srgbClr val="EDE7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61488" y="4224528"/>
            <a:ext cx="8055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0E24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JNI Bridge / AndroidBitmap_lockPixels / C++ 多线程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896112" y="5349240"/>
            <a:ext cx="9966960" cy="658368"/>
          </a:xfrm>
          <a:prstGeom prst="roundRect">
            <a:avLst>
              <a:gd name="adj" fmla="val 18056"/>
            </a:avLst>
          </a:prstGeom>
          <a:solidFill>
            <a:srgbClr val="FFFFFF"/>
          </a:solidFill>
          <a:ln w="12700">
            <a:solidFill>
              <a:srgbClr val="BFD5E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60704" y="5486400"/>
            <a:ext cx="96377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40" b="1" dirty="0">
                <a:solidFill>
                  <a:srgbClr val="0E24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设计原则</a:t>
            </a:r>
            <a:endParaRPr lang="en-US" sz="1340" dirty="0"/>
          </a:p>
        </p:txBody>
      </p:sp>
      <p:sp>
        <p:nvSpPr>
          <p:cNvPr id="34" name="Text 32"/>
          <p:cNvSpPr/>
          <p:nvPr/>
        </p:nvSpPr>
        <p:spPr>
          <a:xfrm>
            <a:off x="1060704" y="5806440"/>
            <a:ext cx="96377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状态向下、事件向上；图像解码和算法计算放后台；UI 只消费结果数据并绘制可视化。</a:t>
            </a:r>
            <a:endParaRPr lang="en-US" sz="1080" dirty="0"/>
          </a:p>
        </p:txBody>
      </p:sp>
      <p:sp>
        <p:nvSpPr>
          <p:cNvPr id="35" name="Text 33"/>
          <p:cNvSpPr/>
          <p:nvPr/>
        </p:nvSpPr>
        <p:spPr>
          <a:xfrm>
            <a:off x="548640" y="6519672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EA2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ImageHistogramAnalyzer · 第十四组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11292840" y="647395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EA2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F6FD0"/>
          </a:solidFill>
          <a:ln w="12700">
            <a:solidFill>
              <a:srgbClr val="2F6FD0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25603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F6F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21792" y="256032"/>
            <a:ext cx="8915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50" b="1" dirty="0">
                <a:solidFill>
                  <a:srgbClr val="0E24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双方案核心算法：保留流程差异，统一数学规则</a:t>
            </a:r>
            <a:endParaRPr lang="en-US" sz="2450" dirty="0"/>
          </a:p>
        </p:txBody>
      </p:sp>
      <p:sp>
        <p:nvSpPr>
          <p:cNvPr id="5" name="Text 3"/>
          <p:cNvSpPr/>
          <p:nvPr/>
        </p:nvSpPr>
        <p:spPr>
          <a:xfrm>
            <a:off x="640080" y="713232"/>
            <a:ext cx="8961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B7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差异在处理顺序，不能以改变结果换速度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9829800" y="310896"/>
            <a:ext cx="1938528" cy="310896"/>
          </a:xfrm>
          <a:prstGeom prst="roundRect">
            <a:avLst>
              <a:gd name="adj" fmla="val 23529"/>
            </a:avLst>
          </a:prstGeom>
          <a:solidFill>
            <a:srgbClr val="15324B"/>
          </a:solidFill>
          <a:ln w="12700">
            <a:solidFill>
              <a:srgbClr val="15324B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912096" y="379476"/>
            <a:ext cx="1783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algn="ctr"/>
            <a:r>
              <a:rPr lang="en-US" sz="1000" b="1" dirty="0" err="1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主讲</a:t>
            </a: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</a:t>
            </a:r>
            <a:r>
              <a:rPr lang="en-US" altLang="zh-CN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altLang="zh-CN" sz="1000" b="1" dirty="0" err="1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张栋皓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31520" y="1024128"/>
            <a:ext cx="3291840" cy="3291840"/>
          </a:xfrm>
          <a:prstGeom prst="roundRect">
            <a:avLst>
              <a:gd name="adj" fmla="val 3611"/>
            </a:avLst>
          </a:prstGeom>
          <a:solidFill>
            <a:srgbClr val="EAF3FF"/>
          </a:solidFill>
          <a:ln w="12700">
            <a:solidFill>
              <a:srgbClr val="A8C7ED"/>
            </a:solidFill>
            <a:prstDash val="solid"/>
          </a:ln>
          <a:effectLst>
            <a:outerShdw blurRad="12700" dist="50800" dir="2700000" algn="bl" rotWithShape="0">
              <a:srgbClr val="D6E4F3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96112" y="1161288"/>
            <a:ext cx="29626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40" b="1" dirty="0">
                <a:solidFill>
                  <a:srgbClr val="0E24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方案一：优先灰度化</a:t>
            </a:r>
            <a:endParaRPr lang="en-US" sz="1340" dirty="0"/>
          </a:p>
        </p:txBody>
      </p:sp>
      <p:sp>
        <p:nvSpPr>
          <p:cNvPr id="10" name="Text 8"/>
          <p:cNvSpPr/>
          <p:nvPr/>
        </p:nvSpPr>
        <p:spPr>
          <a:xfrm>
            <a:off x="896112" y="1481328"/>
            <a:ext cx="2962656" cy="276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彩色像素</a:t>
            </a:r>
            <a:endParaRPr lang="en-US" sz="1130" dirty="0"/>
          </a:p>
          <a:p>
            <a:pPr marL="0" indent="0">
              <a:buNone/>
            </a:pPr>
            <a:r>
              <a:rPr lang="en-US" sz="113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↓</a:t>
            </a:r>
            <a:endParaRPr lang="en-US" sz="1130" dirty="0"/>
          </a:p>
          <a:p>
            <a:pPr marL="0" indent="0">
              <a:buNone/>
            </a:pPr>
            <a:r>
              <a:rPr lang="en-US" sz="113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生成完整灰度缓冲</a:t>
            </a:r>
            <a:endParaRPr lang="en-US" sz="1130" dirty="0"/>
          </a:p>
          <a:p>
            <a:pPr marL="0" indent="0">
              <a:buNone/>
            </a:pPr>
            <a:r>
              <a:rPr lang="en-US" sz="113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↓</a:t>
            </a:r>
            <a:endParaRPr lang="en-US" sz="1130" dirty="0"/>
          </a:p>
          <a:p>
            <a:pPr marL="0" indent="0">
              <a:buNone/>
            </a:pPr>
            <a:r>
              <a:rPr lang="en-US" sz="113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统计 256-bin</a:t>
            </a:r>
            <a:endParaRPr lang="en-US" sz="1130" dirty="0"/>
          </a:p>
          <a:p>
            <a:pPr marL="0" indent="0">
              <a:buNone/>
            </a:pPr>
            <a:r>
              <a:rPr lang="en-US" sz="113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↓</a:t>
            </a:r>
            <a:endParaRPr lang="en-US" sz="1130" dirty="0"/>
          </a:p>
          <a:p>
            <a:pPr marL="0" indent="0">
              <a:buNone/>
            </a:pPr>
            <a:r>
              <a:rPr lang="en-US" sz="113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0–100 归一化</a:t>
            </a:r>
            <a:endParaRPr lang="en-US" sz="1130" dirty="0"/>
          </a:p>
          <a:p>
            <a:pPr marL="0" indent="0">
              <a:buNone/>
            </a:pPr>
            <a:r>
              <a:rPr lang="en-US" sz="113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↓</a:t>
            </a:r>
            <a:endParaRPr lang="en-US" sz="1130" dirty="0"/>
          </a:p>
          <a:p>
            <a:pPr marL="0" indent="0">
              <a:buNone/>
            </a:pPr>
            <a:r>
              <a:rPr lang="en-US" sz="113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绘制直方图</a:t>
            </a:r>
            <a:endParaRPr lang="en-US" sz="1130" dirty="0"/>
          </a:p>
        </p:txBody>
      </p:sp>
      <p:sp>
        <p:nvSpPr>
          <p:cNvPr id="11" name="Shape 9"/>
          <p:cNvSpPr/>
          <p:nvPr/>
        </p:nvSpPr>
        <p:spPr>
          <a:xfrm>
            <a:off x="4434840" y="1024128"/>
            <a:ext cx="3291840" cy="3291840"/>
          </a:xfrm>
          <a:prstGeom prst="roundRect">
            <a:avLst>
              <a:gd name="adj" fmla="val 3611"/>
            </a:avLst>
          </a:prstGeom>
          <a:solidFill>
            <a:srgbClr val="EAF7EF"/>
          </a:solidFill>
          <a:ln w="12700">
            <a:solidFill>
              <a:srgbClr val="A4D7B7"/>
            </a:solidFill>
            <a:prstDash val="solid"/>
          </a:ln>
          <a:effectLst>
            <a:outerShdw blurRad="12700" dist="50800" dir="2700000" algn="bl" rotWithShape="0">
              <a:srgbClr val="D6E4F3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99432" y="1161288"/>
            <a:ext cx="29626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40" b="1" dirty="0">
                <a:solidFill>
                  <a:srgbClr val="0E24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方案二：统计时灰度化</a:t>
            </a:r>
            <a:endParaRPr lang="en-US" sz="1340" dirty="0"/>
          </a:p>
        </p:txBody>
      </p:sp>
      <p:sp>
        <p:nvSpPr>
          <p:cNvPr id="13" name="Text 11"/>
          <p:cNvSpPr/>
          <p:nvPr/>
        </p:nvSpPr>
        <p:spPr>
          <a:xfrm>
            <a:off x="4599432" y="1481328"/>
            <a:ext cx="2962656" cy="276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彩色像素</a:t>
            </a:r>
            <a:endParaRPr lang="en-US" sz="1130" dirty="0"/>
          </a:p>
          <a:p>
            <a:pPr marL="0" indent="0">
              <a:buNone/>
            </a:pPr>
            <a:r>
              <a:rPr lang="en-US" sz="113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↓</a:t>
            </a:r>
            <a:endParaRPr lang="en-US" sz="1130" dirty="0"/>
          </a:p>
          <a:p>
            <a:pPr marL="0" indent="0">
              <a:buNone/>
            </a:pPr>
            <a:r>
              <a:rPr lang="en-US" sz="113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同一遍历中完成</a:t>
            </a:r>
            <a:endParaRPr lang="en-US" sz="1130" dirty="0"/>
          </a:p>
          <a:p>
            <a:pPr marL="0" indent="0">
              <a:buNone/>
            </a:pPr>
            <a:r>
              <a:rPr lang="en-US" sz="113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灰度转换与频次累计</a:t>
            </a:r>
            <a:endParaRPr lang="en-US" sz="1130" dirty="0"/>
          </a:p>
          <a:p>
            <a:pPr marL="0" indent="0">
              <a:buNone/>
            </a:pPr>
            <a:r>
              <a:rPr lang="en-US" sz="113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↓</a:t>
            </a:r>
            <a:endParaRPr lang="en-US" sz="1130" dirty="0"/>
          </a:p>
          <a:p>
            <a:pPr marL="0" indent="0">
              <a:buNone/>
            </a:pPr>
            <a:r>
              <a:rPr lang="en-US" sz="113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0–100 归一化</a:t>
            </a:r>
            <a:endParaRPr lang="en-US" sz="1130" dirty="0"/>
          </a:p>
          <a:p>
            <a:pPr marL="0" indent="0">
              <a:buNone/>
            </a:pPr>
            <a:r>
              <a:rPr lang="en-US" sz="113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↓</a:t>
            </a:r>
            <a:endParaRPr lang="en-US" sz="1130" dirty="0"/>
          </a:p>
          <a:p>
            <a:pPr marL="0" indent="0">
              <a:buNone/>
            </a:pPr>
            <a:r>
              <a:rPr lang="en-US" sz="113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绘制直方图</a:t>
            </a:r>
            <a:endParaRPr lang="en-US" sz="1130" dirty="0"/>
          </a:p>
        </p:txBody>
      </p:sp>
      <p:sp>
        <p:nvSpPr>
          <p:cNvPr id="14" name="Shape 12"/>
          <p:cNvSpPr/>
          <p:nvPr/>
        </p:nvSpPr>
        <p:spPr>
          <a:xfrm>
            <a:off x="8138160" y="1024128"/>
            <a:ext cx="3200400" cy="3291840"/>
          </a:xfrm>
          <a:prstGeom prst="roundRect">
            <a:avLst>
              <a:gd name="adj" fmla="val 3714"/>
            </a:avLst>
          </a:prstGeom>
          <a:solidFill>
            <a:srgbClr val="FFF4D7"/>
          </a:solidFill>
          <a:ln w="12700">
            <a:solidFill>
              <a:srgbClr val="E8C36A"/>
            </a:solidFill>
            <a:prstDash val="solid"/>
          </a:ln>
          <a:effectLst>
            <a:outerShdw blurRad="12700" dist="50800" dir="2700000" algn="bl" rotWithShape="0">
              <a:srgbClr val="D6E4F3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302752" y="1161288"/>
            <a:ext cx="2871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40" b="1" dirty="0">
                <a:solidFill>
                  <a:srgbClr val="0E24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统一规范</a:t>
            </a:r>
            <a:endParaRPr lang="en-US" sz="1340" dirty="0"/>
          </a:p>
        </p:txBody>
      </p:sp>
      <p:sp>
        <p:nvSpPr>
          <p:cNvPr id="16" name="Text 14"/>
          <p:cNvSpPr/>
          <p:nvPr/>
        </p:nvSpPr>
        <p:spPr>
          <a:xfrm>
            <a:off x="8302752" y="1481328"/>
            <a:ext cx="2871216" cy="276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gray = 0.299R + 0.587G + 0.114B</a:t>
            </a:r>
            <a:endParaRPr lang="en-US" sz="1080" dirty="0"/>
          </a:p>
          <a:p>
            <a:pPr marL="0" indent="0">
              <a:buNone/>
            </a:pP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输出范围 0..255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频次数组长度 256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最高频次映射为 100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两方案逐 bin 一致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Kotlin / Native 规则一致</a:t>
            </a:r>
            <a:endParaRPr lang="en-US" sz="1080" dirty="0"/>
          </a:p>
        </p:txBody>
      </p:sp>
      <p:sp>
        <p:nvSpPr>
          <p:cNvPr id="17" name="Shape 15"/>
          <p:cNvSpPr/>
          <p:nvPr/>
        </p:nvSpPr>
        <p:spPr>
          <a:xfrm>
            <a:off x="1005840" y="4965192"/>
            <a:ext cx="10241280" cy="749808"/>
          </a:xfrm>
          <a:prstGeom prst="roundRect">
            <a:avLst>
              <a:gd name="adj" fmla="val 18293"/>
            </a:avLst>
          </a:prstGeom>
          <a:solidFill>
            <a:srgbClr val="15324B"/>
          </a:solidFill>
          <a:ln w="12700">
            <a:solidFill>
              <a:srgbClr val="15324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34440" y="5230368"/>
            <a:ext cx="9784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正确性底线：只要 256-bin 结果不一致，任何加速结论都不能成立。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548640" y="6519672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EA2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ImageHistogramAnalyzer · 第十四组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1292840" y="647395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EA2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F6FD0"/>
          </a:solidFill>
          <a:ln w="12700">
            <a:solidFill>
              <a:srgbClr val="2F6FD0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25603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F6F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21792" y="256032"/>
            <a:ext cx="8915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50" b="1" dirty="0">
                <a:solidFill>
                  <a:srgbClr val="0E24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性能优化演进：从减少调用开销到 Native 直接读像素</a:t>
            </a:r>
            <a:endParaRPr lang="en-US" sz="2450" dirty="0"/>
          </a:p>
        </p:txBody>
      </p:sp>
      <p:sp>
        <p:nvSpPr>
          <p:cNvPr id="5" name="Text 3"/>
          <p:cNvSpPr/>
          <p:nvPr/>
        </p:nvSpPr>
        <p:spPr>
          <a:xfrm>
            <a:off x="640080" y="713232"/>
            <a:ext cx="8961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B7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核心优化是取消整图 Java 数组复制并降低热循环成本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9829800" y="310896"/>
            <a:ext cx="1938528" cy="310896"/>
          </a:xfrm>
          <a:prstGeom prst="roundRect">
            <a:avLst>
              <a:gd name="adj" fmla="val 23529"/>
            </a:avLst>
          </a:prstGeom>
          <a:solidFill>
            <a:srgbClr val="15324B"/>
          </a:solidFill>
          <a:ln w="12700">
            <a:solidFill>
              <a:srgbClr val="15324B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912096" y="379476"/>
            <a:ext cx="1783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主讲：杨清洁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85800" y="1024128"/>
            <a:ext cx="5943600" cy="4434840"/>
          </a:xfrm>
          <a:prstGeom prst="roundRect">
            <a:avLst>
              <a:gd name="adj" fmla="val 2680"/>
            </a:avLst>
          </a:prstGeom>
          <a:solidFill>
            <a:srgbClr val="FFFFFF"/>
          </a:solidFill>
          <a:ln w="12700">
            <a:solidFill>
              <a:srgbClr val="D7E4F2"/>
            </a:solidFill>
            <a:prstDash val="solid"/>
          </a:ln>
          <a:effectLst>
            <a:outerShdw blurRad="12700" dist="50800" dir="2700000" algn="bl" rotWithShape="0">
              <a:srgbClr val="D6E4F3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50392" y="1161288"/>
            <a:ext cx="5614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40" b="1" dirty="0">
                <a:solidFill>
                  <a:srgbClr val="0E24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12.58MP 样本核心耗时（ms）</a:t>
            </a:r>
            <a:endParaRPr lang="en-US" sz="1340" dirty="0"/>
          </a:p>
        </p:txBody>
      </p:sp>
      <p:sp>
        <p:nvSpPr>
          <p:cNvPr id="10" name="Shape 8"/>
          <p:cNvSpPr/>
          <p:nvPr/>
        </p:nvSpPr>
        <p:spPr>
          <a:xfrm>
            <a:off x="1097280" y="4672584"/>
            <a:ext cx="5166360" cy="0"/>
          </a:xfrm>
          <a:prstGeom prst="line">
            <a:avLst/>
          </a:prstGeom>
          <a:noFill/>
          <a:ln w="12700">
            <a:solidFill>
              <a:srgbClr val="CBD9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97280" y="1682496"/>
            <a:ext cx="0" cy="2990088"/>
          </a:xfrm>
          <a:prstGeom prst="line">
            <a:avLst/>
          </a:prstGeom>
          <a:noFill/>
          <a:ln w="12700">
            <a:solidFill>
              <a:srgbClr val="CBD9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613916" y="1851934"/>
            <a:ext cx="292760" cy="2820650"/>
          </a:xfrm>
          <a:prstGeom prst="rect">
            <a:avLst/>
          </a:prstGeom>
          <a:solidFill>
            <a:srgbClr val="2F6FD0"/>
          </a:solidFill>
          <a:ln w="12700">
            <a:solidFill>
              <a:srgbClr val="2F6FD0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961540" y="2073201"/>
            <a:ext cx="292760" cy="2599383"/>
          </a:xfrm>
          <a:prstGeom prst="rect">
            <a:avLst/>
          </a:prstGeom>
          <a:solidFill>
            <a:srgbClr val="F2B84B"/>
          </a:solidFill>
          <a:ln w="12700">
            <a:solidFill>
              <a:srgbClr val="F2B84B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97280" y="4745736"/>
            <a:ext cx="1722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v1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336036" y="3125712"/>
            <a:ext cx="292760" cy="1546872"/>
          </a:xfrm>
          <a:prstGeom prst="rect">
            <a:avLst/>
          </a:prstGeom>
          <a:solidFill>
            <a:srgbClr val="2F6FD0"/>
          </a:solidFill>
          <a:ln w="12700">
            <a:solidFill>
              <a:srgbClr val="2F6FD0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83660" y="3329038"/>
            <a:ext cx="292760" cy="1343546"/>
          </a:xfrm>
          <a:prstGeom prst="rect">
            <a:avLst/>
          </a:prstGeom>
          <a:solidFill>
            <a:srgbClr val="F2B84B"/>
          </a:solidFill>
          <a:ln w="12700">
            <a:solidFill>
              <a:srgbClr val="F2B84B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819400" y="4745736"/>
            <a:ext cx="1722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v2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058156" y="4558961"/>
            <a:ext cx="292760" cy="113623"/>
          </a:xfrm>
          <a:prstGeom prst="rect">
            <a:avLst/>
          </a:prstGeom>
          <a:solidFill>
            <a:srgbClr val="2F6FD0"/>
          </a:solidFill>
          <a:ln w="12700">
            <a:solidFill>
              <a:srgbClr val="2F6FD0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05780" y="4628729"/>
            <a:ext cx="292760" cy="43855"/>
          </a:xfrm>
          <a:prstGeom prst="rect">
            <a:avLst/>
          </a:prstGeom>
          <a:solidFill>
            <a:srgbClr val="F2B84B"/>
          </a:solidFill>
          <a:ln w="12700">
            <a:solidFill>
              <a:srgbClr val="F2B84B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41520" y="4745736"/>
            <a:ext cx="1722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v3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1188720" y="5184648"/>
            <a:ext cx="118872" cy="73152"/>
          </a:xfrm>
          <a:prstGeom prst="rect">
            <a:avLst/>
          </a:prstGeom>
          <a:solidFill>
            <a:srgbClr val="2F6FD0"/>
          </a:solidFill>
          <a:ln w="12700">
            <a:solidFill>
              <a:srgbClr val="2F6FD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362456" y="5148072"/>
            <a:ext cx="1188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优先灰度化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651760" y="5184648"/>
            <a:ext cx="118872" cy="73152"/>
          </a:xfrm>
          <a:prstGeom prst="rect">
            <a:avLst/>
          </a:prstGeom>
          <a:solidFill>
            <a:srgbClr val="F2B84B"/>
          </a:solidFill>
          <a:ln w="12700">
            <a:solidFill>
              <a:srgbClr val="F2B84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825496" y="5148072"/>
            <a:ext cx="12801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统计时灰度化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995160" y="1024128"/>
            <a:ext cx="4343400" cy="4434840"/>
          </a:xfrm>
          <a:prstGeom prst="roundRect">
            <a:avLst>
              <a:gd name="adj" fmla="val 2737"/>
            </a:avLst>
          </a:prstGeom>
          <a:solidFill>
            <a:srgbClr val="FFFFFF"/>
          </a:solidFill>
          <a:ln w="12700">
            <a:solidFill>
              <a:srgbClr val="D7E4F2"/>
            </a:solidFill>
            <a:prstDash val="solid"/>
          </a:ln>
          <a:effectLst>
            <a:outerShdw blurRad="12700" dist="50800" dir="2700000" algn="bl" rotWithShape="0">
              <a:srgbClr val="D6E4F3">
                <a:alpha val="2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159752" y="1161288"/>
            <a:ext cx="4014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40" b="1" dirty="0">
                <a:solidFill>
                  <a:srgbClr val="0E24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v1 → v3 关键变化</a:t>
            </a:r>
            <a:endParaRPr lang="en-US" sz="1340" dirty="0"/>
          </a:p>
        </p:txBody>
      </p:sp>
      <p:sp>
        <p:nvSpPr>
          <p:cNvPr id="27" name="Text 25"/>
          <p:cNvSpPr/>
          <p:nvPr/>
        </p:nvSpPr>
        <p:spPr>
          <a:xfrm>
            <a:off x="7159752" y="1481328"/>
            <a:ext cx="4014216" cy="3904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1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v1：Kotlin 基础实现，完成正确性闭环。</a:t>
            </a:r>
            <a:endParaRPr lang="en-US" sz="1110" dirty="0"/>
          </a:p>
          <a:p>
            <a:pPr marL="0" indent="0">
              <a:buNone/>
            </a:pPr>
            <a:endParaRPr lang="en-US" sz="1110" dirty="0"/>
          </a:p>
          <a:p>
            <a:pPr marL="0" indent="0">
              <a:buNone/>
            </a:pPr>
            <a:r>
              <a:rPr lang="en-US" sz="111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v2：批量读取、while 热循环、整数定点路径。</a:t>
            </a:r>
            <a:endParaRPr lang="en-US" sz="1110" dirty="0"/>
          </a:p>
          <a:p>
            <a:pPr marL="0" indent="0">
              <a:buNone/>
            </a:pPr>
            <a:endParaRPr lang="en-US" sz="1110" dirty="0"/>
          </a:p>
          <a:p>
            <a:pPr marL="0" indent="0">
              <a:buNone/>
            </a:pPr>
            <a:r>
              <a:rPr lang="en-US" sz="111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v3：AndroidBitmap_lockPixels 直接锁定 Bitmap；C++ 多线程按行分块；线程私有 256-bin 后合并。</a:t>
            </a:r>
            <a:endParaRPr lang="en-US" sz="1110" dirty="0"/>
          </a:p>
        </p:txBody>
      </p:sp>
      <p:sp>
        <p:nvSpPr>
          <p:cNvPr id="28" name="Shape 26"/>
          <p:cNvSpPr/>
          <p:nvPr/>
        </p:nvSpPr>
        <p:spPr>
          <a:xfrm>
            <a:off x="777240" y="5650992"/>
            <a:ext cx="10561320" cy="502920"/>
          </a:xfrm>
          <a:prstGeom prst="roundRect">
            <a:avLst>
              <a:gd name="adj" fmla="val 23636"/>
            </a:avLst>
          </a:prstGeom>
          <a:solidFill>
            <a:srgbClr val="FFF4D7"/>
          </a:solidFill>
          <a:ln w="12700">
            <a:solidFill>
              <a:srgbClr val="E8C36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41832" y="5788152"/>
            <a:ext cx="102321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40" b="1" dirty="0">
                <a:solidFill>
                  <a:srgbClr val="0E24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</a:t>
            </a:r>
            <a:endParaRPr lang="en-US" sz="1340" dirty="0"/>
          </a:p>
        </p:txBody>
      </p:sp>
      <p:sp>
        <p:nvSpPr>
          <p:cNvPr id="30" name="Text 28"/>
          <p:cNvSpPr/>
          <p:nvPr/>
        </p:nvSpPr>
        <p:spPr>
          <a:xfrm>
            <a:off x="941832" y="6108192"/>
            <a:ext cx="10232136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25000" lnSpcReduction="20000"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优化重点不是单纯“换语言”，而是减少不必要的数据复制、重复遍历和共享计数竞争。</a:t>
            </a:r>
            <a:endParaRPr lang="en-US" sz="1080" dirty="0"/>
          </a:p>
        </p:txBody>
      </p:sp>
      <p:sp>
        <p:nvSpPr>
          <p:cNvPr id="31" name="Text 29"/>
          <p:cNvSpPr/>
          <p:nvPr/>
        </p:nvSpPr>
        <p:spPr>
          <a:xfrm>
            <a:off x="548640" y="6519672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EA2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ImageHistogramAnalyzer · 第十四组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11292840" y="647395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EA2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F6FD0"/>
          </a:solidFill>
          <a:ln w="12700">
            <a:solidFill>
              <a:srgbClr val="2F6FD0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25603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F6F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21792" y="256032"/>
            <a:ext cx="8915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50" b="1" dirty="0">
                <a:solidFill>
                  <a:srgbClr val="0E24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性能结果与 300ms 口径：核心计算可解释、可定位</a:t>
            </a:r>
            <a:endParaRPr lang="en-US" sz="2450" dirty="0"/>
          </a:p>
        </p:txBody>
      </p:sp>
      <p:sp>
        <p:nvSpPr>
          <p:cNvPr id="5" name="Text 3"/>
          <p:cNvSpPr/>
          <p:nvPr/>
        </p:nvSpPr>
        <p:spPr>
          <a:xfrm>
            <a:off x="640080" y="713232"/>
            <a:ext cx="8961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B7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解码、核心计算和绘制分开计时，便于定位瓶颈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9829800" y="310896"/>
            <a:ext cx="1938528" cy="310896"/>
          </a:xfrm>
          <a:prstGeom prst="roundRect">
            <a:avLst>
              <a:gd name="adj" fmla="val 23529"/>
            </a:avLst>
          </a:prstGeom>
          <a:solidFill>
            <a:srgbClr val="15324B"/>
          </a:solidFill>
          <a:ln w="12700">
            <a:solidFill>
              <a:srgbClr val="15324B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912096" y="379476"/>
            <a:ext cx="1783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主讲：杨清洁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27532" y="1010412"/>
            <a:ext cx="2231136" cy="4791456"/>
          </a:xfrm>
          <a:prstGeom prst="roundRect">
            <a:avLst>
              <a:gd name="adj" fmla="val 7377"/>
            </a:avLst>
          </a:prstGeom>
          <a:solidFill>
            <a:srgbClr val="102438"/>
          </a:solidFill>
          <a:ln w="12700">
            <a:solidFill>
              <a:srgbClr val="102438">
                <a:alpha val="0"/>
              </a:srgbClr>
            </a:solidFill>
            <a:prstDash val="solid"/>
          </a:ln>
          <a:effectLst>
            <a:outerShdw blurRad="25400" dist="50800" dir="2700000" algn="bl" rotWithShape="0">
              <a:srgbClr val="9EB4C8">
                <a:alpha val="25000"/>
              </a:srgbClr>
            </a:outerShdw>
          </a:effectLst>
        </p:spPr>
      </p:sp>
      <p:pic>
        <p:nvPicPr>
          <p:cNvPr id="9" name="Image 0" descr="/mnt/data/static-rgb-performance.jpg"/>
          <p:cNvPicPr>
            <a:picLocks noChangeAspect="1"/>
          </p:cNvPicPr>
          <p:nvPr/>
        </p:nvPicPr>
        <p:blipFill>
          <a:blip r:embed="rId3"/>
          <a:srcRect t="774" b="774"/>
          <a:stretch/>
        </p:blipFill>
        <p:spPr>
          <a:xfrm>
            <a:off x="868680" y="1051560"/>
            <a:ext cx="2148840" cy="47091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22960" y="5833872"/>
            <a:ext cx="2240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6B7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性能分段卡片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3383280" y="1051560"/>
            <a:ext cx="3611880" cy="960120"/>
          </a:xfrm>
          <a:prstGeom prst="roundRect">
            <a:avLst>
              <a:gd name="adj" fmla="val 12381"/>
            </a:avLst>
          </a:prstGeom>
          <a:solidFill>
            <a:srgbClr val="F1F6FB"/>
          </a:solidFill>
          <a:ln w="12700">
            <a:solidFill>
              <a:srgbClr val="C6D7E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547872" y="1188720"/>
            <a:ext cx="32826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40" b="1" dirty="0">
                <a:solidFill>
                  <a:srgbClr val="0E24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不计入核心指标</a:t>
            </a:r>
            <a:endParaRPr lang="en-US" sz="1340" dirty="0"/>
          </a:p>
        </p:txBody>
      </p:sp>
      <p:sp>
        <p:nvSpPr>
          <p:cNvPr id="13" name="Text 10"/>
          <p:cNvSpPr/>
          <p:nvPr/>
        </p:nvSpPr>
        <p:spPr>
          <a:xfrm>
            <a:off x="3547872" y="1508760"/>
            <a:ext cx="328269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图片解码 Decode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Canvas 绘制</a:t>
            </a:r>
            <a:endParaRPr lang="en-US" sz="1080" dirty="0"/>
          </a:p>
        </p:txBody>
      </p:sp>
      <p:sp>
        <p:nvSpPr>
          <p:cNvPr id="14" name="Shape 11"/>
          <p:cNvSpPr/>
          <p:nvPr/>
        </p:nvSpPr>
        <p:spPr>
          <a:xfrm>
            <a:off x="3383280" y="2331720"/>
            <a:ext cx="3611880" cy="2057400"/>
          </a:xfrm>
          <a:prstGeom prst="roundRect">
            <a:avLst>
              <a:gd name="adj" fmla="val 5778"/>
            </a:avLst>
          </a:prstGeom>
          <a:solidFill>
            <a:srgbClr val="EAF3FF"/>
          </a:solidFill>
          <a:ln w="12700">
            <a:solidFill>
              <a:srgbClr val="B8D2F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547872" y="2468880"/>
            <a:ext cx="32826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40" b="1" dirty="0">
                <a:solidFill>
                  <a:srgbClr val="0E24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计入核心计算</a:t>
            </a:r>
            <a:endParaRPr lang="en-US" sz="1340" dirty="0"/>
          </a:p>
        </p:txBody>
      </p:sp>
      <p:sp>
        <p:nvSpPr>
          <p:cNvPr id="16" name="Text 13"/>
          <p:cNvSpPr/>
          <p:nvPr/>
        </p:nvSpPr>
        <p:spPr>
          <a:xfrm>
            <a:off x="3547872" y="2788920"/>
            <a:ext cx="3282696" cy="1527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像素访问 / 灰度转换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频次统计 / 融合统计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0–100 归一化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多线程结果合并</a:t>
            </a:r>
            <a:endParaRPr lang="en-US" sz="1080" dirty="0"/>
          </a:p>
        </p:txBody>
      </p:sp>
      <p:sp>
        <p:nvSpPr>
          <p:cNvPr id="17" name="Shape 14"/>
          <p:cNvSpPr/>
          <p:nvPr/>
        </p:nvSpPr>
        <p:spPr>
          <a:xfrm>
            <a:off x="7315200" y="1051560"/>
            <a:ext cx="3566160" cy="3337560"/>
          </a:xfrm>
          <a:prstGeom prst="roundRect">
            <a:avLst>
              <a:gd name="adj" fmla="val 3562"/>
            </a:avLst>
          </a:prstGeom>
          <a:solidFill>
            <a:srgbClr val="EAF7EF"/>
          </a:solidFill>
          <a:ln w="12700">
            <a:solidFill>
              <a:srgbClr val="B8DFC9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479792" y="1188720"/>
            <a:ext cx="3236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40" b="1" dirty="0">
                <a:solidFill>
                  <a:srgbClr val="0E24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性能卡展示内容</a:t>
            </a:r>
            <a:endParaRPr lang="en-US" sz="1340" dirty="0"/>
          </a:p>
        </p:txBody>
      </p:sp>
      <p:sp>
        <p:nvSpPr>
          <p:cNvPr id="19" name="Text 16"/>
          <p:cNvSpPr/>
          <p:nvPr/>
        </p:nvSpPr>
        <p:spPr>
          <a:xfrm>
            <a:off x="7479792" y="1508760"/>
            <a:ext cx="3236976" cy="2807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执行方案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执行引擎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工作线程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各阶段耗时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核心计算总耗时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300ms 预算占比</a:t>
            </a:r>
            <a:endParaRPr lang="en-US" sz="1080" dirty="0"/>
          </a:p>
        </p:txBody>
      </p:sp>
      <p:sp>
        <p:nvSpPr>
          <p:cNvPr id="20" name="Shape 17"/>
          <p:cNvSpPr/>
          <p:nvPr/>
        </p:nvSpPr>
        <p:spPr>
          <a:xfrm>
            <a:off x="3383280" y="4892040"/>
            <a:ext cx="7498080" cy="731520"/>
          </a:xfrm>
          <a:prstGeom prst="roundRect">
            <a:avLst>
              <a:gd name="adj" fmla="val 16250"/>
            </a:avLst>
          </a:prstGeom>
          <a:solidFill>
            <a:srgbClr val="FFF4D7"/>
          </a:solidFill>
          <a:ln w="12700">
            <a:solidFill>
              <a:srgbClr val="E8C36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547872" y="5029200"/>
            <a:ext cx="7168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40" b="1" dirty="0">
                <a:solidFill>
                  <a:srgbClr val="0E24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答辩口径</a:t>
            </a:r>
            <a:endParaRPr lang="en-US" sz="1340" dirty="0"/>
          </a:p>
        </p:txBody>
      </p:sp>
      <p:sp>
        <p:nvSpPr>
          <p:cNvPr id="22" name="Text 19"/>
          <p:cNvSpPr/>
          <p:nvPr/>
        </p:nvSpPr>
        <p:spPr>
          <a:xfrm>
            <a:off x="3547872" y="5349240"/>
            <a:ext cx="7168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把性能拆成阶段，不把所有等待时间混成一个总数；这样可以说明瓶颈来自哪里、优化作用在哪里。</a:t>
            </a:r>
            <a:endParaRPr lang="en-US" sz="1080" dirty="0"/>
          </a:p>
        </p:txBody>
      </p:sp>
      <p:sp>
        <p:nvSpPr>
          <p:cNvPr id="23" name="Text 20"/>
          <p:cNvSpPr/>
          <p:nvPr/>
        </p:nvSpPr>
        <p:spPr>
          <a:xfrm>
            <a:off x="548640" y="6519672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EA2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ImageHistogramAnalyzer · 第十四组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11292840" y="647395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EA2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F6FD0"/>
          </a:solidFill>
          <a:ln w="12700">
            <a:solidFill>
              <a:srgbClr val="2F6FD0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25603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F6F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21792" y="256032"/>
            <a:ext cx="8915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50" b="1" dirty="0">
                <a:solidFill>
                  <a:srgbClr val="0E24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ROI 区域直方图：把用户关注区域当作新图重新分析</a:t>
            </a:r>
            <a:endParaRPr lang="en-US" sz="2450" dirty="0"/>
          </a:p>
        </p:txBody>
      </p:sp>
      <p:sp>
        <p:nvSpPr>
          <p:cNvPr id="5" name="Text 3"/>
          <p:cNvSpPr/>
          <p:nvPr/>
        </p:nvSpPr>
        <p:spPr>
          <a:xfrm>
            <a:off x="640080" y="713232"/>
            <a:ext cx="8961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B7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全图正常不代表主体区域正常，局部直方图用于解释细节问题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9829800" y="310896"/>
            <a:ext cx="1938528" cy="310896"/>
          </a:xfrm>
          <a:prstGeom prst="roundRect">
            <a:avLst>
              <a:gd name="adj" fmla="val 23529"/>
            </a:avLst>
          </a:prstGeom>
          <a:solidFill>
            <a:srgbClr val="15324B"/>
          </a:solidFill>
          <a:ln w="12700">
            <a:solidFill>
              <a:srgbClr val="15324B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912096" y="379476"/>
            <a:ext cx="1783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主讲：史佳雯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27532" y="1019556"/>
            <a:ext cx="2322576" cy="4864608"/>
          </a:xfrm>
          <a:prstGeom prst="roundRect">
            <a:avLst>
              <a:gd name="adj" fmla="val 7087"/>
            </a:avLst>
          </a:prstGeom>
          <a:solidFill>
            <a:srgbClr val="102438"/>
          </a:solidFill>
          <a:ln w="12700">
            <a:solidFill>
              <a:srgbClr val="102438">
                <a:alpha val="0"/>
              </a:srgbClr>
            </a:solidFill>
            <a:prstDash val="solid"/>
          </a:ln>
          <a:effectLst>
            <a:outerShdw blurRad="25400" dist="50800" dir="2700000" algn="bl" rotWithShape="0">
              <a:srgbClr val="9EB4C8">
                <a:alpha val="25000"/>
              </a:srgbClr>
            </a:outerShdw>
          </a:effectLst>
        </p:spPr>
      </p:sp>
      <p:pic>
        <p:nvPicPr>
          <p:cNvPr id="9" name="Image 0" descr="/mnt/data/roi-analysis.jpg"/>
          <p:cNvPicPr>
            <a:picLocks noChangeAspect="1"/>
          </p:cNvPicPr>
          <p:nvPr/>
        </p:nvPicPr>
        <p:blipFill>
          <a:blip r:embed="rId3"/>
          <a:srcRect t="2049" b="2049"/>
          <a:stretch/>
        </p:blipFill>
        <p:spPr>
          <a:xfrm>
            <a:off x="868680" y="1060704"/>
            <a:ext cx="2240280" cy="478231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22960" y="5916168"/>
            <a:ext cx="2331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6B7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ROI 框选与重分析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3566160" y="1078992"/>
            <a:ext cx="7269480" cy="35661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7E4F2"/>
            </a:solidFill>
            <a:prstDash val="solid"/>
          </a:ln>
          <a:effectLst>
            <a:outerShdw blurRad="12700" dist="50800" dir="2700000" algn="bl" rotWithShape="0">
              <a:srgbClr val="D6E4F3">
                <a:alpha val="2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3730752" y="1216152"/>
            <a:ext cx="6940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40" b="1" dirty="0">
                <a:solidFill>
                  <a:srgbClr val="0E24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ROI 处理链路</a:t>
            </a:r>
            <a:endParaRPr lang="en-US" sz="1340" dirty="0"/>
          </a:p>
        </p:txBody>
      </p:sp>
      <p:sp>
        <p:nvSpPr>
          <p:cNvPr id="13" name="Shape 10"/>
          <p:cNvSpPr/>
          <p:nvPr/>
        </p:nvSpPr>
        <p:spPr>
          <a:xfrm>
            <a:off x="3931920" y="2148840"/>
            <a:ext cx="960120" cy="566928"/>
          </a:xfrm>
          <a:prstGeom prst="roundRect">
            <a:avLst>
              <a:gd name="adj" fmla="val 17742"/>
            </a:avLst>
          </a:prstGeom>
          <a:solidFill>
            <a:srgbClr val="EAF3FF"/>
          </a:solidFill>
          <a:ln w="12700">
            <a:solidFill>
              <a:srgbClr val="2F6FD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995928" y="2240280"/>
            <a:ext cx="8321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0E24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拖动框选</a:t>
            </a:r>
            <a:endParaRPr lang="en-US" sz="880" dirty="0"/>
          </a:p>
        </p:txBody>
      </p:sp>
      <p:sp>
        <p:nvSpPr>
          <p:cNvPr id="15" name="Shape 12"/>
          <p:cNvSpPr/>
          <p:nvPr/>
        </p:nvSpPr>
        <p:spPr>
          <a:xfrm>
            <a:off x="4892040" y="2432304"/>
            <a:ext cx="338328" cy="0"/>
          </a:xfrm>
          <a:prstGeom prst="line">
            <a:avLst/>
          </a:prstGeom>
          <a:noFill/>
          <a:ln w="17145">
            <a:solidFill>
              <a:srgbClr val="2F6FD0"/>
            </a:solidFill>
            <a:prstDash val="solid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5257800" y="2148840"/>
            <a:ext cx="960120" cy="566928"/>
          </a:xfrm>
          <a:prstGeom prst="roundRect">
            <a:avLst>
              <a:gd name="adj" fmla="val 17742"/>
            </a:avLst>
          </a:prstGeom>
          <a:solidFill>
            <a:srgbClr val="EAF7EF"/>
          </a:solidFill>
          <a:ln w="12700">
            <a:solidFill>
              <a:srgbClr val="4DA77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321808" y="2240280"/>
            <a:ext cx="8321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0E24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坐标映射</a:t>
            </a:r>
            <a:endParaRPr lang="en-US" sz="880" dirty="0"/>
          </a:p>
        </p:txBody>
      </p:sp>
      <p:sp>
        <p:nvSpPr>
          <p:cNvPr id="18" name="Shape 15"/>
          <p:cNvSpPr/>
          <p:nvPr/>
        </p:nvSpPr>
        <p:spPr>
          <a:xfrm>
            <a:off x="6217920" y="2432304"/>
            <a:ext cx="338328" cy="0"/>
          </a:xfrm>
          <a:prstGeom prst="line">
            <a:avLst/>
          </a:prstGeom>
          <a:noFill/>
          <a:ln w="17145">
            <a:solidFill>
              <a:srgbClr val="2F6FD0"/>
            </a:solidFill>
            <a:prstDash val="solid"/>
            <a:tailEnd type="triangle"/>
          </a:ln>
        </p:spPr>
      </p:sp>
      <p:sp>
        <p:nvSpPr>
          <p:cNvPr id="19" name="Shape 16"/>
          <p:cNvSpPr/>
          <p:nvPr/>
        </p:nvSpPr>
        <p:spPr>
          <a:xfrm>
            <a:off x="6583680" y="2148840"/>
            <a:ext cx="960120" cy="566928"/>
          </a:xfrm>
          <a:prstGeom prst="roundRect">
            <a:avLst>
              <a:gd name="adj" fmla="val 17742"/>
            </a:avLst>
          </a:prstGeom>
          <a:solidFill>
            <a:srgbClr val="EAF3FF"/>
          </a:solidFill>
          <a:ln w="12700">
            <a:solidFill>
              <a:srgbClr val="2F6FD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647688" y="2240280"/>
            <a:ext cx="8321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0E24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裁剪 ROI</a:t>
            </a:r>
            <a:endParaRPr lang="en-US" sz="880" dirty="0"/>
          </a:p>
        </p:txBody>
      </p:sp>
      <p:sp>
        <p:nvSpPr>
          <p:cNvPr id="21" name="Shape 18"/>
          <p:cNvSpPr/>
          <p:nvPr/>
        </p:nvSpPr>
        <p:spPr>
          <a:xfrm>
            <a:off x="7543800" y="2432304"/>
            <a:ext cx="338328" cy="0"/>
          </a:xfrm>
          <a:prstGeom prst="line">
            <a:avLst/>
          </a:prstGeom>
          <a:noFill/>
          <a:ln w="17145">
            <a:solidFill>
              <a:srgbClr val="2F6FD0"/>
            </a:solidFill>
            <a:prstDash val="solid"/>
            <a:tailEnd type="triangle"/>
          </a:ln>
        </p:spPr>
      </p:sp>
      <p:sp>
        <p:nvSpPr>
          <p:cNvPr id="22" name="Shape 19"/>
          <p:cNvSpPr/>
          <p:nvPr/>
        </p:nvSpPr>
        <p:spPr>
          <a:xfrm>
            <a:off x="7909560" y="2148840"/>
            <a:ext cx="960120" cy="566928"/>
          </a:xfrm>
          <a:prstGeom prst="roundRect">
            <a:avLst>
              <a:gd name="adj" fmla="val 17742"/>
            </a:avLst>
          </a:prstGeom>
          <a:solidFill>
            <a:srgbClr val="EAF7EF"/>
          </a:solidFill>
          <a:ln w="12700">
            <a:solidFill>
              <a:srgbClr val="4DA77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973568" y="2240280"/>
            <a:ext cx="8321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0E24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复用分析</a:t>
            </a:r>
            <a:endParaRPr lang="en-US" sz="880" dirty="0"/>
          </a:p>
        </p:txBody>
      </p:sp>
      <p:sp>
        <p:nvSpPr>
          <p:cNvPr id="24" name="Shape 21"/>
          <p:cNvSpPr/>
          <p:nvPr/>
        </p:nvSpPr>
        <p:spPr>
          <a:xfrm>
            <a:off x="8869680" y="2432304"/>
            <a:ext cx="338328" cy="0"/>
          </a:xfrm>
          <a:prstGeom prst="line">
            <a:avLst/>
          </a:prstGeom>
          <a:noFill/>
          <a:ln w="17145">
            <a:solidFill>
              <a:srgbClr val="2F6FD0"/>
            </a:solidFill>
            <a:prstDash val="solid"/>
            <a:tailEnd type="triangle"/>
          </a:ln>
        </p:spPr>
      </p:sp>
      <p:sp>
        <p:nvSpPr>
          <p:cNvPr id="25" name="Shape 22"/>
          <p:cNvSpPr/>
          <p:nvPr/>
        </p:nvSpPr>
        <p:spPr>
          <a:xfrm>
            <a:off x="9235440" y="2148840"/>
            <a:ext cx="960120" cy="566928"/>
          </a:xfrm>
          <a:prstGeom prst="roundRect">
            <a:avLst>
              <a:gd name="adj" fmla="val 17742"/>
            </a:avLst>
          </a:prstGeom>
          <a:solidFill>
            <a:srgbClr val="EAF3FF"/>
          </a:solidFill>
          <a:ln w="12700">
            <a:solidFill>
              <a:srgbClr val="2F6FD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9299448" y="2240280"/>
            <a:ext cx="8321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0E24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恢复全图</a:t>
            </a:r>
            <a:endParaRPr lang="en-US" sz="880" dirty="0"/>
          </a:p>
        </p:txBody>
      </p:sp>
      <p:sp>
        <p:nvSpPr>
          <p:cNvPr id="27" name="Text 24"/>
          <p:cNvSpPr/>
          <p:nvPr/>
        </p:nvSpPr>
        <p:spPr>
          <a:xfrm>
            <a:off x="3886200" y="3218688"/>
            <a:ext cx="6629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坐标映射处理 ContentScale.Fit、居中留白、反向拖拽和边界裁剪；裁剪后 ROI Bitmap 复用原有灰度、RGB、质量和性能链路。</a:t>
            </a:r>
            <a:endParaRPr lang="en-US" sz="1020" dirty="0"/>
          </a:p>
        </p:txBody>
      </p:sp>
      <p:sp>
        <p:nvSpPr>
          <p:cNvPr id="28" name="Shape 25"/>
          <p:cNvSpPr/>
          <p:nvPr/>
        </p:nvSpPr>
        <p:spPr>
          <a:xfrm>
            <a:off x="3566160" y="4983480"/>
            <a:ext cx="7269480" cy="713232"/>
          </a:xfrm>
          <a:prstGeom prst="roundRect">
            <a:avLst>
              <a:gd name="adj" fmla="val 16667"/>
            </a:avLst>
          </a:prstGeom>
          <a:solidFill>
            <a:srgbClr val="FFF4D7"/>
          </a:solidFill>
          <a:ln w="12700">
            <a:solidFill>
              <a:srgbClr val="E8C36A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3730752" y="5120640"/>
            <a:ext cx="6940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40" b="1" dirty="0">
                <a:solidFill>
                  <a:srgbClr val="0E24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展示价值</a:t>
            </a:r>
            <a:endParaRPr lang="en-US" sz="1340" dirty="0"/>
          </a:p>
        </p:txBody>
      </p:sp>
      <p:sp>
        <p:nvSpPr>
          <p:cNvPr id="30" name="Text 27"/>
          <p:cNvSpPr/>
          <p:nvPr/>
        </p:nvSpPr>
        <p:spPr>
          <a:xfrm>
            <a:off x="3730752" y="5440680"/>
            <a:ext cx="69402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ROI 能证明系统不仅能做全图统计，还能分析主体区域偏暗、局部高光过曝或局部对比度不足。</a:t>
            </a:r>
            <a:endParaRPr lang="en-US" sz="1080" dirty="0"/>
          </a:p>
        </p:txBody>
      </p:sp>
      <p:sp>
        <p:nvSpPr>
          <p:cNvPr id="31" name="Text 28"/>
          <p:cNvSpPr/>
          <p:nvPr/>
        </p:nvSpPr>
        <p:spPr>
          <a:xfrm>
            <a:off x="548640" y="6519672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EA2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ImageHistogramAnalyzer · 第十四组</a:t>
            </a:r>
            <a:endParaRPr lang="en-US" sz="850" dirty="0"/>
          </a:p>
        </p:txBody>
      </p:sp>
      <p:sp>
        <p:nvSpPr>
          <p:cNvPr id="32" name="Text 29"/>
          <p:cNvSpPr/>
          <p:nvPr/>
        </p:nvSpPr>
        <p:spPr>
          <a:xfrm>
            <a:off x="11292840" y="647395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EA2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F6FD0"/>
          </a:solidFill>
          <a:ln w="12700">
            <a:solidFill>
              <a:srgbClr val="2F6FD0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25603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F6F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21792" y="256032"/>
            <a:ext cx="8915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50" b="1" dirty="0">
                <a:solidFill>
                  <a:srgbClr val="0E24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RGB 三通道与颜色分布分析</a:t>
            </a:r>
            <a:endParaRPr lang="en-US" sz="2450" dirty="0"/>
          </a:p>
        </p:txBody>
      </p:sp>
      <p:sp>
        <p:nvSpPr>
          <p:cNvPr id="5" name="Text 3"/>
          <p:cNvSpPr/>
          <p:nvPr/>
        </p:nvSpPr>
        <p:spPr>
          <a:xfrm>
            <a:off x="640080" y="713232"/>
            <a:ext cx="8961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B7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灰度直方图看亮度，RGB 三通道补充颜色偏移信息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9829800" y="310896"/>
            <a:ext cx="1938528" cy="310896"/>
          </a:xfrm>
          <a:prstGeom prst="roundRect">
            <a:avLst>
              <a:gd name="adj" fmla="val 23529"/>
            </a:avLst>
          </a:prstGeom>
          <a:solidFill>
            <a:srgbClr val="15324B"/>
          </a:solidFill>
          <a:ln w="12700">
            <a:solidFill>
              <a:srgbClr val="15324B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912096" y="379476"/>
            <a:ext cx="1783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algn="ctr"/>
            <a:r>
              <a:rPr lang="en-US" sz="1000" b="1" dirty="0" err="1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主讲</a:t>
            </a: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</a:t>
            </a:r>
            <a:r>
              <a:rPr lang="en-US" altLang="zh-CN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altLang="zh-CN" sz="1000" b="1" dirty="0" err="1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张栋皓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77240" y="1078992"/>
            <a:ext cx="3063240" cy="4480560"/>
          </a:xfrm>
          <a:prstGeom prst="roundRect">
            <a:avLst>
              <a:gd name="adj" fmla="val 3881"/>
            </a:avLst>
          </a:prstGeom>
          <a:solidFill>
            <a:srgbClr val="EAF3FF"/>
          </a:solidFill>
          <a:ln w="12700">
            <a:solidFill>
              <a:srgbClr val="B8D2F3"/>
            </a:solidFill>
            <a:prstDash val="solid"/>
          </a:ln>
          <a:effectLst>
            <a:outerShdw blurRad="12700" dist="50800" dir="2700000" algn="bl" rotWithShape="0">
              <a:srgbClr val="D6E4F3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41832" y="1216152"/>
            <a:ext cx="27340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40" b="1" dirty="0">
                <a:solidFill>
                  <a:srgbClr val="0E24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灰度直方图回答</a:t>
            </a:r>
            <a:endParaRPr lang="en-US" sz="1340" dirty="0"/>
          </a:p>
        </p:txBody>
      </p:sp>
      <p:sp>
        <p:nvSpPr>
          <p:cNvPr id="10" name="Text 8"/>
          <p:cNvSpPr/>
          <p:nvPr/>
        </p:nvSpPr>
        <p:spPr>
          <a:xfrm>
            <a:off x="941832" y="1536192"/>
            <a:ext cx="2734056" cy="3950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亮度分布如何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暗部和亮部占比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是否偏暗 / 偏亮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是否存在过曝 / 欠曝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对比度是否不足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4160520" y="1078992"/>
            <a:ext cx="3063240" cy="4480560"/>
          </a:xfrm>
          <a:prstGeom prst="roundRect">
            <a:avLst>
              <a:gd name="adj" fmla="val 3881"/>
            </a:avLst>
          </a:prstGeom>
          <a:solidFill>
            <a:srgbClr val="EAF7EF"/>
          </a:solidFill>
          <a:ln w="12700">
            <a:solidFill>
              <a:srgbClr val="B8DFC9"/>
            </a:solidFill>
            <a:prstDash val="solid"/>
          </a:ln>
          <a:effectLst>
            <a:outerShdw blurRad="12700" dist="50800" dir="2700000" algn="bl" rotWithShape="0">
              <a:srgbClr val="D6E4F3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325112" y="1216152"/>
            <a:ext cx="27340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40" b="1" dirty="0">
                <a:solidFill>
                  <a:srgbClr val="0E24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RGB 三通道补充</a:t>
            </a:r>
            <a:endParaRPr lang="en-US" sz="1340" dirty="0"/>
          </a:p>
        </p:txBody>
      </p:sp>
      <p:sp>
        <p:nvSpPr>
          <p:cNvPr id="13" name="Text 11"/>
          <p:cNvSpPr/>
          <p:nvPr/>
        </p:nvSpPr>
        <p:spPr>
          <a:xfrm>
            <a:off x="4325112" y="1536192"/>
            <a:ext cx="2734056" cy="3950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R/G/B 通道均值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主导颜色通道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通道差异度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偏红 / 偏绿 / 偏蓝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色彩是否较均衡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7543800" y="1078992"/>
            <a:ext cx="1246909" cy="384048"/>
          </a:xfrm>
          <a:prstGeom prst="rect">
            <a:avLst/>
          </a:prstGeom>
          <a:solidFill>
            <a:srgbClr val="DDEBF7"/>
          </a:solidFill>
          <a:ln w="8890">
            <a:solidFill>
              <a:srgbClr val="87A6C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580376" y="1152144"/>
            <a:ext cx="117375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0E24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</a:t>
            </a:r>
            <a:endParaRPr lang="en-US" sz="920" dirty="0"/>
          </a:p>
        </p:txBody>
      </p:sp>
      <p:sp>
        <p:nvSpPr>
          <p:cNvPr id="16" name="Shape 14"/>
          <p:cNvSpPr/>
          <p:nvPr/>
        </p:nvSpPr>
        <p:spPr>
          <a:xfrm>
            <a:off x="8790709" y="1078992"/>
            <a:ext cx="2182091" cy="384048"/>
          </a:xfrm>
          <a:prstGeom prst="rect">
            <a:avLst/>
          </a:prstGeom>
          <a:solidFill>
            <a:srgbClr val="DDEBF7"/>
          </a:solidFill>
          <a:ln w="8890">
            <a:solidFill>
              <a:srgbClr val="87A6C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827285" y="1152144"/>
            <a:ext cx="21089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0E24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含义</a:t>
            </a:r>
            <a:endParaRPr lang="en-US" sz="920" dirty="0"/>
          </a:p>
        </p:txBody>
      </p:sp>
      <p:sp>
        <p:nvSpPr>
          <p:cNvPr id="18" name="Shape 16"/>
          <p:cNvSpPr/>
          <p:nvPr/>
        </p:nvSpPr>
        <p:spPr>
          <a:xfrm>
            <a:off x="7543800" y="1463040"/>
            <a:ext cx="1246909" cy="384048"/>
          </a:xfrm>
          <a:prstGeom prst="rect">
            <a:avLst/>
          </a:prstGeom>
          <a:solidFill>
            <a:srgbClr val="FFFFFF"/>
          </a:solidFill>
          <a:ln w="6985">
            <a:solidFill>
              <a:srgbClr val="87A6C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589520" y="1527048"/>
            <a:ext cx="115546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avgR/G/B</a:t>
            </a:r>
            <a:endParaRPr lang="en-US" sz="860" dirty="0"/>
          </a:p>
        </p:txBody>
      </p:sp>
      <p:sp>
        <p:nvSpPr>
          <p:cNvPr id="20" name="Shape 18"/>
          <p:cNvSpPr/>
          <p:nvPr/>
        </p:nvSpPr>
        <p:spPr>
          <a:xfrm>
            <a:off x="8790709" y="1463040"/>
            <a:ext cx="2182091" cy="384048"/>
          </a:xfrm>
          <a:prstGeom prst="rect">
            <a:avLst/>
          </a:prstGeom>
          <a:solidFill>
            <a:srgbClr val="FFFFFF"/>
          </a:solidFill>
          <a:ln w="6985">
            <a:solidFill>
              <a:srgbClr val="87A6C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836429" y="1527048"/>
            <a:ext cx="209065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三通道平均强度</a:t>
            </a:r>
            <a:endParaRPr lang="en-US" sz="860" dirty="0"/>
          </a:p>
        </p:txBody>
      </p:sp>
      <p:sp>
        <p:nvSpPr>
          <p:cNvPr id="22" name="Shape 20"/>
          <p:cNvSpPr/>
          <p:nvPr/>
        </p:nvSpPr>
        <p:spPr>
          <a:xfrm>
            <a:off x="7543800" y="1847088"/>
            <a:ext cx="1246909" cy="384048"/>
          </a:xfrm>
          <a:prstGeom prst="rect">
            <a:avLst/>
          </a:prstGeom>
          <a:solidFill>
            <a:srgbClr val="F6FAFD"/>
          </a:solidFill>
          <a:ln w="6985">
            <a:solidFill>
              <a:srgbClr val="87A6C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589520" y="1911096"/>
            <a:ext cx="115546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dominantChannel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8790709" y="1847088"/>
            <a:ext cx="2182091" cy="384048"/>
          </a:xfrm>
          <a:prstGeom prst="rect">
            <a:avLst/>
          </a:prstGeom>
          <a:solidFill>
            <a:srgbClr val="F6FAFD"/>
          </a:solidFill>
          <a:ln w="6985">
            <a:solidFill>
              <a:srgbClr val="87A6C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836429" y="1911096"/>
            <a:ext cx="209065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主导颜色通道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7543800" y="2231136"/>
            <a:ext cx="1246909" cy="384048"/>
          </a:xfrm>
          <a:prstGeom prst="rect">
            <a:avLst/>
          </a:prstGeom>
          <a:solidFill>
            <a:srgbClr val="FFFFFF"/>
          </a:solidFill>
          <a:ln w="6985">
            <a:solidFill>
              <a:srgbClr val="87A6C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589520" y="2295144"/>
            <a:ext cx="115546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channelImbalance</a:t>
            </a:r>
            <a:endParaRPr lang="en-US" sz="860" dirty="0"/>
          </a:p>
        </p:txBody>
      </p:sp>
      <p:sp>
        <p:nvSpPr>
          <p:cNvPr id="28" name="Shape 26"/>
          <p:cNvSpPr/>
          <p:nvPr/>
        </p:nvSpPr>
        <p:spPr>
          <a:xfrm>
            <a:off x="8790709" y="2231136"/>
            <a:ext cx="2182091" cy="384048"/>
          </a:xfrm>
          <a:prstGeom prst="rect">
            <a:avLst/>
          </a:prstGeom>
          <a:solidFill>
            <a:srgbClr val="FFFFFF"/>
          </a:solidFill>
          <a:ln w="6985">
            <a:solidFill>
              <a:srgbClr val="87A6C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836429" y="2295144"/>
            <a:ext cx="209065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通道差异程度</a:t>
            </a:r>
            <a:endParaRPr lang="en-US" sz="860" dirty="0"/>
          </a:p>
        </p:txBody>
      </p:sp>
      <p:sp>
        <p:nvSpPr>
          <p:cNvPr id="30" name="Shape 28"/>
          <p:cNvSpPr/>
          <p:nvPr/>
        </p:nvSpPr>
        <p:spPr>
          <a:xfrm>
            <a:off x="7543800" y="2615184"/>
            <a:ext cx="1246909" cy="384048"/>
          </a:xfrm>
          <a:prstGeom prst="rect">
            <a:avLst/>
          </a:prstGeom>
          <a:solidFill>
            <a:srgbClr val="F6FAFD"/>
          </a:solidFill>
          <a:ln w="6985">
            <a:solidFill>
              <a:srgbClr val="87A6C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89520" y="2679192"/>
            <a:ext cx="115546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colorCastStatus</a:t>
            </a:r>
            <a:endParaRPr lang="en-US" sz="860" dirty="0"/>
          </a:p>
        </p:txBody>
      </p:sp>
      <p:sp>
        <p:nvSpPr>
          <p:cNvPr id="32" name="Shape 30"/>
          <p:cNvSpPr/>
          <p:nvPr/>
        </p:nvSpPr>
        <p:spPr>
          <a:xfrm>
            <a:off x="8790709" y="2615184"/>
            <a:ext cx="2182091" cy="384048"/>
          </a:xfrm>
          <a:prstGeom prst="rect">
            <a:avLst/>
          </a:prstGeom>
          <a:solidFill>
            <a:srgbClr val="F6FAFD"/>
          </a:solidFill>
          <a:ln w="6985">
            <a:solidFill>
              <a:srgbClr val="87A6C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836429" y="2679192"/>
            <a:ext cx="209065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偏色判断结果</a:t>
            </a:r>
            <a:endParaRPr lang="en-US" sz="860" dirty="0"/>
          </a:p>
        </p:txBody>
      </p:sp>
      <p:sp>
        <p:nvSpPr>
          <p:cNvPr id="34" name="Shape 32"/>
          <p:cNvSpPr/>
          <p:nvPr/>
        </p:nvSpPr>
        <p:spPr>
          <a:xfrm>
            <a:off x="7543800" y="4206240"/>
            <a:ext cx="3429000" cy="1005840"/>
          </a:xfrm>
          <a:prstGeom prst="roundRect">
            <a:avLst>
              <a:gd name="adj" fmla="val 11818"/>
            </a:avLst>
          </a:prstGeom>
          <a:solidFill>
            <a:srgbClr val="FFF4D7"/>
          </a:solidFill>
          <a:ln w="12700">
            <a:solidFill>
              <a:srgbClr val="E8C36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708392" y="4343400"/>
            <a:ext cx="30998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40" b="1" dirty="0">
                <a:solidFill>
                  <a:srgbClr val="0E24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综合判断</a:t>
            </a:r>
            <a:endParaRPr lang="en-US" sz="1340" dirty="0"/>
          </a:p>
        </p:txBody>
      </p:sp>
      <p:sp>
        <p:nvSpPr>
          <p:cNvPr id="36" name="Text 34"/>
          <p:cNvSpPr/>
          <p:nvPr/>
        </p:nvSpPr>
        <p:spPr>
          <a:xfrm>
            <a:off x="7708392" y="4663440"/>
            <a:ext cx="30998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灰度用于亮度分析，RGB 用于颜色分析，二者共同构成自然语言质量判断依据。</a:t>
            </a:r>
            <a:endParaRPr lang="en-US" sz="1080" dirty="0"/>
          </a:p>
        </p:txBody>
      </p:sp>
      <p:sp>
        <p:nvSpPr>
          <p:cNvPr id="37" name="Text 35"/>
          <p:cNvSpPr/>
          <p:nvPr/>
        </p:nvSpPr>
        <p:spPr>
          <a:xfrm>
            <a:off x="548640" y="6519672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EA2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ImageHistogramAnalyzer · 第十四组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11292840" y="647395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EA2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F6FD0"/>
          </a:solidFill>
          <a:ln w="12700">
            <a:solidFill>
              <a:srgbClr val="2F6FD0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25603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F6F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21792" y="256032"/>
            <a:ext cx="8915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50" b="1" dirty="0">
                <a:solidFill>
                  <a:srgbClr val="0E24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自然语言图像质量判断：把指标翻译成用户能懂的建议</a:t>
            </a:r>
            <a:endParaRPr lang="en-US" sz="2450" dirty="0"/>
          </a:p>
        </p:txBody>
      </p:sp>
      <p:sp>
        <p:nvSpPr>
          <p:cNvPr id="5" name="Text 3"/>
          <p:cNvSpPr/>
          <p:nvPr/>
        </p:nvSpPr>
        <p:spPr>
          <a:xfrm>
            <a:off x="640080" y="713232"/>
            <a:ext cx="8961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B7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本地规则生成，离线可用、结果可解释、保护隐私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9829800" y="310896"/>
            <a:ext cx="1938528" cy="310896"/>
          </a:xfrm>
          <a:prstGeom prst="roundRect">
            <a:avLst>
              <a:gd name="adj" fmla="val 23529"/>
            </a:avLst>
          </a:prstGeom>
          <a:solidFill>
            <a:srgbClr val="15324B"/>
          </a:solidFill>
          <a:ln w="12700">
            <a:solidFill>
              <a:srgbClr val="15324B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912096" y="379476"/>
            <a:ext cx="1783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000" b="1" dirty="0" err="1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主讲：杨清洁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77240" y="1005840"/>
            <a:ext cx="2834640" cy="4160520"/>
          </a:xfrm>
          <a:prstGeom prst="roundRect">
            <a:avLst>
              <a:gd name="adj" fmla="val 4194"/>
            </a:avLst>
          </a:prstGeom>
          <a:solidFill>
            <a:srgbClr val="EAF3FF"/>
          </a:solidFill>
          <a:ln w="12700">
            <a:solidFill>
              <a:srgbClr val="B8D2F3"/>
            </a:solidFill>
            <a:prstDash val="solid"/>
          </a:ln>
          <a:effectLst>
            <a:outerShdw blurRad="12700" dist="50800" dir="2700000" algn="bl" rotWithShape="0">
              <a:srgbClr val="D6E4F3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41832" y="1143000"/>
            <a:ext cx="2505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40" b="1" dirty="0">
                <a:solidFill>
                  <a:srgbClr val="0E24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输入指标</a:t>
            </a:r>
            <a:endParaRPr lang="en-US" sz="1340" dirty="0"/>
          </a:p>
        </p:txBody>
      </p:sp>
      <p:sp>
        <p:nvSpPr>
          <p:cNvPr id="10" name="Text 8"/>
          <p:cNvSpPr/>
          <p:nvPr/>
        </p:nvSpPr>
        <p:spPr>
          <a:xfrm>
            <a:off x="941832" y="1463040"/>
            <a:ext cx="2505456" cy="3630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平均灰度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暗部占比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亮部占比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暗部溢出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高光溢出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灰度标准差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RGB 通道均值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颜色偏移状态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4160520" y="2331720"/>
            <a:ext cx="1417320" cy="658368"/>
          </a:xfrm>
          <a:prstGeom prst="roundRect">
            <a:avLst>
              <a:gd name="adj" fmla="val 15278"/>
            </a:avLst>
          </a:prstGeom>
          <a:solidFill>
            <a:srgbClr val="EAF7EF"/>
          </a:solidFill>
          <a:ln w="12700">
            <a:solidFill>
              <a:srgbClr val="4DA77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24528" y="2423160"/>
            <a:ext cx="12893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E24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本地规则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E24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11880" y="2660904"/>
            <a:ext cx="548640" cy="0"/>
          </a:xfrm>
          <a:prstGeom prst="line">
            <a:avLst/>
          </a:prstGeom>
          <a:noFill/>
          <a:ln w="17145">
            <a:solidFill>
              <a:srgbClr val="2F6FD0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577840" y="2660904"/>
            <a:ext cx="594360" cy="0"/>
          </a:xfrm>
          <a:prstGeom prst="line">
            <a:avLst/>
          </a:prstGeom>
          <a:noFill/>
          <a:ln w="17145">
            <a:solidFill>
              <a:srgbClr val="4DA77B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172200" y="1005840"/>
            <a:ext cx="4343400" cy="41605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CE8F5"/>
            </a:solidFill>
            <a:prstDash val="solid"/>
          </a:ln>
          <a:effectLst>
            <a:outerShdw blurRad="12700" dist="50800" dir="2700000" algn="bl" rotWithShape="0">
              <a:srgbClr val="D6E4F3">
                <a:alpha val="2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336792" y="1143000"/>
            <a:ext cx="4014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40" b="1" dirty="0">
                <a:solidFill>
                  <a:srgbClr val="0E24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输出内容</a:t>
            </a:r>
            <a:endParaRPr lang="en-US" sz="1340" dirty="0"/>
          </a:p>
        </p:txBody>
      </p:sp>
      <p:sp>
        <p:nvSpPr>
          <p:cNvPr id="17" name="Text 15"/>
          <p:cNvSpPr/>
          <p:nvPr/>
        </p:nvSpPr>
        <p:spPr>
          <a:xfrm>
            <a:off x="6336792" y="1463040"/>
            <a:ext cx="4014216" cy="3630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1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亮度描述：整体偏暗 / 偏亮 / 正常</a:t>
            </a:r>
            <a:endParaRPr lang="en-US" sz="1010" dirty="0"/>
          </a:p>
          <a:p>
            <a:pPr marL="0" indent="0">
              <a:buNone/>
            </a:pPr>
            <a:r>
              <a:rPr lang="en-US" sz="101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曝光描述：欠曝 / 过曝 / 溢出风险</a:t>
            </a:r>
            <a:endParaRPr lang="en-US" sz="1010" dirty="0"/>
          </a:p>
          <a:p>
            <a:pPr marL="0" indent="0">
              <a:buNone/>
            </a:pPr>
            <a:r>
              <a:rPr lang="en-US" sz="101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对比度描述：层次是否不足</a:t>
            </a:r>
            <a:endParaRPr lang="en-US" sz="1010" dirty="0"/>
          </a:p>
          <a:p>
            <a:pPr marL="0" indent="0">
              <a:buNone/>
            </a:pPr>
            <a:r>
              <a:rPr lang="en-US" sz="101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颜色描述：偏红 / 偏绿 / 偏蓝</a:t>
            </a:r>
            <a:endParaRPr lang="en-US" sz="1010" dirty="0"/>
          </a:p>
          <a:p>
            <a:pPr marL="0" indent="0">
              <a:buNone/>
            </a:pPr>
            <a:endParaRPr lang="en-US" sz="1010" dirty="0"/>
          </a:p>
          <a:p>
            <a:pPr marL="0" indent="0">
              <a:buNone/>
            </a:pPr>
            <a:r>
              <a:rPr lang="en-US" sz="101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示例：当前图像整体偏暗，暗部像素占比较高，可能存在欠曝风险；建议提高曝光或改善光照条件。</a:t>
            </a:r>
            <a:endParaRPr lang="en-US" sz="1010" dirty="0"/>
          </a:p>
        </p:txBody>
      </p:sp>
      <p:sp>
        <p:nvSpPr>
          <p:cNvPr id="18" name="Shape 16"/>
          <p:cNvSpPr/>
          <p:nvPr/>
        </p:nvSpPr>
        <p:spPr>
          <a:xfrm>
            <a:off x="777240" y="5532120"/>
            <a:ext cx="9738360" cy="502920"/>
          </a:xfrm>
          <a:prstGeom prst="roundRect">
            <a:avLst>
              <a:gd name="adj" fmla="val 23636"/>
            </a:avLst>
          </a:prstGeom>
          <a:solidFill>
            <a:srgbClr val="FFF4D7"/>
          </a:solidFill>
          <a:ln w="12700">
            <a:solidFill>
              <a:srgbClr val="E8C36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41832" y="5669280"/>
            <a:ext cx="94091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40" b="1" dirty="0">
                <a:solidFill>
                  <a:srgbClr val="0E24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核心口径</a:t>
            </a:r>
            <a:endParaRPr lang="en-US" sz="1340" dirty="0"/>
          </a:p>
        </p:txBody>
      </p:sp>
      <p:sp>
        <p:nvSpPr>
          <p:cNvPr id="20" name="Text 18"/>
          <p:cNvSpPr/>
          <p:nvPr/>
        </p:nvSpPr>
        <p:spPr>
          <a:xfrm>
            <a:off x="941832" y="5989320"/>
            <a:ext cx="9409176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25000" lnSpcReduction="20000"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自然语言判断不依赖联网 API，不上传图片；规则明确，因此现场演示更稳定。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548640" y="6519672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EA2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ImageHistogramAnalyzer · 第十四组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1292840" y="647395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EA2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F6FD0"/>
          </a:solidFill>
          <a:ln w="12700">
            <a:solidFill>
              <a:srgbClr val="2F6FD0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25603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F6F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21792" y="256032"/>
            <a:ext cx="8915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50" b="1" dirty="0">
                <a:solidFill>
                  <a:srgbClr val="0E24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智能拍摄助手：实时直方图用于拍摄前反馈</a:t>
            </a:r>
            <a:endParaRPr lang="en-US" sz="2450" dirty="0"/>
          </a:p>
        </p:txBody>
      </p:sp>
      <p:sp>
        <p:nvSpPr>
          <p:cNvPr id="5" name="Text 3"/>
          <p:cNvSpPr/>
          <p:nvPr/>
        </p:nvSpPr>
        <p:spPr>
          <a:xfrm>
            <a:off x="640080" y="713232"/>
            <a:ext cx="8961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B7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CameraX 预览、ImageAnalysis 实时状态、定格后按 RGB 公式分析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9829800" y="310896"/>
            <a:ext cx="1938528" cy="310896"/>
          </a:xfrm>
          <a:prstGeom prst="roundRect">
            <a:avLst>
              <a:gd name="adj" fmla="val 23529"/>
            </a:avLst>
          </a:prstGeom>
          <a:solidFill>
            <a:srgbClr val="15324B"/>
          </a:solidFill>
          <a:ln w="12700">
            <a:solidFill>
              <a:srgbClr val="15324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Text 5"/>
          <p:cNvSpPr/>
          <p:nvPr/>
        </p:nvSpPr>
        <p:spPr>
          <a:xfrm>
            <a:off x="9912096" y="379476"/>
            <a:ext cx="1783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000" b="1" dirty="0" err="1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主讲：黎哲轩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36092" y="1019556"/>
            <a:ext cx="2322576" cy="4818888"/>
          </a:xfrm>
          <a:prstGeom prst="roundRect">
            <a:avLst>
              <a:gd name="adj" fmla="val 7087"/>
            </a:avLst>
          </a:prstGeom>
          <a:solidFill>
            <a:srgbClr val="102438"/>
          </a:solidFill>
          <a:ln w="12700">
            <a:solidFill>
              <a:srgbClr val="102438">
                <a:alpha val="0"/>
              </a:srgbClr>
            </a:solidFill>
            <a:prstDash val="solid"/>
          </a:ln>
          <a:effectLst>
            <a:outerShdw blurRad="25400" dist="50800" dir="2700000" algn="bl" rotWithShape="0">
              <a:srgbClr val="9EB4C8">
                <a:alpha val="25000"/>
              </a:srgbClr>
            </a:outerShdw>
          </a:effectLst>
        </p:spPr>
      </p:sp>
      <p:pic>
        <p:nvPicPr>
          <p:cNvPr id="9" name="Image 0" descr="/mnt/data/camera-status.jpg"/>
          <p:cNvPicPr>
            <a:picLocks noChangeAspect="1"/>
          </p:cNvPicPr>
          <p:nvPr/>
        </p:nvPicPr>
        <p:blipFill>
          <a:blip r:embed="rId3"/>
          <a:srcRect t="2508" b="2508"/>
          <a:stretch/>
        </p:blipFill>
        <p:spPr>
          <a:xfrm>
            <a:off x="777240" y="1060704"/>
            <a:ext cx="2240280" cy="473659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31520" y="5870448"/>
            <a:ext cx="2331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6B7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实时取景状态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3232404" y="1019556"/>
            <a:ext cx="2322576" cy="4818888"/>
          </a:xfrm>
          <a:prstGeom prst="roundRect">
            <a:avLst>
              <a:gd name="adj" fmla="val 7087"/>
            </a:avLst>
          </a:prstGeom>
          <a:solidFill>
            <a:srgbClr val="102438"/>
          </a:solidFill>
          <a:ln w="12700">
            <a:solidFill>
              <a:srgbClr val="102438">
                <a:alpha val="0"/>
              </a:srgbClr>
            </a:solidFill>
            <a:prstDash val="solid"/>
          </a:ln>
          <a:effectLst>
            <a:outerShdw blurRad="25400" dist="50800" dir="2700000" algn="bl" rotWithShape="0">
              <a:srgbClr val="9EB4C8">
                <a:alpha val="25000"/>
              </a:srgbClr>
            </a:outerShdw>
          </a:effectLst>
        </p:spPr>
      </p:sp>
      <p:pic>
        <p:nvPicPr>
          <p:cNvPr id="12" name="Image 1" descr="/mnt/data/camera-advice.jpg"/>
          <p:cNvPicPr>
            <a:picLocks noChangeAspect="1"/>
          </p:cNvPicPr>
          <p:nvPr/>
        </p:nvPicPr>
        <p:blipFill>
          <a:blip r:embed="rId4"/>
          <a:srcRect t="2508" b="2508"/>
          <a:stretch/>
        </p:blipFill>
        <p:spPr>
          <a:xfrm>
            <a:off x="3273552" y="1060704"/>
            <a:ext cx="2240280" cy="473659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227832" y="5870448"/>
            <a:ext cx="2331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6B7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定格分析建议</a:t>
            </a:r>
            <a:endParaRPr lang="en-US" sz="850" dirty="0"/>
          </a:p>
        </p:txBody>
      </p:sp>
      <p:sp>
        <p:nvSpPr>
          <p:cNvPr id="14" name="Shape 10"/>
          <p:cNvSpPr/>
          <p:nvPr/>
        </p:nvSpPr>
        <p:spPr>
          <a:xfrm>
            <a:off x="5897880" y="1024128"/>
            <a:ext cx="4892040" cy="960120"/>
          </a:xfrm>
          <a:prstGeom prst="roundRect">
            <a:avLst>
              <a:gd name="adj" fmla="val 12381"/>
            </a:avLst>
          </a:prstGeom>
          <a:solidFill>
            <a:srgbClr val="EAF3FF"/>
          </a:solidFill>
          <a:ln w="12700">
            <a:solidFill>
              <a:srgbClr val="B8D2F3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062472" y="1161288"/>
            <a:ext cx="4562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40" b="1" dirty="0">
                <a:solidFill>
                  <a:srgbClr val="0E24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实时预览</a:t>
            </a:r>
            <a:endParaRPr lang="en-US" sz="1340" dirty="0"/>
          </a:p>
        </p:txBody>
      </p:sp>
      <p:sp>
        <p:nvSpPr>
          <p:cNvPr id="16" name="Text 12"/>
          <p:cNvSpPr/>
          <p:nvPr/>
        </p:nvSpPr>
        <p:spPr>
          <a:xfrm>
            <a:off x="6062472" y="1481328"/>
            <a:ext cx="456285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CameraX Preview 显示取景画面；ImageAnalysis 低频分析最新帧，保持预览流畅。</a:t>
            </a:r>
            <a:endParaRPr lang="en-US" sz="1080" dirty="0"/>
          </a:p>
        </p:txBody>
      </p:sp>
      <p:sp>
        <p:nvSpPr>
          <p:cNvPr id="17" name="Shape 13"/>
          <p:cNvSpPr/>
          <p:nvPr/>
        </p:nvSpPr>
        <p:spPr>
          <a:xfrm>
            <a:off x="5897880" y="2249424"/>
            <a:ext cx="4892040" cy="960120"/>
          </a:xfrm>
          <a:prstGeom prst="roundRect">
            <a:avLst>
              <a:gd name="adj" fmla="val 12381"/>
            </a:avLst>
          </a:prstGeom>
          <a:solidFill>
            <a:srgbClr val="EAF7EF"/>
          </a:solidFill>
          <a:ln w="12700">
            <a:solidFill>
              <a:srgbClr val="B8DFC9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6062472" y="2386584"/>
            <a:ext cx="4562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40" b="1" dirty="0">
                <a:solidFill>
                  <a:srgbClr val="0E24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画面状态</a:t>
            </a:r>
            <a:endParaRPr lang="en-US" sz="1340" dirty="0"/>
          </a:p>
        </p:txBody>
      </p:sp>
      <p:sp>
        <p:nvSpPr>
          <p:cNvPr id="19" name="Text 15"/>
          <p:cNvSpPr/>
          <p:nvPr/>
        </p:nvSpPr>
        <p:spPr>
          <a:xfrm>
            <a:off x="6062472" y="2706624"/>
            <a:ext cx="456285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实时输出平均亮度、暗亮占比和状态徽章，用于提示当前画面是否适合拍摄。</a:t>
            </a:r>
            <a:endParaRPr lang="en-US" sz="1080" dirty="0"/>
          </a:p>
        </p:txBody>
      </p:sp>
      <p:sp>
        <p:nvSpPr>
          <p:cNvPr id="20" name="Shape 16"/>
          <p:cNvSpPr/>
          <p:nvPr/>
        </p:nvSpPr>
        <p:spPr>
          <a:xfrm>
            <a:off x="5897880" y="3474720"/>
            <a:ext cx="4892040" cy="960120"/>
          </a:xfrm>
          <a:prstGeom prst="roundRect">
            <a:avLst>
              <a:gd name="adj" fmla="val 12381"/>
            </a:avLst>
          </a:prstGeom>
          <a:solidFill>
            <a:srgbClr val="FFF4D7"/>
          </a:solidFill>
          <a:ln w="12700">
            <a:solidFill>
              <a:srgbClr val="E8C36A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6062472" y="3611880"/>
            <a:ext cx="4562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40" b="1" dirty="0">
                <a:solidFill>
                  <a:srgbClr val="0E24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定格分析</a:t>
            </a:r>
            <a:endParaRPr lang="en-US" sz="1340" dirty="0"/>
          </a:p>
        </p:txBody>
      </p:sp>
      <p:sp>
        <p:nvSpPr>
          <p:cNvPr id="22" name="Text 18"/>
          <p:cNvSpPr/>
          <p:nvPr/>
        </p:nvSpPr>
        <p:spPr>
          <a:xfrm>
            <a:off x="6062472" y="3931920"/>
            <a:ext cx="456285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点击预览定格画面，重新生成直方图、质量判断和拍摄建议，并支持保存相册。</a:t>
            </a:r>
            <a:endParaRPr lang="en-US" sz="1080" dirty="0"/>
          </a:p>
        </p:txBody>
      </p:sp>
      <p:sp>
        <p:nvSpPr>
          <p:cNvPr id="23" name="Shape 19"/>
          <p:cNvSpPr/>
          <p:nvPr/>
        </p:nvSpPr>
        <p:spPr>
          <a:xfrm>
            <a:off x="5897880" y="4700016"/>
            <a:ext cx="4892040" cy="960120"/>
          </a:xfrm>
          <a:prstGeom prst="roundRect">
            <a:avLst>
              <a:gd name="adj" fmla="val 12381"/>
            </a:avLst>
          </a:prstGeom>
          <a:solidFill>
            <a:srgbClr val="FFFFFF"/>
          </a:solidFill>
          <a:ln w="12700">
            <a:solidFill>
              <a:srgbClr val="DCE8F5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6062472" y="4837176"/>
            <a:ext cx="4562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40" b="1" dirty="0">
                <a:solidFill>
                  <a:srgbClr val="0E24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边界控制</a:t>
            </a:r>
            <a:endParaRPr lang="en-US" sz="1340" dirty="0"/>
          </a:p>
        </p:txBody>
      </p:sp>
      <p:sp>
        <p:nvSpPr>
          <p:cNvPr id="25" name="Text 21"/>
          <p:cNvSpPr/>
          <p:nvPr/>
        </p:nvSpPr>
        <p:spPr>
          <a:xfrm>
            <a:off x="6062472" y="5157216"/>
            <a:ext cx="456285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实时 Y 通道只辅助取景；定格图按课程 RGB 公式生成可查看、可保存的结果。</a:t>
            </a:r>
            <a:endParaRPr lang="en-US" sz="1080" dirty="0"/>
          </a:p>
        </p:txBody>
      </p:sp>
      <p:sp>
        <p:nvSpPr>
          <p:cNvPr id="26" name="Text 22"/>
          <p:cNvSpPr/>
          <p:nvPr/>
        </p:nvSpPr>
        <p:spPr>
          <a:xfrm>
            <a:off x="548640" y="6519672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EA2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ImageHistogramAnalyzer · 第十四组</a:t>
            </a:r>
            <a:endParaRPr lang="en-US" sz="850" dirty="0"/>
          </a:p>
        </p:txBody>
      </p:sp>
      <p:sp>
        <p:nvSpPr>
          <p:cNvPr id="27" name="Text 23"/>
          <p:cNvSpPr/>
          <p:nvPr/>
        </p:nvSpPr>
        <p:spPr>
          <a:xfrm>
            <a:off x="11292840" y="647395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EA2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F6FD0"/>
          </a:solidFill>
          <a:ln w="12700">
            <a:solidFill>
              <a:srgbClr val="2F6FD0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25603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F6F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21792" y="256032"/>
            <a:ext cx="8915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50" b="1" dirty="0">
                <a:solidFill>
                  <a:srgbClr val="0E24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自动优化与手动微调：智能建议不接管用户</a:t>
            </a:r>
            <a:endParaRPr lang="en-US" sz="2450" dirty="0"/>
          </a:p>
        </p:txBody>
      </p:sp>
      <p:sp>
        <p:nvSpPr>
          <p:cNvPr id="5" name="Text 3"/>
          <p:cNvSpPr/>
          <p:nvPr/>
        </p:nvSpPr>
        <p:spPr>
          <a:xfrm>
            <a:off x="640080" y="713232"/>
            <a:ext cx="8961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B7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系统给推荐参数，用户保留最终控制权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9829800" y="310896"/>
            <a:ext cx="1938528" cy="310896"/>
          </a:xfrm>
          <a:prstGeom prst="roundRect">
            <a:avLst>
              <a:gd name="adj" fmla="val 23529"/>
            </a:avLst>
          </a:prstGeom>
          <a:solidFill>
            <a:srgbClr val="15324B"/>
          </a:solidFill>
          <a:ln w="12700">
            <a:solidFill>
              <a:srgbClr val="15324B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912096" y="379476"/>
            <a:ext cx="1783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000" b="1" dirty="0" err="1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主讲：杨初晓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77240" y="1024128"/>
            <a:ext cx="2880360" cy="4251960"/>
          </a:xfrm>
          <a:prstGeom prst="roundRect">
            <a:avLst>
              <a:gd name="adj" fmla="val 4127"/>
            </a:avLst>
          </a:prstGeom>
          <a:solidFill>
            <a:srgbClr val="EAF3FF"/>
          </a:solidFill>
          <a:ln w="12700">
            <a:solidFill>
              <a:srgbClr val="B8D2F3"/>
            </a:solidFill>
            <a:prstDash val="solid"/>
          </a:ln>
          <a:effectLst>
            <a:outerShdw blurRad="12700" dist="50800" dir="2700000" algn="bl" rotWithShape="0">
              <a:srgbClr val="D6E4F3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41832" y="1161288"/>
            <a:ext cx="25511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40" b="1" dirty="0">
                <a:solidFill>
                  <a:srgbClr val="0E24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智能判断</a:t>
            </a:r>
            <a:endParaRPr lang="en-US" sz="1340" dirty="0"/>
          </a:p>
        </p:txBody>
      </p:sp>
      <p:sp>
        <p:nvSpPr>
          <p:cNvPr id="10" name="Text 8"/>
          <p:cNvSpPr/>
          <p:nvPr/>
        </p:nvSpPr>
        <p:spPr>
          <a:xfrm>
            <a:off x="941832" y="1481328"/>
            <a:ext cx="2551176" cy="3721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读取最近一次实时直方图指标，判断当前画面状态并生成建议。</a:t>
            </a:r>
            <a:endParaRPr lang="en-US" sz="1080" dirty="0"/>
          </a:p>
          <a:p>
            <a:pPr marL="0" indent="0">
              <a:buNone/>
            </a:pP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输出：画面状态、原因、建议动作、曝光变化量和补光灯动作。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4160520" y="1024128"/>
            <a:ext cx="2880360" cy="4251960"/>
          </a:xfrm>
          <a:prstGeom prst="roundRect">
            <a:avLst>
              <a:gd name="adj" fmla="val 4127"/>
            </a:avLst>
          </a:prstGeom>
          <a:solidFill>
            <a:srgbClr val="EAF7EF"/>
          </a:solidFill>
          <a:ln w="12700">
            <a:solidFill>
              <a:srgbClr val="B8DFC9"/>
            </a:solidFill>
            <a:prstDash val="solid"/>
          </a:ln>
          <a:effectLst>
            <a:outerShdw blurRad="12700" dist="50800" dir="2700000" algn="bl" rotWithShape="0">
              <a:srgbClr val="D6E4F3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325112" y="1161288"/>
            <a:ext cx="25511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40" b="1" dirty="0">
                <a:solidFill>
                  <a:srgbClr val="0E24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一键自动优化</a:t>
            </a:r>
            <a:endParaRPr lang="en-US" sz="1340" dirty="0"/>
          </a:p>
        </p:txBody>
      </p:sp>
      <p:sp>
        <p:nvSpPr>
          <p:cNvPr id="13" name="Text 11"/>
          <p:cNvSpPr/>
          <p:nvPr/>
        </p:nvSpPr>
        <p:spPr>
          <a:xfrm>
            <a:off x="4325112" y="1481328"/>
            <a:ext cx="2551176" cy="3721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根据建议在设备支持范围内调整：</a:t>
            </a:r>
            <a:endParaRPr lang="en-US" sz="1080" dirty="0"/>
          </a:p>
          <a:p>
            <a:pPr marL="0" indent="0">
              <a:buNone/>
            </a:pP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曝光补偿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补光灯状态</a:t>
            </a:r>
            <a:endParaRPr lang="en-US" sz="1080" dirty="0"/>
          </a:p>
          <a:p>
            <a:pPr marL="0" indent="0">
              <a:buNone/>
            </a:pP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曝光值先 clamp 到设备支持范围。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7543800" y="1024128"/>
            <a:ext cx="2880360" cy="4251960"/>
          </a:xfrm>
          <a:prstGeom prst="roundRect">
            <a:avLst>
              <a:gd name="adj" fmla="val 4127"/>
            </a:avLst>
          </a:prstGeom>
          <a:solidFill>
            <a:srgbClr val="FFF4D7"/>
          </a:solidFill>
          <a:ln w="12700">
            <a:solidFill>
              <a:srgbClr val="E8C36A"/>
            </a:solidFill>
            <a:prstDash val="solid"/>
          </a:ln>
          <a:effectLst>
            <a:outerShdw blurRad="12700" dist="50800" dir="2700000" algn="bl" rotWithShape="0">
              <a:srgbClr val="D6E4F3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708392" y="1161288"/>
            <a:ext cx="25511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40" b="1" dirty="0">
                <a:solidFill>
                  <a:srgbClr val="0E24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手动微调</a:t>
            </a:r>
            <a:endParaRPr lang="en-US" sz="1340" dirty="0"/>
          </a:p>
        </p:txBody>
      </p:sp>
      <p:sp>
        <p:nvSpPr>
          <p:cNvPr id="16" name="Text 14"/>
          <p:cNvSpPr/>
          <p:nvPr/>
        </p:nvSpPr>
        <p:spPr>
          <a:xfrm>
            <a:off x="7708392" y="1481328"/>
            <a:ext cx="2551176" cy="3721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用户可以继续调整：</a:t>
            </a:r>
            <a:endParaRPr lang="en-US" sz="1080" dirty="0"/>
          </a:p>
          <a:p>
            <a:pPr marL="0" indent="0">
              <a:buNone/>
            </a:pP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曝光 +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曝光 -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补光灯开关</a:t>
            </a:r>
            <a:endParaRPr lang="en-US" sz="1080" dirty="0"/>
          </a:p>
          <a:p>
            <a:pPr marL="0" indent="0">
              <a:buNone/>
            </a:pP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只有再次点击自动优化，系统才重新接管。</a:t>
            </a:r>
            <a:endParaRPr lang="en-US" sz="1080" dirty="0"/>
          </a:p>
        </p:txBody>
      </p:sp>
      <p:sp>
        <p:nvSpPr>
          <p:cNvPr id="17" name="Shape 15"/>
          <p:cNvSpPr/>
          <p:nvPr/>
        </p:nvSpPr>
        <p:spPr>
          <a:xfrm>
            <a:off x="3657600" y="3154680"/>
            <a:ext cx="502920" cy="0"/>
          </a:xfrm>
          <a:prstGeom prst="line">
            <a:avLst/>
          </a:prstGeom>
          <a:noFill/>
          <a:ln w="17145">
            <a:solidFill>
              <a:srgbClr val="2F6FD0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040880" y="3154680"/>
            <a:ext cx="502920" cy="0"/>
          </a:xfrm>
          <a:prstGeom prst="line">
            <a:avLst/>
          </a:prstGeom>
          <a:noFill/>
          <a:ln w="17145">
            <a:solidFill>
              <a:srgbClr val="4DA77B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868680" y="5559552"/>
            <a:ext cx="9464040" cy="530352"/>
          </a:xfrm>
          <a:prstGeom prst="roundRect">
            <a:avLst>
              <a:gd name="adj" fmla="val 22414"/>
            </a:avLst>
          </a:prstGeom>
          <a:solidFill>
            <a:srgbClr val="FFFFFF"/>
          </a:solidFill>
          <a:ln w="12700">
            <a:solidFill>
              <a:srgbClr val="BFD5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33272" y="5696712"/>
            <a:ext cx="9134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40" b="1" dirty="0">
                <a:solidFill>
                  <a:srgbClr val="0E24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闭环</a:t>
            </a:r>
            <a:endParaRPr lang="en-US" sz="1340" dirty="0"/>
          </a:p>
        </p:txBody>
      </p:sp>
      <p:sp>
        <p:nvSpPr>
          <p:cNvPr id="21" name="Text 19"/>
          <p:cNvSpPr/>
          <p:nvPr/>
        </p:nvSpPr>
        <p:spPr>
          <a:xfrm>
            <a:off x="1033272" y="6016752"/>
            <a:ext cx="9134856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25000" lnSpcReduction="20000"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直方图反馈 → 智能建议 → 自动优化 → 人工微调 → 实时直方图继续反馈。</a:t>
            </a:r>
            <a:endParaRPr lang="en-US" sz="1080" dirty="0"/>
          </a:p>
        </p:txBody>
      </p:sp>
      <p:sp>
        <p:nvSpPr>
          <p:cNvPr id="22" name="Text 20"/>
          <p:cNvSpPr/>
          <p:nvPr/>
        </p:nvSpPr>
        <p:spPr>
          <a:xfrm>
            <a:off x="548640" y="6519672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EA2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ImageHistogramAnalyzer · 第十四组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1292840" y="647395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EA2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F6FD0"/>
          </a:solidFill>
          <a:ln w="12700">
            <a:solidFill>
              <a:srgbClr val="2F6FD0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25603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F6F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21792" y="256032"/>
            <a:ext cx="8915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50" b="1" dirty="0">
                <a:solidFill>
                  <a:srgbClr val="0E24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测试验证与质量保障：速度必须服从正确性</a:t>
            </a:r>
            <a:endParaRPr lang="en-US" sz="2450" dirty="0"/>
          </a:p>
        </p:txBody>
      </p:sp>
      <p:sp>
        <p:nvSpPr>
          <p:cNvPr id="5" name="Text 3"/>
          <p:cNvSpPr/>
          <p:nvPr/>
        </p:nvSpPr>
        <p:spPr>
          <a:xfrm>
            <a:off x="640080" y="713232"/>
            <a:ext cx="8961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B7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测试覆盖算法一致性、UI 状态、Native 构建和新增功能回归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9829800" y="310896"/>
            <a:ext cx="1938528" cy="310896"/>
          </a:xfrm>
          <a:prstGeom prst="roundRect">
            <a:avLst>
              <a:gd name="adj" fmla="val 23529"/>
            </a:avLst>
          </a:prstGeom>
          <a:solidFill>
            <a:srgbClr val="15324B"/>
          </a:solidFill>
          <a:ln w="12700">
            <a:solidFill>
              <a:srgbClr val="15324B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912096" y="379476"/>
            <a:ext cx="1783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主讲：杨初晓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77240" y="1170432"/>
            <a:ext cx="3063240" cy="1298448"/>
          </a:xfrm>
          <a:prstGeom prst="roundRect">
            <a:avLst>
              <a:gd name="adj" fmla="val 9155"/>
            </a:avLst>
          </a:prstGeom>
          <a:solidFill>
            <a:srgbClr val="F0F7FF"/>
          </a:solidFill>
          <a:ln w="12700">
            <a:solidFill>
              <a:srgbClr val="BFD5EE"/>
            </a:solidFill>
            <a:prstDash val="solid"/>
          </a:ln>
          <a:effectLst>
            <a:outerShdw blurRad="12700" dist="50800" dir="2700000" algn="bl" rotWithShape="0">
              <a:srgbClr val="D6E4F3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41832" y="1307592"/>
            <a:ext cx="27340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40" b="1" dirty="0">
                <a:solidFill>
                  <a:srgbClr val="0E24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算法正确性</a:t>
            </a:r>
            <a:endParaRPr lang="en-US" sz="1340" dirty="0"/>
          </a:p>
        </p:txBody>
      </p:sp>
      <p:sp>
        <p:nvSpPr>
          <p:cNvPr id="10" name="Text 8"/>
          <p:cNvSpPr/>
          <p:nvPr/>
        </p:nvSpPr>
        <p:spPr>
          <a:xfrm>
            <a:off x="941832" y="1627632"/>
            <a:ext cx="273405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黑白图、RGB 边界、Alpha 像素、.5 取整边界</a:t>
            </a:r>
            <a:endParaRPr lang="en-US" sz="980" dirty="0"/>
          </a:p>
        </p:txBody>
      </p:sp>
      <p:sp>
        <p:nvSpPr>
          <p:cNvPr id="11" name="Shape 9"/>
          <p:cNvSpPr/>
          <p:nvPr/>
        </p:nvSpPr>
        <p:spPr>
          <a:xfrm>
            <a:off x="4361688" y="1170432"/>
            <a:ext cx="3063240" cy="1298448"/>
          </a:xfrm>
          <a:prstGeom prst="roundRect">
            <a:avLst>
              <a:gd name="adj" fmla="val 9155"/>
            </a:avLst>
          </a:prstGeom>
          <a:solidFill>
            <a:srgbClr val="FFFFFF"/>
          </a:solidFill>
          <a:ln w="12700">
            <a:solidFill>
              <a:srgbClr val="BFD5EE"/>
            </a:solidFill>
            <a:prstDash val="solid"/>
          </a:ln>
          <a:effectLst>
            <a:outerShdw blurRad="12700" dist="50800" dir="2700000" algn="bl" rotWithShape="0">
              <a:srgbClr val="D6E4F3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26280" y="1307592"/>
            <a:ext cx="27340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40" b="1" dirty="0">
                <a:solidFill>
                  <a:srgbClr val="0E24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两方案一致性</a:t>
            </a:r>
            <a:endParaRPr lang="en-US" sz="1340" dirty="0"/>
          </a:p>
        </p:txBody>
      </p:sp>
      <p:sp>
        <p:nvSpPr>
          <p:cNvPr id="13" name="Text 11"/>
          <p:cNvSpPr/>
          <p:nvPr/>
        </p:nvSpPr>
        <p:spPr>
          <a:xfrm>
            <a:off x="4526280" y="1627632"/>
            <a:ext cx="273405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优先灰度化与统计时灰度化逐 bin 对比</a:t>
            </a:r>
            <a:endParaRPr lang="en-US" sz="980" dirty="0"/>
          </a:p>
        </p:txBody>
      </p:sp>
      <p:sp>
        <p:nvSpPr>
          <p:cNvPr id="14" name="Shape 12"/>
          <p:cNvSpPr/>
          <p:nvPr/>
        </p:nvSpPr>
        <p:spPr>
          <a:xfrm>
            <a:off x="7946136" y="1170432"/>
            <a:ext cx="3063240" cy="1298448"/>
          </a:xfrm>
          <a:prstGeom prst="roundRect">
            <a:avLst>
              <a:gd name="adj" fmla="val 9155"/>
            </a:avLst>
          </a:prstGeom>
          <a:solidFill>
            <a:srgbClr val="F0F7FF"/>
          </a:solidFill>
          <a:ln w="12700">
            <a:solidFill>
              <a:srgbClr val="BFD5EE"/>
            </a:solidFill>
            <a:prstDash val="solid"/>
          </a:ln>
          <a:effectLst>
            <a:outerShdw blurRad="12700" dist="50800" dir="2700000" algn="bl" rotWithShape="0">
              <a:srgbClr val="D6E4F3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110728" y="1307592"/>
            <a:ext cx="27340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40" b="1" dirty="0">
                <a:solidFill>
                  <a:srgbClr val="0E24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Native 一致性</a:t>
            </a:r>
            <a:endParaRPr lang="en-US" sz="1340" dirty="0"/>
          </a:p>
        </p:txBody>
      </p:sp>
      <p:sp>
        <p:nvSpPr>
          <p:cNvPr id="16" name="Text 14"/>
          <p:cNvSpPr/>
          <p:nvPr/>
        </p:nvSpPr>
        <p:spPr>
          <a:xfrm>
            <a:off x="8110728" y="1627632"/>
            <a:ext cx="273405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Kotlin 与 Native 输出保持一致</a:t>
            </a:r>
            <a:endParaRPr lang="en-US" sz="980" dirty="0"/>
          </a:p>
        </p:txBody>
      </p:sp>
      <p:sp>
        <p:nvSpPr>
          <p:cNvPr id="17" name="Shape 15"/>
          <p:cNvSpPr/>
          <p:nvPr/>
        </p:nvSpPr>
        <p:spPr>
          <a:xfrm>
            <a:off x="777240" y="2999232"/>
            <a:ext cx="3063240" cy="1298448"/>
          </a:xfrm>
          <a:prstGeom prst="roundRect">
            <a:avLst>
              <a:gd name="adj" fmla="val 9155"/>
            </a:avLst>
          </a:prstGeom>
          <a:solidFill>
            <a:srgbClr val="FFFFFF"/>
          </a:solidFill>
          <a:ln w="12700">
            <a:solidFill>
              <a:srgbClr val="BFD5EE"/>
            </a:solidFill>
            <a:prstDash val="solid"/>
          </a:ln>
          <a:effectLst>
            <a:outerShdw blurRad="12700" dist="50800" dir="2700000" algn="bl" rotWithShape="0">
              <a:srgbClr val="D6E4F3">
                <a:alpha val="2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41832" y="3136392"/>
            <a:ext cx="27340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40" b="1" dirty="0">
                <a:solidFill>
                  <a:srgbClr val="0E24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功能回归</a:t>
            </a:r>
            <a:endParaRPr lang="en-US" sz="1340" dirty="0"/>
          </a:p>
        </p:txBody>
      </p:sp>
      <p:sp>
        <p:nvSpPr>
          <p:cNvPr id="19" name="Text 17"/>
          <p:cNvSpPr/>
          <p:nvPr/>
        </p:nvSpPr>
        <p:spPr>
          <a:xfrm>
            <a:off x="941832" y="3456432"/>
            <a:ext cx="273405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选图、ROI、RGB、质量判断、相机助手</a:t>
            </a:r>
            <a:endParaRPr lang="en-US" sz="980" dirty="0"/>
          </a:p>
        </p:txBody>
      </p:sp>
      <p:sp>
        <p:nvSpPr>
          <p:cNvPr id="20" name="Shape 18"/>
          <p:cNvSpPr/>
          <p:nvPr/>
        </p:nvSpPr>
        <p:spPr>
          <a:xfrm>
            <a:off x="4361688" y="2999232"/>
            <a:ext cx="3063240" cy="1298448"/>
          </a:xfrm>
          <a:prstGeom prst="roundRect">
            <a:avLst>
              <a:gd name="adj" fmla="val 9155"/>
            </a:avLst>
          </a:prstGeom>
          <a:solidFill>
            <a:srgbClr val="F0F7FF"/>
          </a:solidFill>
          <a:ln w="12700">
            <a:solidFill>
              <a:srgbClr val="BFD5EE"/>
            </a:solidFill>
            <a:prstDash val="solid"/>
          </a:ln>
          <a:effectLst>
            <a:outerShdw blurRad="12700" dist="50800" dir="2700000" algn="bl" rotWithShape="0">
              <a:srgbClr val="D6E4F3">
                <a:alpha val="2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526280" y="3136392"/>
            <a:ext cx="27340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40" b="1" dirty="0">
                <a:solidFill>
                  <a:srgbClr val="0E24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构建门禁</a:t>
            </a:r>
            <a:endParaRPr lang="en-US" sz="1340" dirty="0"/>
          </a:p>
        </p:txBody>
      </p:sp>
      <p:sp>
        <p:nvSpPr>
          <p:cNvPr id="22" name="Text 20"/>
          <p:cNvSpPr/>
          <p:nvPr/>
        </p:nvSpPr>
        <p:spPr>
          <a:xfrm>
            <a:off x="4526280" y="3456432"/>
            <a:ext cx="273405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单元测试、界面测试、assemble、lint</a:t>
            </a:r>
            <a:endParaRPr lang="en-US" sz="980" dirty="0"/>
          </a:p>
        </p:txBody>
      </p:sp>
      <p:sp>
        <p:nvSpPr>
          <p:cNvPr id="23" name="Shape 21"/>
          <p:cNvSpPr/>
          <p:nvPr/>
        </p:nvSpPr>
        <p:spPr>
          <a:xfrm>
            <a:off x="7946136" y="2999232"/>
            <a:ext cx="3063240" cy="1298448"/>
          </a:xfrm>
          <a:prstGeom prst="roundRect">
            <a:avLst>
              <a:gd name="adj" fmla="val 9155"/>
            </a:avLst>
          </a:prstGeom>
          <a:solidFill>
            <a:srgbClr val="FFFFFF"/>
          </a:solidFill>
          <a:ln w="12700">
            <a:solidFill>
              <a:srgbClr val="BFD5EE"/>
            </a:solidFill>
            <a:prstDash val="solid"/>
          </a:ln>
          <a:effectLst>
            <a:outerShdw blurRad="12700" dist="50800" dir="2700000" algn="bl" rotWithShape="0">
              <a:srgbClr val="D6E4F3">
                <a:alpha val="2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8110728" y="3136392"/>
            <a:ext cx="27340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40" b="1" dirty="0">
                <a:solidFill>
                  <a:srgbClr val="0E24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真机运行</a:t>
            </a:r>
            <a:endParaRPr lang="en-US" sz="1340" dirty="0"/>
          </a:p>
        </p:txBody>
      </p:sp>
      <p:sp>
        <p:nvSpPr>
          <p:cNvPr id="25" name="Text 23"/>
          <p:cNvSpPr/>
          <p:nvPr/>
        </p:nvSpPr>
        <p:spPr>
          <a:xfrm>
            <a:off x="8110728" y="3456432"/>
            <a:ext cx="273405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大图样本、边界图片、真实图片、WebP</a:t>
            </a:r>
            <a:endParaRPr lang="en-US" sz="980" dirty="0"/>
          </a:p>
        </p:txBody>
      </p:sp>
      <p:sp>
        <p:nvSpPr>
          <p:cNvPr id="26" name="Shape 24"/>
          <p:cNvSpPr/>
          <p:nvPr/>
        </p:nvSpPr>
        <p:spPr>
          <a:xfrm>
            <a:off x="1143000" y="5349240"/>
            <a:ext cx="9464040" cy="685800"/>
          </a:xfrm>
          <a:prstGeom prst="roundRect">
            <a:avLst>
              <a:gd name="adj" fmla="val 17333"/>
            </a:avLst>
          </a:prstGeom>
          <a:solidFill>
            <a:srgbClr val="FFF4D7"/>
          </a:solidFill>
          <a:ln w="12700">
            <a:solidFill>
              <a:srgbClr val="E8C36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307592" y="5486400"/>
            <a:ext cx="9134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40" b="1" dirty="0">
                <a:solidFill>
                  <a:srgbClr val="0E24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质量红线</a:t>
            </a:r>
            <a:endParaRPr lang="en-US" sz="1340" dirty="0"/>
          </a:p>
        </p:txBody>
      </p:sp>
      <p:sp>
        <p:nvSpPr>
          <p:cNvPr id="28" name="Text 26"/>
          <p:cNvSpPr/>
          <p:nvPr/>
        </p:nvSpPr>
        <p:spPr>
          <a:xfrm>
            <a:off x="1307592" y="5806440"/>
            <a:ext cx="913485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性能优化不得改变灰度公式、256-bin 频次、0–100 归一化和自然语言判断依据；新增功能必须回归原有静态分析主流程。</a:t>
            </a:r>
            <a:endParaRPr lang="en-US" sz="1080" dirty="0"/>
          </a:p>
        </p:txBody>
      </p:sp>
      <p:sp>
        <p:nvSpPr>
          <p:cNvPr id="29" name="Text 27"/>
          <p:cNvSpPr/>
          <p:nvPr/>
        </p:nvSpPr>
        <p:spPr>
          <a:xfrm>
            <a:off x="548640" y="6519672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EA2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ImageHistogramAnalyzer · 第十四组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11292840" y="647395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EA2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F6FD0"/>
          </a:solidFill>
          <a:ln w="12700">
            <a:solidFill>
              <a:srgbClr val="2F6FD0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25603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F6F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21792" y="256032"/>
            <a:ext cx="8915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50" b="1" dirty="0">
                <a:solidFill>
                  <a:srgbClr val="0E24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总结：从“算直方图”升级为“解释图像并辅助拍摄”</a:t>
            </a:r>
            <a:endParaRPr lang="en-US" sz="2450" dirty="0"/>
          </a:p>
        </p:txBody>
      </p:sp>
      <p:sp>
        <p:nvSpPr>
          <p:cNvPr id="5" name="Text 3"/>
          <p:cNvSpPr/>
          <p:nvPr/>
        </p:nvSpPr>
        <p:spPr>
          <a:xfrm>
            <a:off x="640080" y="713232"/>
            <a:ext cx="8961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B7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课程核心、性能优化和功能增强形成完整闭环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9829800" y="310896"/>
            <a:ext cx="1938528" cy="310896"/>
          </a:xfrm>
          <a:prstGeom prst="roundRect">
            <a:avLst>
              <a:gd name="adj" fmla="val 23529"/>
            </a:avLst>
          </a:prstGeom>
          <a:solidFill>
            <a:srgbClr val="15324B"/>
          </a:solidFill>
          <a:ln w="12700">
            <a:solidFill>
              <a:srgbClr val="15324B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912096" y="379476"/>
            <a:ext cx="1783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000" b="1" dirty="0" err="1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主讲：杨初晓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22960" y="1051560"/>
            <a:ext cx="3200400" cy="4069080"/>
          </a:xfrm>
          <a:prstGeom prst="roundRect">
            <a:avLst>
              <a:gd name="adj" fmla="val 3714"/>
            </a:avLst>
          </a:prstGeom>
          <a:solidFill>
            <a:srgbClr val="EAF3FF"/>
          </a:solidFill>
          <a:ln w="12700">
            <a:solidFill>
              <a:srgbClr val="B8D2F3"/>
            </a:solidFill>
            <a:prstDash val="solid"/>
          </a:ln>
          <a:effectLst>
            <a:outerShdw blurRad="12700" dist="50800" dir="2700000" algn="bl" rotWithShape="0">
              <a:srgbClr val="D6E4F3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87552" y="1188720"/>
            <a:ext cx="2871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40" b="1" dirty="0">
                <a:solidFill>
                  <a:srgbClr val="0E24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核心能力</a:t>
            </a:r>
            <a:endParaRPr lang="en-US" sz="1340" dirty="0"/>
          </a:p>
        </p:txBody>
      </p:sp>
      <p:sp>
        <p:nvSpPr>
          <p:cNvPr id="10" name="Text 8"/>
          <p:cNvSpPr/>
          <p:nvPr/>
        </p:nvSpPr>
        <p:spPr>
          <a:xfrm>
            <a:off x="987552" y="1508760"/>
            <a:ext cx="2871216" cy="3538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256×100 灰度直方图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两种计算方案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Native v3 多线程优化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分阶段性能计时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结果一致性验证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4507992" y="1051560"/>
            <a:ext cx="3200400" cy="4069080"/>
          </a:xfrm>
          <a:prstGeom prst="roundRect">
            <a:avLst>
              <a:gd name="adj" fmla="val 3714"/>
            </a:avLst>
          </a:prstGeom>
          <a:solidFill>
            <a:srgbClr val="EAF7EF"/>
          </a:solidFill>
          <a:ln w="12700">
            <a:solidFill>
              <a:srgbClr val="B8DFC9"/>
            </a:solidFill>
            <a:prstDash val="solid"/>
          </a:ln>
          <a:effectLst>
            <a:outerShdw blurRad="12700" dist="50800" dir="2700000" algn="bl" rotWithShape="0">
              <a:srgbClr val="D6E4F3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72584" y="1188720"/>
            <a:ext cx="2871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40" b="1" dirty="0">
                <a:solidFill>
                  <a:srgbClr val="0E24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增强能力</a:t>
            </a:r>
            <a:endParaRPr lang="en-US" sz="1340" dirty="0"/>
          </a:p>
        </p:txBody>
      </p:sp>
      <p:sp>
        <p:nvSpPr>
          <p:cNvPr id="13" name="Text 11"/>
          <p:cNvSpPr/>
          <p:nvPr/>
        </p:nvSpPr>
        <p:spPr>
          <a:xfrm>
            <a:off x="4672584" y="1508760"/>
            <a:ext cx="2871216" cy="3538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RGB 三通道分析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自然语言质量判断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ROI 局部区域分析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实时相机直方图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曝光与补光灯辅助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8183880" y="1051560"/>
            <a:ext cx="3063240" cy="4069080"/>
          </a:xfrm>
          <a:prstGeom prst="roundRect">
            <a:avLst>
              <a:gd name="adj" fmla="val 3881"/>
            </a:avLst>
          </a:prstGeom>
          <a:solidFill>
            <a:srgbClr val="FFF4D7"/>
          </a:solidFill>
          <a:ln w="12700">
            <a:solidFill>
              <a:srgbClr val="E8C36A"/>
            </a:solidFill>
            <a:prstDash val="solid"/>
          </a:ln>
          <a:effectLst>
            <a:outerShdw blurRad="12700" dist="50800" dir="2700000" algn="bl" rotWithShape="0">
              <a:srgbClr val="D6E4F3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348472" y="1188720"/>
            <a:ext cx="27340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40" b="1" dirty="0">
                <a:solidFill>
                  <a:srgbClr val="0E24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工程交付</a:t>
            </a:r>
            <a:endParaRPr lang="en-US" sz="1340" dirty="0"/>
          </a:p>
        </p:txBody>
      </p:sp>
      <p:sp>
        <p:nvSpPr>
          <p:cNvPr id="16" name="Text 14"/>
          <p:cNvSpPr/>
          <p:nvPr/>
        </p:nvSpPr>
        <p:spPr>
          <a:xfrm>
            <a:off x="8348472" y="1508760"/>
            <a:ext cx="2734056" cy="3538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Android 源码仓库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可安装 APK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自动化测试用例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真机性能记录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开发过程文档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822960" y="5650992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E24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 &amp; A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548640" y="6519672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EA2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ImageHistogramAnalyzer · 第十四组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1292840" y="647395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EA2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</TotalTime>
  <Words>1050</Words>
  <Application>Microsoft Macintosh PowerPoint</Application>
  <PresentationFormat>宽屏</PresentationFormat>
  <Paragraphs>393</Paragraphs>
  <Slides>15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18" baseType="lpstr">
      <vt:lpstr>Microsoft YaHei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ImageHistogramAnalyzer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第十四组课堂汇报终版</dc:title>
  <dc:subject>移动端图像质量分析与直方图计算优化系统</dc:subject>
  <dc:creator>第十四组</dc:creator>
  <cp:lastModifiedBy>LiZhexuan</cp:lastModifiedBy>
  <cp:revision>6</cp:revision>
  <dcterms:created xsi:type="dcterms:W3CDTF">2026-07-10T05:26:05Z</dcterms:created>
  <dcterms:modified xsi:type="dcterms:W3CDTF">2026-07-10T07:50:00Z</dcterms:modified>
</cp:coreProperties>
</file>